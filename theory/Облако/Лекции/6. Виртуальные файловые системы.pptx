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mailru/blog/529516/" TargetMode="External"/><Relationship Id="rId3" Type="http://schemas.openxmlformats.org/officeDocument/2006/relationships/hyperlink" Target="https://habr.com/ru/post/424651/" TargetMode="External"/><Relationship Id="rId4" Type="http://schemas.openxmlformats.org/officeDocument/2006/relationships/hyperlink" Target="https://habr.com/ru/post/67283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https://habr.com/ru/company/mailru/blog/529516/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https://habr.com/ru/post/424651/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LVM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https://habr.com/ru/post/67283/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https://habr.com/ru/companies/ruvds/articles/750370/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b2b89d618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b2b89d61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2b89d618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2b89d618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/run и /dev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74cbdbb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74cbdbb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12898b19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12898b19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9c533cd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c9c533cd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eb3afc1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eb3afc1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c9c533cd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c9c533cd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c9c533cd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c9c533cd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c9c533cd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c9c533cd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c9c533cd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c9c533cd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e9943ca5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e9943ca5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c9c533cd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c9c533cd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c9c533cd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c9c533cd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c9c533cd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c9c533cd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c9c533cd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c9c533cd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osnr/TabFS" TargetMode="External"/><Relationship Id="rId4" Type="http://schemas.openxmlformats.org/officeDocument/2006/relationships/hyperlink" Target="https://github.com/libfuse/libfuse/wiki/Filesystem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hyperlink" Target="https://github.com/koding/awesome-fuse-fs" TargetMode="External"/><Relationship Id="rId5" Type="http://schemas.openxmlformats.org/officeDocument/2006/relationships/hyperlink" Target="https://alperenbayramoglu2.medium.com/filesystem-in-userspace-aka-fuse-3336d4b7364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tavros.io/posts/python-fuse-filesyste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Виртуальные файловые системы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Структура каталогов</a:t>
            </a:r>
            <a:endParaRPr sz="2500"/>
          </a:p>
        </p:txBody>
      </p:sp>
      <p:sp>
        <p:nvSpPr>
          <p:cNvPr id="60" name="Google Shape;60;p14"/>
          <p:cNvSpPr txBox="1"/>
          <p:nvPr/>
        </p:nvSpPr>
        <p:spPr>
          <a:xfrm>
            <a:off x="311700" y="560525"/>
            <a:ext cx="45696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/</a:t>
            </a:r>
            <a:r>
              <a:rPr lang="en" sz="1500"/>
              <a:t> - корень (root)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</a:t>
            </a:r>
            <a:r>
              <a:rPr b="1" lang="en" sz="1500"/>
              <a:t>in/</a:t>
            </a:r>
            <a:r>
              <a:rPr lang="en" sz="1500"/>
              <a:t> - стандартные утилиты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</a:t>
            </a:r>
            <a:r>
              <a:rPr b="1" lang="en" sz="1500"/>
              <a:t>oot/</a:t>
            </a:r>
            <a:r>
              <a:rPr lang="en" sz="1500"/>
              <a:t> - образы ядра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</a:t>
            </a:r>
            <a:r>
              <a:rPr b="1" lang="en" sz="1500"/>
              <a:t>ev/</a:t>
            </a:r>
            <a:r>
              <a:rPr lang="en" sz="1500"/>
              <a:t> - файлы устройств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etc/</a:t>
            </a:r>
            <a:r>
              <a:rPr lang="en" sz="1500">
                <a:solidFill>
                  <a:schemeClr val="dk1"/>
                </a:solidFill>
              </a:rPr>
              <a:t> - конфигурационные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h</a:t>
            </a:r>
            <a:r>
              <a:rPr b="1" lang="en" sz="1500"/>
              <a:t>ome/</a:t>
            </a:r>
            <a:r>
              <a:rPr lang="en" sz="1500"/>
              <a:t> - домашние каталоги пользователей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lib/</a:t>
            </a:r>
            <a:r>
              <a:rPr lang="en" sz="1500"/>
              <a:t> - системные библиотеки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media/</a:t>
            </a:r>
            <a:r>
              <a:rPr lang="en" sz="1500"/>
              <a:t> - подключаемые носители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mnt/</a:t>
            </a:r>
            <a:r>
              <a:rPr lang="en" sz="1500"/>
              <a:t> - точки монтирования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o</a:t>
            </a:r>
            <a:r>
              <a:rPr b="1" lang="en" sz="1500"/>
              <a:t>pt/</a:t>
            </a:r>
            <a:r>
              <a:rPr lang="en" sz="1500"/>
              <a:t> - дополнительные пакеты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proc/</a:t>
            </a:r>
            <a:r>
              <a:rPr lang="en" sz="1500"/>
              <a:t> - информация о процессах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root/</a:t>
            </a:r>
            <a:r>
              <a:rPr lang="en" sz="1500"/>
              <a:t> - домашний каталог пользователя root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run/</a:t>
            </a:r>
            <a:r>
              <a:rPr lang="en" sz="1500"/>
              <a:t> - идентификаторы процессов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</a:t>
            </a:r>
            <a:r>
              <a:rPr b="1" lang="en" sz="1500"/>
              <a:t>bin/</a:t>
            </a:r>
            <a:r>
              <a:rPr lang="en" sz="1500"/>
              <a:t> - системные утилиты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tmp/</a:t>
            </a:r>
            <a:r>
              <a:rPr lang="en" sz="1500"/>
              <a:t> - временные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u</a:t>
            </a:r>
            <a:r>
              <a:rPr b="1" lang="en" sz="1500"/>
              <a:t>sr/</a:t>
            </a:r>
            <a:r>
              <a:rPr lang="en" sz="1500"/>
              <a:t> - каталоги приложений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v</a:t>
            </a:r>
            <a:r>
              <a:rPr b="1" lang="en" sz="1500"/>
              <a:t>ar/</a:t>
            </a:r>
            <a:r>
              <a:rPr lang="en" sz="1500"/>
              <a:t> - часто изменяющиеся файлы</a:t>
            </a:r>
            <a:endParaRPr sz="1500"/>
          </a:p>
        </p:txBody>
      </p:sp>
      <p:sp>
        <p:nvSpPr>
          <p:cNvPr id="61" name="Google Shape;61;p14"/>
          <p:cNvSpPr txBox="1"/>
          <p:nvPr/>
        </p:nvSpPr>
        <p:spPr>
          <a:xfrm>
            <a:off x="4881300" y="560525"/>
            <a:ext cx="39510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/usr/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bin/</a:t>
            </a:r>
            <a:r>
              <a:rPr lang="en" sz="1500"/>
              <a:t> - исполняемые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include/</a:t>
            </a:r>
            <a:r>
              <a:rPr lang="en" sz="1500"/>
              <a:t> - заголовочные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lib/</a:t>
            </a:r>
            <a:r>
              <a:rPr lang="en" sz="1500"/>
              <a:t> - библиотеки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local/</a:t>
            </a:r>
            <a:r>
              <a:rPr lang="en" sz="1500"/>
              <a:t> - приложения, установленные не через пакетный менеджер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sbin/</a:t>
            </a:r>
            <a:r>
              <a:rPr lang="en" sz="1500"/>
              <a:t> - исполняемые систем.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share/</a:t>
            </a:r>
            <a:r>
              <a:rPr lang="en" sz="1500"/>
              <a:t> - каталоги приложений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src/</a:t>
            </a:r>
            <a:r>
              <a:rPr lang="en" sz="1500"/>
              <a:t> - исходники программ</a:t>
            </a:r>
            <a:endParaRPr sz="1500"/>
          </a:p>
        </p:txBody>
      </p:sp>
      <p:sp>
        <p:nvSpPr>
          <p:cNvPr id="62" name="Google Shape;62;p14"/>
          <p:cNvSpPr txBox="1"/>
          <p:nvPr/>
        </p:nvSpPr>
        <p:spPr>
          <a:xfrm>
            <a:off x="4966350" y="2909525"/>
            <a:ext cx="38661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/var/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cache/</a:t>
            </a:r>
            <a:r>
              <a:rPr lang="en" sz="1500"/>
              <a:t> - кэши программ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log/</a:t>
            </a:r>
            <a:r>
              <a:rPr lang="en" sz="1500"/>
              <a:t> - логи программ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lib/</a:t>
            </a:r>
            <a:r>
              <a:rPr lang="en" sz="1500"/>
              <a:t> - базы данных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spool/</a:t>
            </a:r>
            <a:r>
              <a:rPr lang="en" sz="1500"/>
              <a:t> - очередь печати CUPS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lock/</a:t>
            </a:r>
            <a:r>
              <a:rPr lang="en" sz="1500"/>
              <a:t> - файлы блокировок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run/</a:t>
            </a:r>
            <a:r>
              <a:rPr lang="en" sz="1500"/>
              <a:t> - PID программ</a:t>
            </a:r>
            <a:endParaRPr sz="1500"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4831800"/>
            <a:ext cx="10416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$ man hier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Типы файлов</a:t>
            </a:r>
            <a:endParaRPr sz="25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625" y="1873150"/>
            <a:ext cx="5807374" cy="32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560525"/>
            <a:ext cx="85206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- = обычный файл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 = каталог (directory)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 = файл блочного устройства (block)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 = файл символьного устройства (char)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 = сокет(socket)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 = именованный канал (pipe)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 = символическая ссылка (link)</a:t>
            </a:r>
            <a:endParaRPr sz="1800"/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3373325"/>
            <a:ext cx="41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file /dev/nvme0n1p4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stat /dev/null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Ссылки (ln)</a:t>
            </a:r>
            <a:endParaRPr sz="2500"/>
          </a:p>
        </p:txBody>
      </p:sp>
      <p:sp>
        <p:nvSpPr>
          <p:cNvPr id="77" name="Google Shape;77;p16"/>
          <p:cNvSpPr txBox="1"/>
          <p:nvPr/>
        </p:nvSpPr>
        <p:spPr>
          <a:xfrm>
            <a:off x="360150" y="648100"/>
            <a:ext cx="2801100" cy="1569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</a:t>
            </a:r>
            <a:r>
              <a:rPr b="1" lang="en" sz="2000"/>
              <a:t>node</a:t>
            </a:r>
            <a:endParaRPr b="1"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</a:t>
            </a:r>
            <a:r>
              <a:rPr lang="en"/>
              <a:t>d пользователя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</a:t>
            </a:r>
            <a:r>
              <a:rPr lang="en"/>
              <a:t>d группы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</a:t>
            </a:r>
            <a:r>
              <a:rPr lang="en"/>
              <a:t>рава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</a:t>
            </a:r>
            <a:r>
              <a:rPr lang="en"/>
              <a:t>imestamp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ссылки на блоки данных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2612813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filename1.txt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377613" y="2676063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filename2.txt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2377625" y="3686563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filename3.txt</a:t>
            </a:r>
            <a:endParaRPr/>
          </a:p>
        </p:txBody>
      </p:sp>
      <p:cxnSp>
        <p:nvCxnSpPr>
          <p:cNvPr id="81" name="Google Shape;81;p16"/>
          <p:cNvCxnSpPr>
            <a:stCxn id="78" idx="0"/>
            <a:endCxn id="77" idx="2"/>
          </p:cNvCxnSpPr>
          <p:nvPr/>
        </p:nvCxnSpPr>
        <p:spPr>
          <a:xfrm rot="-5400000">
            <a:off x="1152000" y="2003963"/>
            <a:ext cx="394800" cy="8229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>
            <a:stCxn id="79" idx="0"/>
            <a:endCxn id="77" idx="2"/>
          </p:cNvCxnSpPr>
          <p:nvPr/>
        </p:nvCxnSpPr>
        <p:spPr>
          <a:xfrm flipH="1" rot="5400000">
            <a:off x="2153213" y="1825413"/>
            <a:ext cx="458100" cy="12432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6"/>
          <p:cNvCxnSpPr>
            <a:stCxn id="80" idx="1"/>
            <a:endCxn id="77" idx="2"/>
          </p:cNvCxnSpPr>
          <p:nvPr/>
        </p:nvCxnSpPr>
        <p:spPr>
          <a:xfrm rot="10800000">
            <a:off x="1760825" y="2218063"/>
            <a:ext cx="616800" cy="16686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6"/>
          <p:cNvSpPr txBox="1"/>
          <p:nvPr/>
        </p:nvSpPr>
        <p:spPr>
          <a:xfrm>
            <a:off x="311700" y="3732450"/>
            <a:ext cx="1252500" cy="400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soft-link.txt</a:t>
            </a:r>
            <a:endParaRPr/>
          </a:p>
        </p:txBody>
      </p:sp>
      <p:cxnSp>
        <p:nvCxnSpPr>
          <p:cNvPr id="85" name="Google Shape;85;p16"/>
          <p:cNvCxnSpPr>
            <a:stCxn id="84" idx="0"/>
            <a:endCxn id="78" idx="2"/>
          </p:cNvCxnSpPr>
          <p:nvPr/>
        </p:nvCxnSpPr>
        <p:spPr>
          <a:xfrm rot="10800000">
            <a:off x="937950" y="3013050"/>
            <a:ext cx="0" cy="71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737" y="560525"/>
            <a:ext cx="4945262" cy="45829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438550" y="4648575"/>
            <a:ext cx="48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nginx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/dev</a:t>
            </a:r>
            <a:endParaRPr sz="2500"/>
          </a:p>
        </p:txBody>
      </p:sp>
      <p:sp>
        <p:nvSpPr>
          <p:cNvPr id="93" name="Google Shape;93;p17"/>
          <p:cNvSpPr txBox="1"/>
          <p:nvPr/>
        </p:nvSpPr>
        <p:spPr>
          <a:xfrm>
            <a:off x="311700" y="560525"/>
            <a:ext cx="85206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/dev/urandom - генератор случайных чисел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/dev/null - чёрная дыра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/dev/zero - генератор нулей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/dev/video - устройство видеокарты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/dev/stdin, /dev/stdout, /dev/stderr - стандартные потоки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/dev/tty{1,2,3} - терминалы пользователей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/dev/hd{a,b,c} - устройства HDD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/dev/sd{a,b,c} - устройства SSD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/dev/nvme - устройства NVMe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/dev/md - устройства RAID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/dev/vd{a,b,c} - виртуальные жёсткие диски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Примеры VFS</a:t>
            </a:r>
            <a:endParaRPr sz="2500"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636725"/>
            <a:ext cx="8520600" cy="28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 – устройства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proc – процессы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sys – информация о системе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gitfs – работа с git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sshfs – монтирование по ssh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tmpfs – файловая система в памяти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tabfs – вкладки браузера (почему бы и да)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65525" y="4589400"/>
            <a:ext cx="708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TabFS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Список VFS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Virtual File System</a:t>
            </a:r>
            <a:endParaRPr sz="2500"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275" y="572700"/>
            <a:ext cx="6999440" cy="44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Методы VFS</a:t>
            </a:r>
            <a:endParaRPr sz="2500"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572700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685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b="1"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b="1"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uperblock </a:t>
            </a: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– метаданные о файловой системе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685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b="1"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inode</a:t>
            </a: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– метаданные о файле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685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b="1"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dentry </a:t>
            </a: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– представление каталога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685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b="1"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f</a:t>
            </a:r>
            <a:r>
              <a:rPr b="1"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ile object </a:t>
            </a: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– само содержимое файла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0100" y="2001675"/>
            <a:ext cx="4633900" cy="31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Superblock &amp; inode structs</a:t>
            </a:r>
            <a:endParaRPr sz="2500"/>
          </a:p>
        </p:txBody>
      </p:sp>
      <p:sp>
        <p:nvSpPr>
          <p:cNvPr id="119" name="Google Shape;119;p21"/>
          <p:cNvSpPr txBox="1"/>
          <p:nvPr/>
        </p:nvSpPr>
        <p:spPr>
          <a:xfrm>
            <a:off x="235625" y="560525"/>
            <a:ext cx="4336500" cy="4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super_operations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alloc_inode)(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sb);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destroy_inode)(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free_inode)(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dirty_inode)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flags);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write_inode)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writeback_control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wbc);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drop_inode)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evict_inode)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put_super)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sync_fs)(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sb,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wait);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freeze_super)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sb,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freeze_holder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who);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freeze_fs)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thaw_super)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sb,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freeze_wholder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who);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unfreeze_fs)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statfs)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kstatfs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remount_fs)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umount_begin)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show_options)(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seq_file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show_devname)(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seq_file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show_path)(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seq_file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show_stats)(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seq_file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ssize_t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quota_read)(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loff_t);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ssize_t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quota_write)(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loff_t);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dquot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get_dquots)(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nr_cached_objects)(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shrink_control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free_cached_objects)(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super_block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shrink_control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4572000" y="560525"/>
            <a:ext cx="42603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inode_operations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create)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umode_t,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lookup)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link)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unlink)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symlink)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mkdir)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,umode_t);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rmdir)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mknod)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,umode_t,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dev_t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rename)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readlink)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__user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get_link)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delayed_call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permission)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posix_acl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get_inode_acl)(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setattr)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iattr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getattr)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kstat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u32,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ssize_t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listxattr)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update_time)(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timespec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atomic_open)(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open_flag,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umode_t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create_mode);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tmpfile)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umode_t);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posix_acl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get_acl)(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set_acl)(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posix_acl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fileattr_set)(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mnt_idmap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idmap,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dentry,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fileattr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fa);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700">
                <a:solidFill>
                  <a:srgbClr val="902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fileattr_get)(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dentry,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fileattr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fa);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offset_ctx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get_offset_ctx)(</a:t>
            </a:r>
            <a:r>
              <a:rPr b="1" lang="en" sz="700">
                <a:solidFill>
                  <a:srgbClr val="00702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700">
                <a:solidFill>
                  <a:srgbClr val="0E84B5"/>
                </a:solidFill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n" sz="7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inode);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3E4349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700">
              <a:solidFill>
                <a:srgbClr val="3E43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FUSE</a:t>
            </a:r>
            <a:endParaRPr sz="2500"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9663"/>
            <a:ext cx="8839201" cy="390418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311700" y="4589400"/>
            <a:ext cx="516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Awesome FUSE Filesystem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Filesystem in Userspace (aka FUSE)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FUSE</a:t>
            </a:r>
            <a:endParaRPr sz="2500"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572700"/>
            <a:ext cx="4260300" cy="4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class</a:t>
            </a:r>
            <a:r>
              <a:rPr lang="en" sz="800">
                <a:solidFill>
                  <a:srgbClr val="673AB7"/>
                </a:solidFill>
              </a:rPr>
              <a:t> HelloFS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rgbClr val="673AB7"/>
                </a:solidFill>
              </a:rPr>
              <a:t>Fuse</a:t>
            </a:r>
            <a:r>
              <a:rPr lang="en" sz="800">
                <a:solidFill>
                  <a:srgbClr val="A3A3A3"/>
                </a:solidFill>
              </a:rPr>
              <a:t>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def</a:t>
            </a:r>
            <a:r>
              <a:rPr lang="en" sz="800">
                <a:solidFill>
                  <a:schemeClr val="dk1"/>
                </a:solidFill>
              </a:rPr>
              <a:t> getattr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chemeClr val="dk1"/>
                </a:solidFill>
              </a:rPr>
              <a:t>self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chemeClr val="dk1"/>
                </a:solidFill>
              </a:rPr>
              <a:t> path</a:t>
            </a:r>
            <a:r>
              <a:rPr lang="en" sz="800">
                <a:solidFill>
                  <a:srgbClr val="A3A3A3"/>
                </a:solidFill>
              </a:rPr>
              <a:t>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st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MyStat</a:t>
            </a:r>
            <a:r>
              <a:rPr lang="en" sz="800">
                <a:solidFill>
                  <a:srgbClr val="A3A3A3"/>
                </a:solidFill>
              </a:rPr>
              <a:t>()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if</a:t>
            </a:r>
            <a:r>
              <a:rPr lang="en" sz="800">
                <a:solidFill>
                  <a:schemeClr val="dk1"/>
                </a:solidFill>
              </a:rPr>
              <a:t> path </a:t>
            </a:r>
            <a:r>
              <a:rPr lang="en" sz="800">
                <a:solidFill>
                  <a:srgbClr val="4285F4"/>
                </a:solidFill>
              </a:rPr>
              <a:t>==</a:t>
            </a:r>
            <a:r>
              <a:rPr lang="en" sz="800">
                <a:solidFill>
                  <a:srgbClr val="0F9D58"/>
                </a:solidFill>
              </a:rPr>
              <a:t> '/'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    st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st_mode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stat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S_IFDIR</a:t>
            </a:r>
            <a:r>
              <a:rPr lang="en" sz="800">
                <a:solidFill>
                  <a:srgbClr val="4285F4"/>
                </a:solidFill>
              </a:rPr>
              <a:t> | 0o</a:t>
            </a:r>
            <a:r>
              <a:rPr lang="en" sz="800">
                <a:solidFill>
                  <a:srgbClr val="DB4437"/>
                </a:solidFill>
              </a:rPr>
              <a:t>755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    st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st_nlink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2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elif</a:t>
            </a:r>
            <a:r>
              <a:rPr lang="en" sz="800">
                <a:solidFill>
                  <a:schemeClr val="dk1"/>
                </a:solidFill>
              </a:rPr>
              <a:t> path </a:t>
            </a:r>
            <a:r>
              <a:rPr lang="en" sz="800">
                <a:solidFill>
                  <a:srgbClr val="4285F4"/>
                </a:solidFill>
              </a:rPr>
              <a:t>==</a:t>
            </a:r>
            <a:r>
              <a:rPr lang="en" sz="800">
                <a:solidFill>
                  <a:schemeClr val="dk1"/>
                </a:solidFill>
              </a:rPr>
              <a:t> hello_path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    st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st_mode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stat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S_IFREG</a:t>
            </a:r>
            <a:r>
              <a:rPr lang="en" sz="800">
                <a:solidFill>
                  <a:srgbClr val="4285F4"/>
                </a:solidFill>
              </a:rPr>
              <a:t> | 0o</a:t>
            </a:r>
            <a:r>
              <a:rPr lang="en" sz="800">
                <a:solidFill>
                  <a:srgbClr val="DB4437"/>
                </a:solidFill>
              </a:rPr>
              <a:t>444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    st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st_nlink, st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st_size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1, </a:t>
            </a:r>
            <a:r>
              <a:rPr lang="en" sz="800">
                <a:solidFill>
                  <a:schemeClr val="dk1"/>
                </a:solidFill>
              </a:rPr>
              <a:t>len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chemeClr val="dk1"/>
                </a:solidFill>
              </a:rPr>
              <a:t>hello_str</a:t>
            </a:r>
            <a:r>
              <a:rPr lang="en" sz="800">
                <a:solidFill>
                  <a:srgbClr val="A3A3A3"/>
                </a:solidFill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else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    return -</a:t>
            </a:r>
            <a:r>
              <a:rPr lang="en" sz="800">
                <a:solidFill>
                  <a:schemeClr val="dk1"/>
                </a:solidFill>
              </a:rPr>
              <a:t>errno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ENOENT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return</a:t>
            </a:r>
            <a:r>
              <a:rPr lang="en" sz="800">
                <a:solidFill>
                  <a:schemeClr val="dk1"/>
                </a:solidFill>
              </a:rPr>
              <a:t> st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def</a:t>
            </a:r>
            <a:r>
              <a:rPr lang="en" sz="800">
                <a:solidFill>
                  <a:schemeClr val="dk1"/>
                </a:solidFill>
              </a:rPr>
              <a:t> open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chemeClr val="dk1"/>
                </a:solidFill>
              </a:rPr>
              <a:t>self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chemeClr val="dk1"/>
                </a:solidFill>
              </a:rPr>
              <a:t> path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chemeClr val="dk1"/>
                </a:solidFill>
              </a:rPr>
              <a:t> flags</a:t>
            </a:r>
            <a:r>
              <a:rPr lang="en" sz="800">
                <a:solidFill>
                  <a:srgbClr val="A3A3A3"/>
                </a:solidFill>
              </a:rPr>
              <a:t>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if</a:t>
            </a:r>
            <a:r>
              <a:rPr lang="en" sz="800">
                <a:solidFill>
                  <a:schemeClr val="dk1"/>
                </a:solidFill>
              </a:rPr>
              <a:t> path </a:t>
            </a:r>
            <a:r>
              <a:rPr lang="en" sz="800">
                <a:solidFill>
                  <a:srgbClr val="4285F4"/>
                </a:solidFill>
              </a:rPr>
              <a:t>!=</a:t>
            </a:r>
            <a:r>
              <a:rPr lang="en" sz="800">
                <a:solidFill>
                  <a:schemeClr val="dk1"/>
                </a:solidFill>
              </a:rPr>
              <a:t> hello_path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    return -</a:t>
            </a:r>
            <a:r>
              <a:rPr lang="en" sz="800">
                <a:solidFill>
                  <a:schemeClr val="dk1"/>
                </a:solidFill>
              </a:rPr>
              <a:t>errno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ENOENT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accmode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os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O_RDONLY</a:t>
            </a:r>
            <a:r>
              <a:rPr lang="en" sz="800">
                <a:solidFill>
                  <a:srgbClr val="4285F4"/>
                </a:solidFill>
              </a:rPr>
              <a:t> |</a:t>
            </a:r>
            <a:r>
              <a:rPr lang="en" sz="800">
                <a:solidFill>
                  <a:schemeClr val="dk1"/>
                </a:solidFill>
              </a:rPr>
              <a:t> os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O_WRONLY</a:t>
            </a:r>
            <a:r>
              <a:rPr lang="en" sz="800">
                <a:solidFill>
                  <a:srgbClr val="4285F4"/>
                </a:solidFill>
              </a:rPr>
              <a:t> |</a:t>
            </a:r>
            <a:r>
              <a:rPr lang="en" sz="800">
                <a:solidFill>
                  <a:schemeClr val="dk1"/>
                </a:solidFill>
              </a:rPr>
              <a:t> os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O_RDWR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if</a:t>
            </a:r>
            <a:r>
              <a:rPr lang="en" sz="800">
                <a:solidFill>
                  <a:srgbClr val="A3A3A3"/>
                </a:solidFill>
              </a:rPr>
              <a:t> (</a:t>
            </a:r>
            <a:r>
              <a:rPr lang="en" sz="800">
                <a:solidFill>
                  <a:schemeClr val="dk1"/>
                </a:solidFill>
              </a:rPr>
              <a:t>flags </a:t>
            </a:r>
            <a:r>
              <a:rPr lang="en" sz="800">
                <a:solidFill>
                  <a:srgbClr val="4285F4"/>
                </a:solidFill>
              </a:rPr>
              <a:t>&amp;</a:t>
            </a:r>
            <a:r>
              <a:rPr lang="en" sz="800">
                <a:solidFill>
                  <a:schemeClr val="dk1"/>
                </a:solidFill>
              </a:rPr>
              <a:t> accmode</a:t>
            </a:r>
            <a:r>
              <a:rPr lang="en" sz="800">
                <a:solidFill>
                  <a:srgbClr val="A3A3A3"/>
                </a:solidFill>
              </a:rPr>
              <a:t>)</a:t>
            </a:r>
            <a:r>
              <a:rPr lang="en" sz="800">
                <a:solidFill>
                  <a:srgbClr val="4285F4"/>
                </a:solidFill>
              </a:rPr>
              <a:t> !=</a:t>
            </a:r>
            <a:r>
              <a:rPr lang="en" sz="800">
                <a:solidFill>
                  <a:schemeClr val="dk1"/>
                </a:solidFill>
              </a:rPr>
              <a:t> os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O_RDONLY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    return -</a:t>
            </a:r>
            <a:r>
              <a:rPr lang="en" sz="800">
                <a:solidFill>
                  <a:schemeClr val="dk1"/>
                </a:solidFill>
              </a:rPr>
              <a:t>errno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EACCES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def</a:t>
            </a:r>
            <a:r>
              <a:rPr lang="en" sz="800">
                <a:solidFill>
                  <a:srgbClr val="673AB7"/>
                </a:solidFill>
              </a:rPr>
              <a:t> read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chemeClr val="dk1"/>
                </a:solidFill>
              </a:rPr>
              <a:t>self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chemeClr val="dk1"/>
                </a:solidFill>
              </a:rPr>
              <a:t> path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chemeClr val="dk1"/>
                </a:solidFill>
              </a:rPr>
              <a:t> size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chemeClr val="dk1"/>
                </a:solidFill>
              </a:rPr>
              <a:t> offset</a:t>
            </a:r>
            <a:r>
              <a:rPr lang="en" sz="800">
                <a:solidFill>
                  <a:srgbClr val="A3A3A3"/>
                </a:solidFill>
              </a:rPr>
              <a:t>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if</a:t>
            </a:r>
            <a:r>
              <a:rPr lang="en" sz="800">
                <a:solidFill>
                  <a:schemeClr val="dk1"/>
                </a:solidFill>
              </a:rPr>
              <a:t> path </a:t>
            </a:r>
            <a:r>
              <a:rPr lang="en" sz="800">
                <a:solidFill>
                  <a:srgbClr val="4285F4"/>
                </a:solidFill>
              </a:rPr>
              <a:t>!=</a:t>
            </a:r>
            <a:r>
              <a:rPr lang="en" sz="800">
                <a:solidFill>
                  <a:schemeClr val="dk1"/>
                </a:solidFill>
              </a:rPr>
              <a:t> hello_path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    return -</a:t>
            </a:r>
            <a:r>
              <a:rPr lang="en" sz="800">
                <a:solidFill>
                  <a:schemeClr val="dk1"/>
                </a:solidFill>
              </a:rPr>
              <a:t>errno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DB4437"/>
                </a:solidFill>
              </a:rPr>
              <a:t>ENOENT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slen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len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chemeClr val="dk1"/>
                </a:solidFill>
              </a:rPr>
              <a:t>hello_str</a:t>
            </a:r>
            <a:r>
              <a:rPr lang="en" sz="800">
                <a:solidFill>
                  <a:srgbClr val="A3A3A3"/>
                </a:solidFill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if</a:t>
            </a:r>
            <a:r>
              <a:rPr lang="en" sz="800">
                <a:solidFill>
                  <a:schemeClr val="dk1"/>
                </a:solidFill>
              </a:rPr>
              <a:t> offset </a:t>
            </a:r>
            <a:r>
              <a:rPr lang="en" sz="800">
                <a:solidFill>
                  <a:srgbClr val="4285F4"/>
                </a:solidFill>
              </a:rPr>
              <a:t>&lt;</a:t>
            </a:r>
            <a:r>
              <a:rPr lang="en" sz="800">
                <a:solidFill>
                  <a:schemeClr val="dk1"/>
                </a:solidFill>
              </a:rPr>
              <a:t> slen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    if</a:t>
            </a:r>
            <a:r>
              <a:rPr lang="en" sz="800">
                <a:solidFill>
                  <a:schemeClr val="dk1"/>
                </a:solidFill>
              </a:rPr>
              <a:t> offset </a:t>
            </a:r>
            <a:r>
              <a:rPr lang="en" sz="800">
                <a:solidFill>
                  <a:srgbClr val="4285F4"/>
                </a:solidFill>
              </a:rPr>
              <a:t>+</a:t>
            </a:r>
            <a:r>
              <a:rPr lang="en" sz="800">
                <a:solidFill>
                  <a:schemeClr val="dk1"/>
                </a:solidFill>
              </a:rPr>
              <a:t> size </a:t>
            </a:r>
            <a:r>
              <a:rPr lang="en" sz="800">
                <a:solidFill>
                  <a:srgbClr val="4285F4"/>
                </a:solidFill>
              </a:rPr>
              <a:t>&gt;</a:t>
            </a:r>
            <a:r>
              <a:rPr lang="en" sz="800">
                <a:solidFill>
                  <a:schemeClr val="dk1"/>
                </a:solidFill>
              </a:rPr>
              <a:t> slen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        size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slen </a:t>
            </a:r>
            <a:r>
              <a:rPr lang="en" sz="800">
                <a:solidFill>
                  <a:srgbClr val="4285F4"/>
                </a:solidFill>
              </a:rPr>
              <a:t>-</a:t>
            </a:r>
            <a:r>
              <a:rPr lang="en" sz="800">
                <a:solidFill>
                  <a:schemeClr val="dk1"/>
                </a:solidFill>
              </a:rPr>
              <a:t> offset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    buf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hello_str</a:t>
            </a:r>
            <a:r>
              <a:rPr lang="en" sz="800">
                <a:solidFill>
                  <a:srgbClr val="A3A3A3"/>
                </a:solidFill>
              </a:rPr>
              <a:t>[</a:t>
            </a:r>
            <a:r>
              <a:rPr lang="en" sz="800">
                <a:solidFill>
                  <a:schemeClr val="dk1"/>
                </a:solidFill>
              </a:rPr>
              <a:t>offset</a:t>
            </a:r>
            <a:r>
              <a:rPr lang="en" sz="800">
                <a:solidFill>
                  <a:srgbClr val="A3A3A3"/>
                </a:solidFill>
              </a:rPr>
              <a:t>:</a:t>
            </a:r>
            <a:r>
              <a:rPr lang="en" sz="800">
                <a:solidFill>
                  <a:schemeClr val="dk1"/>
                </a:solidFill>
              </a:rPr>
              <a:t>offset</a:t>
            </a:r>
            <a:r>
              <a:rPr lang="en" sz="800">
                <a:solidFill>
                  <a:srgbClr val="4285F4"/>
                </a:solidFill>
              </a:rPr>
              <a:t>+</a:t>
            </a:r>
            <a:r>
              <a:rPr lang="en" sz="800">
                <a:solidFill>
                  <a:schemeClr val="dk1"/>
                </a:solidFill>
              </a:rPr>
              <a:t>size</a:t>
            </a:r>
            <a:r>
              <a:rPr lang="en" sz="800">
                <a:solidFill>
                  <a:srgbClr val="A3A3A3"/>
                </a:solidFill>
              </a:rPr>
              <a:t>]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    else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        buf </a:t>
            </a:r>
            <a:r>
              <a:rPr lang="en" sz="800">
                <a:solidFill>
                  <a:srgbClr val="4285F4"/>
                </a:solidFill>
              </a:rPr>
              <a:t>= b</a:t>
            </a:r>
            <a:r>
              <a:rPr lang="en" sz="800">
                <a:solidFill>
                  <a:srgbClr val="0F9D58"/>
                </a:solidFill>
              </a:rPr>
              <a:t>''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4285F4"/>
                </a:solidFill>
              </a:rPr>
              <a:t>        return</a:t>
            </a:r>
            <a:r>
              <a:rPr lang="en" sz="800">
                <a:solidFill>
                  <a:schemeClr val="dk1"/>
                </a:solidFill>
              </a:rPr>
              <a:t> buf</a:t>
            </a:r>
            <a:endParaRPr sz="800"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4694175" y="572700"/>
            <a:ext cx="42603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if not</a:t>
            </a:r>
            <a:r>
              <a:rPr lang="en" sz="800">
                <a:solidFill>
                  <a:schemeClr val="dk1"/>
                </a:solidFill>
              </a:rPr>
              <a:t> hasattr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chemeClr val="dk1"/>
                </a:solidFill>
              </a:rPr>
              <a:t>fuse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rgbClr val="0F9D58"/>
                </a:solidFill>
              </a:rPr>
              <a:t> '__version__'</a:t>
            </a:r>
            <a:r>
              <a:rPr lang="en" sz="800">
                <a:solidFill>
                  <a:srgbClr val="A3A3A3"/>
                </a:solidFill>
              </a:rPr>
              <a:t>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raise</a:t>
            </a:r>
            <a:r>
              <a:rPr lang="en" sz="800">
                <a:solidFill>
                  <a:schemeClr val="dk1"/>
                </a:solidFill>
              </a:rPr>
              <a:t> RuntimeError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rgbClr val="0F9D58"/>
                </a:solidFill>
              </a:rPr>
              <a:t>"your fuse-py doesn't know of fuse.__version__, probably it's too old."</a:t>
            </a:r>
            <a:r>
              <a:rPr lang="en" sz="800">
                <a:solidFill>
                  <a:srgbClr val="A3A3A3"/>
                </a:solidFill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fuse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fuse_python_api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A3A3A3"/>
                </a:solidFill>
              </a:rPr>
              <a:t> (</a:t>
            </a:r>
            <a:r>
              <a:rPr lang="en" sz="800">
                <a:solidFill>
                  <a:srgbClr val="DB4437"/>
                </a:solidFill>
              </a:rPr>
              <a:t>0</a:t>
            </a:r>
            <a:r>
              <a:rPr lang="en" sz="800">
                <a:solidFill>
                  <a:srgbClr val="A3A3A3"/>
                </a:solidFill>
              </a:rPr>
              <a:t>,</a:t>
            </a:r>
            <a:r>
              <a:rPr lang="en" sz="800">
                <a:solidFill>
                  <a:srgbClr val="DB4437"/>
                </a:solidFill>
              </a:rPr>
              <a:t> 2</a:t>
            </a:r>
            <a:r>
              <a:rPr lang="en" sz="800">
                <a:solidFill>
                  <a:srgbClr val="A3A3A3"/>
                </a:solidFill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hello_path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0F9D58"/>
                </a:solidFill>
              </a:rPr>
              <a:t> '/hello'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hello_str </a:t>
            </a:r>
            <a:r>
              <a:rPr lang="en" sz="800">
                <a:solidFill>
                  <a:srgbClr val="4285F4"/>
                </a:solidFill>
              </a:rPr>
              <a:t>= b</a:t>
            </a:r>
            <a:r>
              <a:rPr lang="en" sz="800">
                <a:solidFill>
                  <a:srgbClr val="0F9D58"/>
                </a:solidFill>
              </a:rPr>
              <a:t>'Hello World!</a:t>
            </a:r>
            <a:r>
              <a:rPr lang="en" sz="800">
                <a:solidFill>
                  <a:srgbClr val="DB4437"/>
                </a:solidFill>
              </a:rPr>
              <a:t>\n</a:t>
            </a:r>
            <a:r>
              <a:rPr lang="en" sz="800">
                <a:solidFill>
                  <a:srgbClr val="0F9D58"/>
                </a:solidFill>
              </a:rPr>
              <a:t>'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class</a:t>
            </a:r>
            <a:r>
              <a:rPr lang="en" sz="800">
                <a:solidFill>
                  <a:srgbClr val="673AB7"/>
                </a:solidFill>
              </a:rPr>
              <a:t> MyStat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rgbClr val="673AB7"/>
                </a:solidFill>
              </a:rPr>
              <a:t>fuse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673AB7"/>
                </a:solidFill>
              </a:rPr>
              <a:t>Stat</a:t>
            </a:r>
            <a:r>
              <a:rPr lang="en" sz="800">
                <a:solidFill>
                  <a:srgbClr val="A3A3A3"/>
                </a:solidFill>
              </a:rPr>
              <a:t>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    def</a:t>
            </a:r>
            <a:r>
              <a:rPr lang="en" sz="800">
                <a:solidFill>
                  <a:schemeClr val="dk1"/>
                </a:solidFill>
              </a:rPr>
              <a:t> __init__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chemeClr val="dk1"/>
                </a:solidFill>
              </a:rPr>
              <a:t>self</a:t>
            </a:r>
            <a:r>
              <a:rPr lang="en" sz="800">
                <a:solidFill>
                  <a:srgbClr val="A3A3A3"/>
                </a:solidFill>
              </a:rPr>
              <a:t>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DB4437"/>
                </a:solidFill>
              </a:rPr>
              <a:t>        self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st_mode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DB4437"/>
                </a:solidFill>
              </a:rPr>
              <a:t>        self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st_ino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DB4437"/>
                </a:solidFill>
              </a:rPr>
              <a:t>        self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st_dev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DB4437"/>
                </a:solidFill>
              </a:rPr>
              <a:t>        self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st_nlink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DB4437"/>
                </a:solidFill>
              </a:rPr>
              <a:t>        self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st_uid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DB4437"/>
                </a:solidFill>
              </a:rPr>
              <a:t>        self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st_gid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DB4437"/>
                </a:solidFill>
              </a:rPr>
              <a:t>        self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st_size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 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def</a:t>
            </a:r>
            <a:r>
              <a:rPr lang="en" sz="800">
                <a:solidFill>
                  <a:srgbClr val="673AB7"/>
                </a:solidFill>
              </a:rPr>
              <a:t> main</a:t>
            </a:r>
            <a:r>
              <a:rPr lang="en" sz="800">
                <a:solidFill>
                  <a:srgbClr val="A3A3A3"/>
                </a:solidFill>
              </a:rPr>
              <a:t>():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usage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0F9D58"/>
                </a:solidFill>
              </a:rPr>
              <a:t>"""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0F9D58"/>
                </a:solidFill>
              </a:rPr>
              <a:t>Userspace hello example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0F9D58"/>
                </a:solidFill>
              </a:rPr>
              <a:t>"""</a:t>
            </a:r>
            <a:r>
              <a:rPr lang="en" sz="800">
                <a:solidFill>
                  <a:srgbClr val="4285F4"/>
                </a:solidFill>
              </a:rPr>
              <a:t> +</a:t>
            </a:r>
            <a:r>
              <a:rPr lang="en" sz="800">
                <a:solidFill>
                  <a:schemeClr val="dk1"/>
                </a:solidFill>
              </a:rPr>
              <a:t> Fuse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fusage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server 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 HelloFS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rgbClr val="E67C73"/>
                </a:solidFill>
              </a:rPr>
              <a:t>version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0F9D58"/>
                </a:solidFill>
              </a:rPr>
              <a:t>"%prog "</a:t>
            </a:r>
            <a:r>
              <a:rPr lang="en" sz="800">
                <a:solidFill>
                  <a:srgbClr val="4285F4"/>
                </a:solidFill>
              </a:rPr>
              <a:t> +</a:t>
            </a:r>
            <a:r>
              <a:rPr lang="en" sz="800">
                <a:solidFill>
                  <a:schemeClr val="dk1"/>
                </a:solidFill>
              </a:rPr>
              <a:t> fuse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rgbClr val="673AB7"/>
                </a:solidFill>
              </a:rPr>
              <a:t>__version__</a:t>
            </a:r>
            <a:r>
              <a:rPr lang="en" sz="800">
                <a:solidFill>
                  <a:srgbClr val="A3A3A3"/>
                </a:solidFill>
              </a:rPr>
              <a:t>,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E67C73"/>
                </a:solidFill>
              </a:rPr>
              <a:t>                     usage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chemeClr val="dk1"/>
                </a:solidFill>
              </a:rPr>
              <a:t>usage</a:t>
            </a:r>
            <a:r>
              <a:rPr lang="en" sz="800">
                <a:solidFill>
                  <a:srgbClr val="A3A3A3"/>
                </a:solidFill>
              </a:rPr>
              <a:t>,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E67C73"/>
                </a:solidFill>
              </a:rPr>
              <a:t>                     dash_s_do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0F9D58"/>
                </a:solidFill>
              </a:rPr>
              <a:t>'setsingle'</a:t>
            </a:r>
            <a:r>
              <a:rPr lang="en" sz="800">
                <a:solidFill>
                  <a:srgbClr val="A3A3A3"/>
                </a:solidFill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server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parse</a:t>
            </a:r>
            <a:r>
              <a:rPr lang="en" sz="800">
                <a:solidFill>
                  <a:srgbClr val="A3A3A3"/>
                </a:solidFill>
              </a:rPr>
              <a:t>(</a:t>
            </a:r>
            <a:r>
              <a:rPr lang="en" sz="800">
                <a:solidFill>
                  <a:srgbClr val="E67C73"/>
                </a:solidFill>
              </a:rPr>
              <a:t>errex</a:t>
            </a:r>
            <a:r>
              <a:rPr lang="en" sz="800">
                <a:solidFill>
                  <a:srgbClr val="4285F4"/>
                </a:solidFill>
              </a:rPr>
              <a:t>=</a:t>
            </a:r>
            <a:r>
              <a:rPr lang="en" sz="800">
                <a:solidFill>
                  <a:srgbClr val="DB4437"/>
                </a:solidFill>
              </a:rPr>
              <a:t>1</a:t>
            </a:r>
            <a:r>
              <a:rPr lang="en" sz="800">
                <a:solidFill>
                  <a:srgbClr val="A3A3A3"/>
                </a:solidFill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chemeClr val="dk1"/>
                </a:solidFill>
              </a:rPr>
              <a:t>    server</a:t>
            </a:r>
            <a:r>
              <a:rPr lang="en" sz="800">
                <a:solidFill>
                  <a:srgbClr val="A3A3A3"/>
                </a:solidFill>
              </a:rPr>
              <a:t>.</a:t>
            </a:r>
            <a:r>
              <a:rPr lang="en" sz="800">
                <a:solidFill>
                  <a:schemeClr val="dk1"/>
                </a:solidFill>
              </a:rPr>
              <a:t>main</a:t>
            </a:r>
            <a:r>
              <a:rPr lang="en" sz="800">
                <a:solidFill>
                  <a:srgbClr val="A3A3A3"/>
                </a:solidFill>
              </a:rPr>
              <a:t>()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285F4"/>
                </a:solidFill>
              </a:rPr>
              <a:t>if</a:t>
            </a:r>
            <a:r>
              <a:rPr lang="en" sz="800">
                <a:solidFill>
                  <a:srgbClr val="673AB7"/>
                </a:solidFill>
              </a:rPr>
              <a:t> __name__</a:t>
            </a:r>
            <a:r>
              <a:rPr lang="en" sz="800">
                <a:solidFill>
                  <a:srgbClr val="4285F4"/>
                </a:solidFill>
              </a:rPr>
              <a:t> ==</a:t>
            </a:r>
            <a:r>
              <a:rPr lang="en" sz="800">
                <a:solidFill>
                  <a:srgbClr val="0F9D58"/>
                </a:solidFill>
              </a:rPr>
              <a:t> '__main__'</a:t>
            </a:r>
            <a:r>
              <a:rPr lang="en" sz="800">
                <a:solidFill>
                  <a:srgbClr val="A3A3A3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    main</a:t>
            </a:r>
            <a:r>
              <a:rPr lang="en" sz="800">
                <a:solidFill>
                  <a:srgbClr val="A3A3A3"/>
                </a:solidFill>
              </a:rPr>
              <a:t>()</a:t>
            </a:r>
            <a:endParaRPr sz="800"/>
          </a:p>
        </p:txBody>
      </p:sp>
      <p:sp>
        <p:nvSpPr>
          <p:cNvPr id="135" name="Google Shape;135;p23"/>
          <p:cNvSpPr txBox="1"/>
          <p:nvPr/>
        </p:nvSpPr>
        <p:spPr>
          <a:xfrm>
            <a:off x="311700" y="4774200"/>
            <a:ext cx="516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python-fuse-filesystem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Работа с файлами</a:t>
            </a:r>
            <a:endParaRPr sz="2500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88" y="572700"/>
            <a:ext cx="8590235" cy="44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 что надо будет сделать для зачёта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Layerfs</a:t>
            </a:r>
            <a:endParaRPr sz="2500"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7725"/>
            <a:ext cx="8832299" cy="320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Layerfs</a:t>
            </a:r>
            <a:endParaRPr sz="2500"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789125"/>
            <a:ext cx="8520600" cy="3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Объединить 2 слоя (read-only):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# mount -t overlay \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-o lowerdir=/opt/devops/lower2:/opt/devops/lower1 \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overlay /mnt/merged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Объединить 3 слоя (read-write):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# mount -t overlay -o \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lowerdir=/opt/devops/lower2:/opt/devops/lower1,\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upperdir=/opt/devops/upper,\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workdir=/opt/devops/workdir \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overlay /mnt/merged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Опции монтирования: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# cat /proc/mounts | grep over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Layerfs</a:t>
            </a:r>
            <a:endParaRPr sz="2500"/>
          </a:p>
        </p:txBody>
      </p:sp>
      <p:grpSp>
        <p:nvGrpSpPr>
          <p:cNvPr id="165" name="Google Shape;165;p28"/>
          <p:cNvGrpSpPr/>
          <p:nvPr/>
        </p:nvGrpSpPr>
        <p:grpSpPr>
          <a:xfrm>
            <a:off x="436450" y="2043200"/>
            <a:ext cx="7965900" cy="2330400"/>
            <a:chOff x="436450" y="2043200"/>
            <a:chExt cx="7965900" cy="2330400"/>
          </a:xfrm>
        </p:grpSpPr>
        <p:sp>
          <p:nvSpPr>
            <p:cNvPr id="166" name="Google Shape;166;p28"/>
            <p:cNvSpPr/>
            <p:nvPr/>
          </p:nvSpPr>
          <p:spPr>
            <a:xfrm>
              <a:off x="436450" y="2043200"/>
              <a:ext cx="7965900" cy="2330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host file system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3949950" y="3102725"/>
              <a:ext cx="1244100" cy="3156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/etc/passwd</a:t>
              </a:r>
              <a:endParaRPr/>
            </a:p>
          </p:txBody>
        </p:sp>
        <p:grpSp>
          <p:nvGrpSpPr>
            <p:cNvPr id="168" name="Google Shape;168;p28"/>
            <p:cNvGrpSpPr/>
            <p:nvPr/>
          </p:nvGrpSpPr>
          <p:grpSpPr>
            <a:xfrm>
              <a:off x="983150" y="2485325"/>
              <a:ext cx="2042700" cy="1550400"/>
              <a:chOff x="-1731000" y="1309725"/>
              <a:chExt cx="2042700" cy="1550400"/>
            </a:xfrm>
          </p:grpSpPr>
          <p:sp>
            <p:nvSpPr>
              <p:cNvPr id="169" name="Google Shape;169;p28"/>
              <p:cNvSpPr/>
              <p:nvPr/>
            </p:nvSpPr>
            <p:spPr>
              <a:xfrm>
                <a:off x="-1731000" y="1309725"/>
                <a:ext cx="2042700" cy="1550400"/>
              </a:xfrm>
              <a:prstGeom prst="rect">
                <a:avLst/>
              </a:prstGeom>
              <a:solidFill>
                <a:srgbClr val="B6D7A8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symlink</a:t>
                </a:r>
                <a:endParaRPr/>
              </a:p>
            </p:txBody>
          </p:sp>
          <p:sp>
            <p:nvSpPr>
              <p:cNvPr id="170" name="Google Shape;170;p28"/>
              <p:cNvSpPr/>
              <p:nvPr/>
            </p:nvSpPr>
            <p:spPr>
              <a:xfrm>
                <a:off x="-1331700" y="1727600"/>
                <a:ext cx="1244100" cy="3156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91425" spcFirstLastPara="1" rIns="91425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/passwd</a:t>
                </a:r>
                <a:endParaRPr/>
              </a:p>
            </p:txBody>
          </p:sp>
          <p:sp>
            <p:nvSpPr>
              <p:cNvPr id="171" name="Google Shape;171;p28"/>
              <p:cNvSpPr/>
              <p:nvPr/>
            </p:nvSpPr>
            <p:spPr>
              <a:xfrm>
                <a:off x="-1331700" y="2413950"/>
                <a:ext cx="1244100" cy="3156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91425" spcFirstLastPara="1" rIns="91425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/etc/passwd</a:t>
                </a:r>
                <a:endParaRPr/>
              </a:p>
            </p:txBody>
          </p:sp>
          <p:cxnSp>
            <p:nvCxnSpPr>
              <p:cNvPr id="172" name="Google Shape;172;p28"/>
              <p:cNvCxnSpPr>
                <a:stCxn id="170" idx="2"/>
                <a:endCxn id="171" idx="0"/>
              </p:cNvCxnSpPr>
              <p:nvPr/>
            </p:nvCxnSpPr>
            <p:spPr>
              <a:xfrm>
                <a:off x="-709650" y="2043200"/>
                <a:ext cx="0" cy="370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3" name="Google Shape;173;p28"/>
            <p:cNvSpPr/>
            <p:nvPr/>
          </p:nvSpPr>
          <p:spPr>
            <a:xfrm>
              <a:off x="5718850" y="2485325"/>
              <a:ext cx="2042700" cy="15504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hardlink</a:t>
              </a: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6118150" y="3102725"/>
              <a:ext cx="1244100" cy="3156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91425" spcFirstLastPara="1" rIns="91425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/passwd</a:t>
              </a:r>
              <a:endParaRPr/>
            </a:p>
          </p:txBody>
        </p:sp>
        <p:cxnSp>
          <p:nvCxnSpPr>
            <p:cNvPr id="175" name="Google Shape;175;p28"/>
            <p:cNvCxnSpPr>
              <a:stCxn id="174" idx="1"/>
              <a:endCxn id="167" idx="3"/>
            </p:cNvCxnSpPr>
            <p:nvPr/>
          </p:nvCxnSpPr>
          <p:spPr>
            <a:xfrm rot="10800000">
              <a:off x="5194150" y="3260525"/>
              <a:ext cx="9240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