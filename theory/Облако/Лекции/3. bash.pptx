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https://github.com/flant/pam_docker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ab0e0b7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ab0e0b7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8aa8757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8aa8757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941fea3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941fea3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4ce6b2f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4ce6b2f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be5b669ff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be5b669ff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b8aa8757e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b8aa8757e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b8aa8757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b8aa8757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b8aa8757e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b8aa8757e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b8aa8757e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b8aa8757e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b8aa8757e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b8aa8757e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b9d79dd7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b9d79dd7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3fbf870b1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3fbf870b1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3fbf870b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3fbf870b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3fbf870b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3fbf870b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3fbf870b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93fbf870b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3fbf870b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3fbf870b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3fbf870b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3fbf870b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3fbf870b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3fbf870b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13f5b4f03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13f5b4f03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3fbf870b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3fbf870b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a0318bf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a0318bf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b9d79dd7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b9d79dd7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2a078edf9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2a078edf9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a078edf9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2a078edf9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a078edf99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2a078edf9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2a078edf9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2a078edf9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habr.com/ru/company/ruvds/blog/336764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opennet.ru/docs/RUS/bash_scripting_guide/x4171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hyperlink" Target="https://habr.com/ru/articles/868766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hyperlink" Target="https://github.com/coreutils/coreutils/blob/master/src/lbracket.c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explainshell.com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habr.com/ru/companies/otus/articles/657841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habr.com/ru/company/mailru/blog/311762/" TargetMode="External"/><Relationship Id="rId4" Type="http://schemas.openxmlformats.org/officeDocument/2006/relationships/hyperlink" Target="https://habr.com/ru/company/ruvds/blog/556750/" TargetMode="External"/><Relationship Id="rId9" Type="http://schemas.openxmlformats.org/officeDocument/2006/relationships/hyperlink" Target="http://mywiki.wooledge.org/BashPitfalls" TargetMode="External"/><Relationship Id="rId5" Type="http://schemas.openxmlformats.org/officeDocument/2006/relationships/hyperlink" Target="https://habr.com/ru/post/413117/" TargetMode="External"/><Relationship Id="rId6" Type="http://schemas.openxmlformats.org/officeDocument/2006/relationships/hyperlink" Target="https://www.shellcheck.net/" TargetMode="External"/><Relationship Id="rId7" Type="http://schemas.openxmlformats.org/officeDocument/2006/relationships/hyperlink" Target="https://habr.com/ru/articles/590021/" TargetMode="External"/><Relationship Id="rId8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habr.com/ru/articles/666982/" TargetMode="External"/><Relationship Id="rId4" Type="http://schemas.openxmlformats.org/officeDocument/2006/relationships/hyperlink" Target="https://habr.com/ru/articles/413117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habr.com/ru/companies/ruvds/articles/528434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taskfile.de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и make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https://habr.com/ru/company/ruvds/blog/336764/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Ввод и вывод текста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1182300"/>
            <a:ext cx="3838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Вывод текста: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 our comment is here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echo "The current directory is:"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pwd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echo "The user logged in is:"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whoami</a:t>
            </a:r>
            <a:endParaRPr sz="2000"/>
          </a:p>
        </p:txBody>
      </p:sp>
      <p:sp>
        <p:nvSpPr>
          <p:cNvPr id="62" name="Google Shape;62;p14"/>
          <p:cNvSpPr txBox="1"/>
          <p:nvPr/>
        </p:nvSpPr>
        <p:spPr>
          <a:xfrm>
            <a:off x="4688700" y="1182304"/>
            <a:ext cx="4143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Ввод данных: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echo "Hello, who are you?"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read $name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</a:t>
            </a:r>
            <a:r>
              <a:rPr lang="en" sz="1800"/>
              <a:t>cho "Hello, $name!"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number=$RANDOM</a:t>
            </a:r>
            <a:endParaRPr sz="1800"/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3683175"/>
            <a:ext cx="255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Строки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572700"/>
            <a:ext cx="8520600" cy="436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Одинарные кавычки выведут как есть: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$ echo ‘$PATH’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$PATH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Двойные кавычки подставят значение: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$ echo “$PATH”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/usr/local/sbin:/usr/local/bin:/usr/sbin:/usr/bin:/sbin:/bin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Экранирование $: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$ echo “\$PATH”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$PATH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Подстановка команд (`pwd` или $(pwd)):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mydir=$(pwd)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echo $mydir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Manipulation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877500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д</a:t>
            </a:r>
            <a:r>
              <a:rPr lang="en" sz="2400"/>
              <a:t>лина </a:t>
            </a:r>
            <a:r>
              <a:rPr lang="en" sz="2400">
                <a:solidFill>
                  <a:srgbClr val="0B5394"/>
                </a:solidFill>
              </a:rPr>
              <a:t>${#string}</a:t>
            </a:r>
            <a:endParaRPr sz="2400">
              <a:solidFill>
                <a:srgbClr val="0B5394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подстрока </a:t>
            </a:r>
            <a:r>
              <a:rPr lang="en" sz="2400">
                <a:solidFill>
                  <a:srgbClr val="0B5394"/>
                </a:solidFill>
              </a:rPr>
              <a:t>${string:position:length}</a:t>
            </a:r>
            <a:endParaRPr sz="2400">
              <a:solidFill>
                <a:srgbClr val="0B5394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удалить первое вхождение </a:t>
            </a:r>
            <a:r>
              <a:rPr lang="en" sz="2400">
                <a:solidFill>
                  <a:srgbClr val="0B5394"/>
                </a:solidFill>
              </a:rPr>
              <a:t>{string#substring}</a:t>
            </a:r>
            <a:endParaRPr sz="2400">
              <a:solidFill>
                <a:srgbClr val="0B5394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удалить последнее вхождение </a:t>
            </a:r>
            <a:r>
              <a:rPr lang="en" sz="2400">
                <a:solidFill>
                  <a:srgbClr val="0B5394"/>
                </a:solidFill>
              </a:rPr>
              <a:t>{string##substring}</a:t>
            </a:r>
            <a:endParaRPr sz="2400">
              <a:solidFill>
                <a:srgbClr val="0B5394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заменить вхождение </a:t>
            </a:r>
            <a:r>
              <a:rPr lang="en" sz="2400">
                <a:solidFill>
                  <a:srgbClr val="0B5394"/>
                </a:solidFill>
              </a:rPr>
              <a:t>${string/pattern/replacement}</a:t>
            </a:r>
            <a:endParaRPr sz="2400">
              <a:solidFill>
                <a:srgbClr val="0B5394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11700" y="4774200"/>
            <a:ext cx="545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9.2. Работа со строками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Математические операции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724250"/>
            <a:ext cx="5430600" cy="21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var1=$(( 5 + 5 ))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echo $var1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var2=$(( $var1 * 2 ))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echo $var2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2216" y="0"/>
            <a:ext cx="3401784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311700" y="4774200"/>
            <a:ext cx="532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Сравнение Bash и Python при написании скриптов в Linux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Параметры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572700"/>
            <a:ext cx="8520600" cy="18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bash a.sh first second last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$0 – a.sh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$1 – first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$2 – second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$3 – last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...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235500" y="2803800"/>
            <a:ext cx="8520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$! – PID последней задачи в фоне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$@ – "$1" "$2" "$3" …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$# – количество переданных параметров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$$ – PID(идентификатор) процесса, выполняющего скрипт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$* – "$1 $2 $3 …"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$? – код завершения предыдущей команды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$&amp; – ???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- then - else - fi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311700" y="572700"/>
            <a:ext cx="8520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if </a:t>
            </a:r>
            <a:r>
              <a:rPr lang="en" sz="2000">
                <a:solidFill>
                  <a:srgbClr val="FF9900"/>
                </a:solidFill>
              </a:rPr>
              <a:t>&lt;условие 1&gt;; </a:t>
            </a:r>
            <a:r>
              <a:rPr lang="en" sz="2000">
                <a:solidFill>
                  <a:srgbClr val="FF9900"/>
                </a:solidFill>
              </a:rPr>
              <a:t>&lt;условие 2&gt;</a:t>
            </a:r>
            <a:r>
              <a:rPr lang="en" sz="2000"/>
              <a:t>; </a:t>
            </a:r>
            <a:r>
              <a:rPr lang="en" sz="2000"/>
              <a:t>then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</a:t>
            </a:r>
            <a:r>
              <a:rPr lang="en" sz="2000">
                <a:solidFill>
                  <a:srgbClr val="0000FF"/>
                </a:solidFill>
              </a:rPr>
              <a:t>&lt;действия 1&gt;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elif </a:t>
            </a:r>
            <a:r>
              <a:rPr lang="en" sz="2000">
                <a:solidFill>
                  <a:srgbClr val="FF9900"/>
                </a:solidFill>
              </a:rPr>
              <a:t>&lt;условия 2&gt;</a:t>
            </a:r>
            <a:r>
              <a:rPr lang="en" sz="2000"/>
              <a:t>; </a:t>
            </a:r>
            <a:r>
              <a:rPr lang="en" sz="2000"/>
              <a:t>then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</a:t>
            </a:r>
            <a:r>
              <a:rPr lang="en" sz="2000">
                <a:solidFill>
                  <a:srgbClr val="0000FF"/>
                </a:solidFill>
              </a:rPr>
              <a:t>&lt;действия 2&gt;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else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</a:t>
            </a:r>
            <a:r>
              <a:rPr lang="en" sz="2000">
                <a:solidFill>
                  <a:srgbClr val="0000FF"/>
                </a:solidFill>
              </a:rPr>
              <a:t>&lt;действия 3&gt;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</a:t>
            </a:r>
            <a:endParaRPr sz="2000"/>
          </a:p>
        </p:txBody>
      </p:sp>
      <p:sp>
        <p:nvSpPr>
          <p:cNvPr id="98" name="Google Shape;98;p19"/>
          <p:cNvSpPr txBox="1"/>
          <p:nvPr/>
        </p:nvSpPr>
        <p:spPr>
          <a:xfrm>
            <a:off x="311700" y="3111600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if </a:t>
            </a:r>
            <a:r>
              <a:rPr lang="en" sz="2000">
                <a:solidFill>
                  <a:srgbClr val="FF9900"/>
                </a:solidFill>
              </a:rPr>
              <a:t>[ -f /etc/passwd ]</a:t>
            </a:r>
            <a:endParaRPr sz="20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then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</a:t>
            </a:r>
            <a:r>
              <a:rPr lang="en" sz="2000">
                <a:solidFill>
                  <a:srgbClr val="0000FF"/>
                </a:solidFill>
              </a:rPr>
              <a:t>echo "/etc/passwd – обычный файл"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else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</a:t>
            </a:r>
            <a:r>
              <a:rPr lang="en" sz="2000">
                <a:solidFill>
                  <a:srgbClr val="0000FF"/>
                </a:solidFill>
              </a:rPr>
              <a:t>echo "/etc/passwd – не обычный файл"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fi</a:t>
            </a:r>
            <a:endParaRPr sz="2000"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4775" y="0"/>
            <a:ext cx="3939225" cy="361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Проверки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311700" y="572700"/>
            <a:ext cx="2890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Файлы: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-d - это каталог?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-f - это файл?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-r - доступ на чтение?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-s - файл не пуст?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-x - файл исполняемый? </a:t>
            </a:r>
            <a:endParaRPr sz="1800"/>
          </a:p>
        </p:txBody>
      </p:sp>
      <p:sp>
        <p:nvSpPr>
          <p:cNvPr id="106" name="Google Shape;106;p20"/>
          <p:cNvSpPr txBox="1"/>
          <p:nvPr/>
        </p:nvSpPr>
        <p:spPr>
          <a:xfrm>
            <a:off x="3512700" y="572700"/>
            <a:ext cx="2504700" cy="18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Числа</a:t>
            </a:r>
            <a:r>
              <a:rPr lang="en" sz="1800"/>
              <a:t>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-eq - equal?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-ne - not equal?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-gt - greater than?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-lt - less than?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-ge - greater or equal?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-le - less or equal?</a:t>
            </a:r>
            <a:endParaRPr sz="1800"/>
          </a:p>
        </p:txBody>
      </p:sp>
      <p:sp>
        <p:nvSpPr>
          <p:cNvPr id="107" name="Google Shape;107;p20"/>
          <p:cNvSpPr txBox="1"/>
          <p:nvPr/>
        </p:nvSpPr>
        <p:spPr>
          <a:xfrm>
            <a:off x="6327600" y="572700"/>
            <a:ext cx="250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Строки: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-z - строка пуста?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-n -строка не пуста?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= - строки равны?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!= - строки не равны?</a:t>
            </a:r>
            <a:endParaRPr sz="1800"/>
          </a:p>
        </p:txBody>
      </p:sp>
      <p:sp>
        <p:nvSpPr>
          <p:cNvPr id="108" name="Google Shape;108;p20"/>
          <p:cNvSpPr txBox="1"/>
          <p:nvPr/>
        </p:nvSpPr>
        <p:spPr>
          <a:xfrm>
            <a:off x="311700" y="2921575"/>
            <a:ext cx="5634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[ -f filename.txt ] - в квадратных скобках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[ “$a”=”$b” ] - присвоение, а не сравнение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>
                <a:solidFill>
                  <a:schemeClr val="dk1"/>
                </a:solidFill>
              </a:rPr>
              <a:t>[</a:t>
            </a:r>
            <a:r>
              <a:rPr lang="en" sz="2000">
                <a:solidFill>
                  <a:srgbClr val="E69138"/>
                </a:solidFill>
              </a:rPr>
              <a:t>[ $a == z* ]</a:t>
            </a:r>
            <a:r>
              <a:rPr lang="en" sz="2000"/>
              <a:t>]</a:t>
            </a:r>
            <a:r>
              <a:rPr lang="en" sz="2000"/>
              <a:t> - сравнение на регексп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[[ “$a” &gt; “$b” ]] равносильно [ “$a” \&gt; “$b” ]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[ “$number” -gt “23” ] - числа в кавычках</a:t>
            </a:r>
            <a:endParaRPr sz="2000"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7600" y="2488425"/>
            <a:ext cx="2504699" cy="250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/usr/bin/[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5100"/>
            <a:ext cx="8839198" cy="202121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152400" y="4229575"/>
            <a:ext cx="8839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hlink"/>
                </a:solidFill>
                <a:hlinkClick r:id="rId4"/>
              </a:rPr>
              <a:t>https://github.com/coreutils/coreutils/blob/master/src/lbracket.c</a:t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Циклы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311700" y="572700"/>
            <a:ext cx="426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for </a:t>
            </a:r>
            <a:r>
              <a:rPr lang="en" sz="2000">
                <a:solidFill>
                  <a:srgbClr val="FF9900"/>
                </a:solidFill>
              </a:rPr>
              <a:t>&lt;ЭЛЕМЕНТ&gt; in $&lt;СПИСОК&gt;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do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</a:t>
            </a:r>
            <a:r>
              <a:rPr lang="en" sz="2000">
                <a:solidFill>
                  <a:srgbClr val="0000FF"/>
                </a:solidFill>
              </a:rPr>
              <a:t>&lt;действия&gt;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done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2243700"/>
            <a:ext cx="6599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LIST=$(ls -a $1)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for </a:t>
            </a:r>
            <a:r>
              <a:rPr lang="en" sz="2000">
                <a:solidFill>
                  <a:srgbClr val="FF9900"/>
                </a:solidFill>
              </a:rPr>
              <a:t>ITEM in $LIST</a:t>
            </a:r>
            <a:endParaRPr sz="20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do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</a:rPr>
              <a:t>    </a:t>
            </a:r>
            <a:r>
              <a:rPr lang="en" sz="2000">
                <a:solidFill>
                  <a:srgbClr val="0000FF"/>
                </a:solidFill>
              </a:rPr>
              <a:t>if [ -d $1/$ITEM ]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</a:rPr>
              <a:t>    then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</a:rPr>
              <a:t>        echo "$ITEM"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0000FF"/>
                </a:solidFill>
              </a:rPr>
              <a:t>    fi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done</a:t>
            </a:r>
            <a:endParaRPr sz="2000"/>
          </a:p>
        </p:txBody>
      </p:sp>
      <p:sp>
        <p:nvSpPr>
          <p:cNvPr id="124" name="Google Shape;124;p22"/>
          <p:cNvSpPr txBox="1"/>
          <p:nvPr/>
        </p:nvSpPr>
        <p:spPr>
          <a:xfrm>
            <a:off x="5620500" y="512150"/>
            <a:ext cx="3211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while </a:t>
            </a:r>
            <a:r>
              <a:rPr lang="en" sz="2000">
                <a:solidFill>
                  <a:srgbClr val="FF9900"/>
                </a:solidFill>
              </a:rPr>
              <a:t>&lt;условие&gt;</a:t>
            </a:r>
            <a:endParaRPr sz="2000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do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</a:t>
            </a:r>
            <a:r>
              <a:rPr lang="en" sz="2000">
                <a:solidFill>
                  <a:srgbClr val="0000FF"/>
                </a:solidFill>
              </a:rPr>
              <a:t>&lt;действия&gt;</a:t>
            </a:r>
            <a:endParaRPr sz="20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done</a:t>
            </a:r>
            <a:endParaRPr sz="2000"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3250" y="3188250"/>
            <a:ext cx="382905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/>
        </p:nvSpPr>
        <p:spPr>
          <a:xfrm>
            <a:off x="5003175" y="4406625"/>
            <a:ext cx="382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o="-vvvvvv";for i in 0 {2..7}; do c="aptitude ${o:0:$i} moo";echo "$ $c"; $c; done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</a:t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311700" y="572700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case </a:t>
            </a:r>
            <a:r>
              <a:rPr lang="en" sz="2000">
                <a:solidFill>
                  <a:srgbClr val="FF9900"/>
                </a:solidFill>
              </a:rPr>
              <a:t>&lt;переменная&gt;</a:t>
            </a:r>
            <a:r>
              <a:rPr lang="en" sz="2000"/>
              <a:t> in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</a:t>
            </a:r>
            <a:r>
              <a:rPr lang="en" sz="2000">
                <a:solidFill>
                  <a:srgbClr val="FF0000"/>
                </a:solidFill>
              </a:rPr>
              <a:t>&lt;значение1&gt;</a:t>
            </a:r>
            <a:r>
              <a:rPr lang="en" sz="2000"/>
              <a:t> 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</a:t>
            </a:r>
            <a:r>
              <a:rPr lang="en" sz="2000">
                <a:solidFill>
                  <a:srgbClr val="0000FF"/>
                </a:solidFill>
              </a:rPr>
              <a:t>&lt;действие1&gt;</a:t>
            </a:r>
            <a:r>
              <a:rPr lang="en" sz="2000"/>
              <a:t>;;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</a:t>
            </a:r>
            <a:r>
              <a:rPr lang="en" sz="2000">
                <a:solidFill>
                  <a:srgbClr val="FF0000"/>
                </a:solidFill>
              </a:rPr>
              <a:t>&lt;значение2&gt;</a:t>
            </a:r>
            <a:r>
              <a:rPr lang="en" sz="2000"/>
              <a:t> 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</a:t>
            </a:r>
            <a:r>
              <a:rPr lang="en" sz="2000">
                <a:solidFill>
                  <a:srgbClr val="0000FF"/>
                </a:solidFill>
              </a:rPr>
              <a:t>&lt;действие2&gt;</a:t>
            </a:r>
            <a:r>
              <a:rPr lang="en" sz="2000"/>
              <a:t>;;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esac</a:t>
            </a:r>
            <a:endParaRPr sz="2000"/>
          </a:p>
        </p:txBody>
      </p:sp>
      <p:sp>
        <p:nvSpPr>
          <p:cNvPr id="133" name="Google Shape;133;p23"/>
          <p:cNvSpPr txBox="1"/>
          <p:nvPr/>
        </p:nvSpPr>
        <p:spPr>
          <a:xfrm>
            <a:off x="311700" y="2866075"/>
            <a:ext cx="852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case </a:t>
            </a:r>
            <a:r>
              <a:rPr lang="en" sz="2000">
                <a:solidFill>
                  <a:srgbClr val="FF9900"/>
                </a:solidFill>
              </a:rPr>
              <a:t>$1</a:t>
            </a:r>
            <a:r>
              <a:rPr lang="en" sz="2000"/>
              <a:t> in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</a:t>
            </a:r>
            <a:r>
              <a:rPr lang="en" sz="2000">
                <a:solidFill>
                  <a:srgbClr val="FF0000"/>
                </a:solidFill>
              </a:rPr>
              <a:t>1</a:t>
            </a:r>
            <a:r>
              <a:rPr lang="en" sz="2000"/>
              <a:t> ) </a:t>
            </a:r>
            <a:r>
              <a:rPr lang="en" sz="2000">
                <a:solidFill>
                  <a:srgbClr val="0000FF"/>
                </a:solidFill>
              </a:rPr>
              <a:t>echo -n "uno"</a:t>
            </a:r>
            <a:r>
              <a:rPr lang="en" sz="2000"/>
              <a:t>;;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</a:t>
            </a:r>
            <a:r>
              <a:rPr lang="en" sz="2000">
                <a:solidFill>
                  <a:srgbClr val="FF0000"/>
                </a:solidFill>
              </a:rPr>
              <a:t>2</a:t>
            </a:r>
            <a:r>
              <a:rPr lang="en" sz="2000"/>
              <a:t> ) </a:t>
            </a:r>
            <a:r>
              <a:rPr lang="en" sz="2000">
                <a:solidFill>
                  <a:srgbClr val="0000FF"/>
                </a:solidFill>
              </a:rPr>
              <a:t>echo -n "duo"</a:t>
            </a:r>
            <a:r>
              <a:rPr lang="en" sz="2000"/>
              <a:t>;;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</a:t>
            </a:r>
            <a:r>
              <a:rPr lang="en" sz="2000">
                <a:solidFill>
                  <a:srgbClr val="FF0000"/>
                </a:solidFill>
              </a:rPr>
              <a:t>3</a:t>
            </a:r>
            <a:r>
              <a:rPr lang="en" sz="2000"/>
              <a:t> ) </a:t>
            </a:r>
            <a:r>
              <a:rPr lang="en" sz="2000">
                <a:solidFill>
                  <a:srgbClr val="0000FF"/>
                </a:solidFill>
              </a:rPr>
              <a:t>echo -n "tres"</a:t>
            </a:r>
            <a:r>
              <a:rPr lang="en" sz="2000"/>
              <a:t>;;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</a:t>
            </a:r>
            <a:r>
              <a:rPr lang="en" sz="2000">
                <a:solidFill>
                  <a:srgbClr val="FF0000"/>
                </a:solidFill>
              </a:rPr>
              <a:t>*</a:t>
            </a:r>
            <a:r>
              <a:rPr lang="en" sz="2000"/>
              <a:t>) </a:t>
            </a:r>
            <a:r>
              <a:rPr lang="en" sz="2000">
                <a:solidFill>
                  <a:srgbClr val="0000FF"/>
                </a:solidFill>
              </a:rPr>
              <a:t>echo -n "unknown number"</a:t>
            </a:r>
            <a:r>
              <a:rPr lang="en" sz="2000"/>
              <a:t>;;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esac</a:t>
            </a:r>
            <a:endParaRPr sz="2000"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4425" y="0"/>
            <a:ext cx="5429574" cy="305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Функции</a:t>
            </a:r>
            <a:endParaRPr/>
          </a:p>
        </p:txBody>
      </p:sp>
      <p:sp>
        <p:nvSpPr>
          <p:cNvPr id="140" name="Google Shape;140;p24"/>
          <p:cNvSpPr txBox="1"/>
          <p:nvPr/>
        </p:nvSpPr>
        <p:spPr>
          <a:xfrm>
            <a:off x="311700" y="572700"/>
            <a:ext cx="8520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factorial()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if </a:t>
            </a:r>
            <a:r>
              <a:rPr lang="en" sz="2000"/>
              <a:t>[</a:t>
            </a:r>
            <a:r>
              <a:rPr lang="en" sz="2000"/>
              <a:t> $1 = 0 </a:t>
            </a:r>
            <a:r>
              <a:rPr lang="en" sz="2000"/>
              <a:t>]</a:t>
            </a:r>
            <a:r>
              <a:rPr lang="en" sz="2000"/>
              <a:t>; then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echo 1;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else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echo $(( $1 * $( factorial $(( $1 - 1 )) ) 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fi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</p:txBody>
      </p:sp>
      <p:sp>
        <p:nvSpPr>
          <p:cNvPr id="141" name="Google Shape;141;p24"/>
          <p:cNvSpPr txBox="1"/>
          <p:nvPr/>
        </p:nvSpPr>
        <p:spPr>
          <a:xfrm>
            <a:off x="296700" y="3220200"/>
            <a:ext cx="5456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source factorial.sh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factorial 5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3162" y="0"/>
            <a:ext cx="378082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296700" y="4175150"/>
            <a:ext cx="5066400" cy="646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:(){ :|:&amp; };:</a:t>
            </a:r>
            <a:endParaRPr sz="3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Fork-бомба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560525"/>
            <a:ext cx="8520600" cy="6771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200">
                <a:latin typeface="Courier New"/>
                <a:ea typeface="Courier New"/>
                <a:cs typeface="Courier New"/>
                <a:sym typeface="Courier New"/>
              </a:rPr>
              <a:t>:(){ :|:&amp; };: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311700" y="1575125"/>
            <a:ext cx="5426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:()</a:t>
            </a:r>
            <a:r>
              <a:rPr lang="en" sz="2000">
                <a:solidFill>
                  <a:schemeClr val="dk1"/>
                </a:solidFill>
              </a:rPr>
              <a:t> – объявление функции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:|:&amp; }</a:t>
            </a:r>
            <a:r>
              <a:rPr lang="en" sz="2000">
                <a:solidFill>
                  <a:schemeClr val="dk1"/>
                </a:solidFill>
              </a:rPr>
              <a:t> – тело функции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●"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en" sz="2000">
                <a:solidFill>
                  <a:schemeClr val="dk1"/>
                </a:solidFill>
              </a:rPr>
              <a:t> – разделитель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2000">
                <a:solidFill>
                  <a:schemeClr val="dk1"/>
                </a:solidFill>
              </a:rPr>
              <a:t> – запуск программы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311700" y="4774200"/>
            <a:ext cx="279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ExplainShell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Обработка ошибок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572700"/>
            <a:ext cx="8520600" cy="18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touch newfile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cp newfil newfile2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 "Success"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3315950"/>
            <a:ext cx="8520600" cy="15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$ bash bad1.sh 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cp: cannot stat 'newfil': No such file or directory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Success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Обработка ошибок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572700"/>
            <a:ext cx="8520600" cy="21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 -e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touch newfile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cp newfil newfile2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 "Success"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3315950"/>
            <a:ext cx="8520600" cy="15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$ bash bad1.sh 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cp: cannot stat 'newfil': No such file or directory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Обработка ошибок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572700"/>
            <a:ext cx="8520600" cy="21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 -e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export PATH="venv/bin:$PTH"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3315950"/>
            <a:ext cx="8520600" cy="15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$ bash bad2.sh 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bad2.sh: line 4: ls: command not found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Обработка ошибок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572700"/>
            <a:ext cx="8520600" cy="21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 -eu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export PATH="venv/bin:$PTH"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311700" y="3315950"/>
            <a:ext cx="8520600" cy="15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$ bash bad2.sh 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bad2.sh: line 3: PTH: unbound variable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Обработка ошибок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572700"/>
            <a:ext cx="8520600" cy="21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 -eu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nonexistentprogram | echo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 "Success!"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311700" y="3315950"/>
            <a:ext cx="8520600" cy="15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$ bash bad3.sh 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bad3.sh: line 3: nonexistentprogram: command not found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Success!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Обработка ошибок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311700" y="572700"/>
            <a:ext cx="8520600" cy="21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 -euo pipefail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nonexistentprogram | echo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 "Success!"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3315950"/>
            <a:ext cx="8520600" cy="15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$ bash bad3.sh 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bad3.sh: line 3: nonexistentprogram: command not found</a:t>
            </a:r>
            <a:endParaRPr sz="20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311700" y="4774200"/>
            <a:ext cx="54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Пожалуйста, прекратите писать shell-скрипты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Линтеры</a:t>
            </a:r>
            <a:endParaRPr/>
          </a:p>
        </p:txBody>
      </p:sp>
      <p:sp>
        <p:nvSpPr>
          <p:cNvPr id="200" name="Google Shape;200;p32"/>
          <p:cNvSpPr txBox="1"/>
          <p:nvPr/>
        </p:nvSpPr>
        <p:spPr>
          <a:xfrm>
            <a:off x="311700" y="5727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Подводные камни bash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О неоправданно хорошей работе [ -z $var ]</a:t>
            </a:r>
            <a:endParaRPr sz="1800">
              <a:solidFill>
                <a:srgbClr val="2200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5"/>
              </a:rPr>
              <a:t>Как безопасно программировать на bash</a:t>
            </a:r>
            <a:endParaRPr sz="1800">
              <a:solidFill>
                <a:srgbClr val="2200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6"/>
              </a:rPr>
              <a:t>ShellCheck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 u="sng">
                <a:solidFill>
                  <a:schemeClr val="hlink"/>
                </a:solidFill>
                <a:hlinkClick r:id="rId7"/>
              </a:rPr>
              <a:t>Как писать bash-скрипты надежно и безопасно: минимальный шаблон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14414" y="2142600"/>
            <a:ext cx="5329585" cy="30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2"/>
          <p:cNvSpPr txBox="1"/>
          <p:nvPr/>
        </p:nvSpPr>
        <p:spPr>
          <a:xfrm>
            <a:off x="311700" y="4774200"/>
            <a:ext cx="545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9"/>
              </a:rPr>
              <a:t>Bash Pitfalls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Отладка</a:t>
            </a:r>
            <a:endParaRPr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311700" y="560525"/>
            <a:ext cx="8520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#!/bin/bash</a:t>
            </a:r>
            <a:endParaRPr sz="16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trap 'echo "# $BASH_COMMAND";read' DEBUG</a:t>
            </a:r>
            <a:endParaRPr sz="16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echo line1</a:t>
            </a:r>
            <a:endParaRPr sz="1600"/>
          </a:p>
        </p:txBody>
      </p:sp>
      <p:sp>
        <p:nvSpPr>
          <p:cNvPr id="209" name="Google Shape;209;p33"/>
          <p:cNvSpPr txBox="1"/>
          <p:nvPr/>
        </p:nvSpPr>
        <p:spPr>
          <a:xfrm>
            <a:off x="311700" y="4589400"/>
            <a:ext cx="883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Как отлаживать bash-script-ы по шагам или, возможно, самая короткая статья о программировании/отладке на Хабре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Как безопасно программировать в bash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users.sh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712925"/>
            <a:ext cx="8520600" cy="4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#!/bin/bash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input="user.txt"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start=100101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while IFS= read -r line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do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  pass=`echo $RANDOM | md5sum | head -c 8`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  echo "$line / $pass"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  useradd -m $line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  subuid=</a:t>
            </a:r>
            <a:r>
              <a:rPr lang="en" sz="1830">
                <a:solidFill>
                  <a:schemeClr val="dk1"/>
                </a:solidFill>
              </a:rPr>
              <a:t>$(($start + 100))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  usermod --add-subuids $start-$subuid --add-subgids $start-$subuid $line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  start=$(($start + 100))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  echo -e "$pass\n$pass" | passwd $line</a:t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8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830">
                <a:solidFill>
                  <a:schemeClr val="dk1"/>
                </a:solidFill>
              </a:rPr>
              <a:t>done &lt; "$input"</a:t>
            </a:r>
            <a:endParaRPr sz="183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SheBang #!</a:t>
            </a:r>
            <a:endParaRPr/>
          </a:p>
        </p:txBody>
      </p:sp>
      <p:sp>
        <p:nvSpPr>
          <p:cNvPr id="221" name="Google Shape;221;p35"/>
          <p:cNvSpPr txBox="1"/>
          <p:nvPr/>
        </p:nvSpPr>
        <p:spPr>
          <a:xfrm>
            <a:off x="311700" y="712175"/>
            <a:ext cx="4468800" cy="12930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#!/usr/local/Cellar/php@7.2/7.2.24/bin/php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&lt;?php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	phpinfo();</a:t>
            </a:r>
            <a:endParaRPr sz="1800"/>
          </a:p>
        </p:txBody>
      </p:sp>
      <p:sp>
        <p:nvSpPr>
          <p:cNvPr id="222" name="Google Shape;222;p35"/>
          <p:cNvSpPr txBox="1"/>
          <p:nvPr/>
        </p:nvSpPr>
        <p:spPr>
          <a:xfrm>
            <a:off x="6188500" y="712175"/>
            <a:ext cx="2463300" cy="12930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#!/usr/bin/env perl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use warnings;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print "Hello " x 5;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print "\\n";</a:t>
            </a:r>
            <a:endParaRPr sz="1800"/>
          </a:p>
        </p:txBody>
      </p:sp>
      <p:sp>
        <p:nvSpPr>
          <p:cNvPr id="223" name="Google Shape;223;p35"/>
          <p:cNvSpPr txBox="1"/>
          <p:nvPr/>
        </p:nvSpPr>
        <p:spPr>
          <a:xfrm>
            <a:off x="1021650" y="2124338"/>
            <a:ext cx="3048900" cy="18471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#!/usr/bin/</a:t>
            </a:r>
            <a:r>
              <a:rPr b="1" lang="en" sz="1800"/>
              <a:t>env </a:t>
            </a:r>
            <a:r>
              <a:rPr b="1" lang="en" sz="1800"/>
              <a:t>python3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import boto3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t = boto3.resource('s3')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for b in t.buckets.all():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     print(b.name)</a:t>
            </a:r>
            <a:endParaRPr b="1" sz="1800"/>
          </a:p>
        </p:txBody>
      </p:sp>
      <p:sp>
        <p:nvSpPr>
          <p:cNvPr id="224" name="Google Shape;224;p35"/>
          <p:cNvSpPr txBox="1"/>
          <p:nvPr/>
        </p:nvSpPr>
        <p:spPr>
          <a:xfrm>
            <a:off x="733050" y="4090600"/>
            <a:ext cx="7677900" cy="7389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env [OPTION]... [-] [NAME=VALUE]... [COMMAND [ARG]...]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Set each NAME to VALUE in the environment and run COMMAND.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311700" y="17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Makefile</a:t>
            </a:r>
            <a:endParaRPr sz="6400"/>
          </a:p>
        </p:txBody>
      </p:sp>
      <p:pic>
        <p:nvPicPr>
          <p:cNvPr id="230" name="Google Shape;2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437" y="859050"/>
            <a:ext cx="6953125" cy="41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311700" y="3362275"/>
            <a:ext cx="85206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D85C6"/>
                </a:solidFill>
              </a:rPr>
              <a:t>цель</a:t>
            </a:r>
            <a:r>
              <a:rPr lang="en"/>
              <a:t>: </a:t>
            </a:r>
            <a:r>
              <a:rPr lang="en">
                <a:solidFill>
                  <a:srgbClr val="E69138"/>
                </a:solidFill>
              </a:rPr>
              <a:t>зависимости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[tab]	</a:t>
            </a:r>
            <a:r>
              <a:rPr lang="en">
                <a:solidFill>
                  <a:srgbClr val="38761D"/>
                </a:solidFill>
              </a:rPr>
              <a:t>команда #1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[tab]	</a:t>
            </a:r>
            <a:r>
              <a:rPr lang="en">
                <a:solidFill>
                  <a:srgbClr val="38761D"/>
                </a:solidFill>
              </a:rPr>
              <a:t>команда #n</a:t>
            </a:r>
            <a:endParaRPr/>
          </a:p>
        </p:txBody>
      </p:sp>
      <p:sp>
        <p:nvSpPr>
          <p:cNvPr id="237" name="Google Shape;237;p37"/>
          <p:cNvSpPr txBox="1"/>
          <p:nvPr/>
        </p:nvSpPr>
        <p:spPr>
          <a:xfrm>
            <a:off x="250050" y="2700475"/>
            <a:ext cx="8643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{Из чего делаем? </a:t>
            </a:r>
            <a:r>
              <a:rPr lang="en" sz="1700">
                <a:solidFill>
                  <a:srgbClr val="E69138"/>
                </a:solidFill>
              </a:rPr>
              <a:t>зависимости</a:t>
            </a:r>
            <a:r>
              <a:rPr lang="en" sz="1700">
                <a:solidFill>
                  <a:schemeClr val="dk2"/>
                </a:solidFill>
              </a:rPr>
              <a:t>} ---&gt; [Как делаем? </a:t>
            </a:r>
            <a:r>
              <a:rPr lang="en" sz="1700">
                <a:solidFill>
                  <a:srgbClr val="38761D"/>
                </a:solidFill>
              </a:rPr>
              <a:t>команды</a:t>
            </a:r>
            <a:r>
              <a:rPr lang="en" sz="1700">
                <a:solidFill>
                  <a:schemeClr val="dk2"/>
                </a:solidFill>
              </a:rPr>
              <a:t>] ---&gt; {Что делаем? </a:t>
            </a:r>
            <a:r>
              <a:rPr lang="en" sz="1700">
                <a:solidFill>
                  <a:srgbClr val="3D85C6"/>
                </a:solidFill>
              </a:rPr>
              <a:t>цель</a:t>
            </a:r>
            <a:r>
              <a:rPr lang="en" sz="1700">
                <a:solidFill>
                  <a:schemeClr val="dk2"/>
                </a:solidFill>
              </a:rPr>
              <a:t>}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38" name="Google Shape;238;p37"/>
          <p:cNvSpPr txBox="1"/>
          <p:nvPr/>
        </p:nvSpPr>
        <p:spPr>
          <a:xfrm>
            <a:off x="311700" y="1017725"/>
            <a:ext cx="5809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3C78D8"/>
                </a:solidFill>
              </a:rPr>
              <a:t>hello</a:t>
            </a:r>
            <a:r>
              <a:rPr lang="en" sz="2800">
                <a:solidFill>
                  <a:schemeClr val="dk2"/>
                </a:solidFill>
              </a:rPr>
              <a:t>: </a:t>
            </a:r>
            <a:r>
              <a:rPr lang="en" sz="2800">
                <a:solidFill>
                  <a:srgbClr val="E69138"/>
                </a:solidFill>
              </a:rPr>
              <a:t>main.c</a:t>
            </a:r>
            <a:endParaRPr sz="2800">
              <a:solidFill>
                <a:srgbClr val="E6913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38761D"/>
                </a:solidFill>
              </a:rPr>
              <a:t>	gcc -o hello main.c</a:t>
            </a:r>
            <a:endParaRPr sz="28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311700" y="572700"/>
            <a:ext cx="8520600" cy="4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TARGET = hello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PREFIX = /usr/local/bin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.PHONY: all clean install uninstall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all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rgbClr val="E69138"/>
                </a:solidFill>
              </a:rPr>
              <a:t>$(TARGET)</a:t>
            </a:r>
            <a:endParaRPr>
              <a:solidFill>
                <a:srgbClr val="E691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clean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rm -rf $TARGET *.o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main.o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rgbClr val="E69138"/>
                </a:solidFill>
              </a:rPr>
              <a:t>main.c</a:t>
            </a:r>
            <a:endParaRPr>
              <a:solidFill>
                <a:srgbClr val="E691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gcc -c -o main.o main.c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hello.o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rgbClr val="E69138"/>
                </a:solidFill>
              </a:rPr>
              <a:t>hello.c</a:t>
            </a:r>
            <a:endParaRPr>
              <a:solidFill>
                <a:srgbClr val="E691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gcc -c -o hello.o hello.c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$(TARGET)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lang="en">
                <a:solidFill>
                  <a:srgbClr val="E69138"/>
                </a:solidFill>
              </a:rPr>
              <a:t>main.o hello.o</a:t>
            </a:r>
            <a:endParaRPr>
              <a:solidFill>
                <a:srgbClr val="E6913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gcc -o $TARGET main.o hello.o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install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install $(TARGET) $(PREFIX)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3C78D8"/>
                </a:solidFill>
              </a:rPr>
              <a:t>uninstall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			</a:t>
            </a:r>
            <a:r>
              <a:rPr lang="en">
                <a:solidFill>
                  <a:srgbClr val="38761D"/>
                </a:solidFill>
              </a:rPr>
              <a:t>rm -rf $(PREFIX)/$(TARGET)</a:t>
            </a:r>
            <a:endParaRPr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5" name="Google Shape;245;p38"/>
          <p:cNvSpPr/>
          <p:nvPr/>
        </p:nvSpPr>
        <p:spPr>
          <a:xfrm>
            <a:off x="481050" y="22311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8"/>
          <p:cNvSpPr/>
          <p:nvPr/>
        </p:nvSpPr>
        <p:spPr>
          <a:xfrm>
            <a:off x="481050" y="26121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8"/>
          <p:cNvSpPr/>
          <p:nvPr/>
        </p:nvSpPr>
        <p:spPr>
          <a:xfrm>
            <a:off x="481050" y="29169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8"/>
          <p:cNvSpPr/>
          <p:nvPr/>
        </p:nvSpPr>
        <p:spPr>
          <a:xfrm>
            <a:off x="481050" y="33741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8"/>
          <p:cNvSpPr/>
          <p:nvPr/>
        </p:nvSpPr>
        <p:spPr>
          <a:xfrm>
            <a:off x="481050" y="36789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8"/>
          <p:cNvSpPr/>
          <p:nvPr/>
        </p:nvSpPr>
        <p:spPr>
          <a:xfrm>
            <a:off x="481050" y="40599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8"/>
          <p:cNvSpPr/>
          <p:nvPr/>
        </p:nvSpPr>
        <p:spPr>
          <a:xfrm>
            <a:off x="481050" y="1850175"/>
            <a:ext cx="1221000" cy="10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8"/>
          <p:cNvSpPr/>
          <p:nvPr/>
        </p:nvSpPr>
        <p:spPr>
          <a:xfrm>
            <a:off x="6817900" y="684575"/>
            <a:ext cx="888000" cy="51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all</a:t>
            </a:r>
            <a:endParaRPr b="1" sz="2400"/>
          </a:p>
        </p:txBody>
      </p:sp>
      <p:sp>
        <p:nvSpPr>
          <p:cNvPr id="253" name="Google Shape;253;p38"/>
          <p:cNvSpPr/>
          <p:nvPr/>
        </p:nvSpPr>
        <p:spPr>
          <a:xfrm>
            <a:off x="6651400" y="1951875"/>
            <a:ext cx="1221000" cy="51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hello</a:t>
            </a:r>
            <a:endParaRPr b="1" sz="2400"/>
          </a:p>
        </p:txBody>
      </p:sp>
      <p:sp>
        <p:nvSpPr>
          <p:cNvPr id="254" name="Google Shape;254;p38"/>
          <p:cNvSpPr/>
          <p:nvPr/>
        </p:nvSpPr>
        <p:spPr>
          <a:xfrm>
            <a:off x="5754075" y="3219175"/>
            <a:ext cx="1323300" cy="51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main.o</a:t>
            </a:r>
            <a:endParaRPr b="1" sz="2400"/>
          </a:p>
        </p:txBody>
      </p:sp>
      <p:sp>
        <p:nvSpPr>
          <p:cNvPr id="255" name="Google Shape;255;p38"/>
          <p:cNvSpPr/>
          <p:nvPr/>
        </p:nvSpPr>
        <p:spPr>
          <a:xfrm>
            <a:off x="7465000" y="3219175"/>
            <a:ext cx="1323300" cy="51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hello.o</a:t>
            </a:r>
            <a:endParaRPr b="1" sz="2400"/>
          </a:p>
        </p:txBody>
      </p:sp>
      <p:cxnSp>
        <p:nvCxnSpPr>
          <p:cNvPr id="256" name="Google Shape;256;p38"/>
          <p:cNvCxnSpPr>
            <a:stCxn id="252" idx="2"/>
            <a:endCxn id="253" idx="0"/>
          </p:cNvCxnSpPr>
          <p:nvPr/>
        </p:nvCxnSpPr>
        <p:spPr>
          <a:xfrm>
            <a:off x="7261900" y="1202675"/>
            <a:ext cx="0" cy="74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38"/>
          <p:cNvCxnSpPr>
            <a:stCxn id="253" idx="2"/>
            <a:endCxn id="255" idx="0"/>
          </p:cNvCxnSpPr>
          <p:nvPr/>
        </p:nvCxnSpPr>
        <p:spPr>
          <a:xfrm flipH="1" rot="-5400000">
            <a:off x="7319800" y="2412075"/>
            <a:ext cx="749100" cy="8649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38"/>
          <p:cNvCxnSpPr>
            <a:stCxn id="253" idx="2"/>
            <a:endCxn id="254" idx="0"/>
          </p:cNvCxnSpPr>
          <p:nvPr/>
        </p:nvCxnSpPr>
        <p:spPr>
          <a:xfrm rot="5400000">
            <a:off x="6464200" y="2421375"/>
            <a:ext cx="749100" cy="846300"/>
          </a:xfrm>
          <a:prstGeom prst="curvedConnector3">
            <a:avLst>
              <a:gd fmla="val 50007" name="adj1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38"/>
          <p:cNvSpPr txBox="1"/>
          <p:nvPr/>
        </p:nvSpPr>
        <p:spPr>
          <a:xfrm>
            <a:off x="311700" y="4794600"/>
            <a:ext cx="54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Кунг-фу стиля Linux: великая сила make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Makefile</a:t>
            </a:r>
            <a:endParaRPr/>
          </a:p>
        </p:txBody>
      </p:sp>
      <p:sp>
        <p:nvSpPr>
          <p:cNvPr id="265" name="Google Shape;265;p39"/>
          <p:cNvSpPr txBox="1"/>
          <p:nvPr/>
        </p:nvSpPr>
        <p:spPr>
          <a:xfrm>
            <a:off x="311700" y="488525"/>
            <a:ext cx="85206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.PHONY: letsencrypt clearcache compilemessages migrate upgrade restart update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TAG ?= "docker-15e10a35"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image = "registry.gitlab.com/geo-games/geopuzzle:$(TAG)"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update: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      echo $(image)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docker pull $(image)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restart: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docker compose restart wsgi asgi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upgrade: update compilemessages migrate clearcache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migrate: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docker compose run wsgi ./manage.py migrate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compilemessages: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docker compose run wsgi ./manage.py compilemessages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clearcache: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docker compose run wsgi ./manage.py clearcache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letsencrypt: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docker compose run certbot renew --webroot --webroot-path /var/www/certbot/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rPr>
              <a:t>        docker compose restart nginx</a:t>
            </a:r>
            <a:endParaRPr sz="1100">
              <a:solidFill>
                <a:srgbClr val="3333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6" name="Google Shape;266;p39"/>
          <p:cNvSpPr txBox="1"/>
          <p:nvPr/>
        </p:nvSpPr>
        <p:spPr>
          <a:xfrm>
            <a:off x="311700" y="4774200"/>
            <a:ext cx="37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Taskfile</a:t>
            </a:r>
            <a:r>
              <a:rPr lang="en" sz="1200">
                <a:solidFill>
                  <a:schemeClr val="dk2"/>
                </a:solidFill>
              </a:rPr>
              <a:t> - альтернатива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