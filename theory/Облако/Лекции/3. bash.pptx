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habr.com/ru/company/ruvds/blog/528434/" TargetMode="External"/><Relationship Id="rId3" Type="http://schemas.openxmlformats.org/officeDocument/2006/relationships/hyperlink" Target="https://habr.com/ru/post/413117/" TargetMode="External"/><Relationship Id="rId4" Type="http://schemas.openxmlformats.org/officeDocument/2006/relationships/hyperlink" Target="https://habr.com/ru/post/553000/" TargetMode="Externa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://mywiki.wooledge.org/BashPitfalls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https://habr.com/ru/company/ruvds/blog/528434/</a:t>
            </a:r>
            <a:r>
              <a:rPr lang="en"/>
              <a:t> - makefile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https://habr.com/ru/post/413117/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https://habr.com/ru/post/553000/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https://habr.com/ru/company/ruvds/blog/671428/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Каждый сам себе сделает пользователя.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https://habr.com/ru/post/590021/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https://github.com/flant/pam_docker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https://habr.com/ru/post/666982/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https://explainshell.com/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https://habr.com/ru/company/otus/blog/657841/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https://habr.com/ru/articles/823298/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bab0e0b72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bab0e0b72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b8aa8757e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b8aa8757e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c941fea32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c941fea32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https://www.opennet.ru/docs/RUS/bash_scripting_guide/x4171.html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34ce6b2fd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34ce6b2fd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be5b669ffb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be5b669ffb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b8aa8757e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b8aa8757e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b8aa8757e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b8aa8757e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b8aa8757e0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b8aa8757e0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b8aa8757e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b8aa8757e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o="-vvvvvv";for i in 0 {2..7}; do c="aptitude ${o:0:$i} moo";echo "$ $c"; $c; done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b8aa8757e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b8aa8757e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b9d79dd76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b9d79dd76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113f5b4f03e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113f5b4f03e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http://mywiki.wooledge.org/BashPitfalls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примеры скриптов с работы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b9d79dd76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b9d79dd76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2a078edf99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2a078edf99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2a078edf99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2a078edf99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2a078edf99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2a078edf99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2a078edf99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2a078edf99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habr.com/ru/company/ruvds/blog/336764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hyperlink" Target="https://github.com/coreutils/coreutils/blob/master/src/lbracket.c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habr.com/ru/company/mailru/blog/311762/" TargetMode="External"/><Relationship Id="rId4" Type="http://schemas.openxmlformats.org/officeDocument/2006/relationships/hyperlink" Target="https://habr.com/ru/company/ruvds/blog/556750/" TargetMode="External"/><Relationship Id="rId5" Type="http://schemas.openxmlformats.org/officeDocument/2006/relationships/hyperlink" Target="https://habr.com/ru/post/413117/" TargetMode="External"/><Relationship Id="rId6" Type="http://schemas.openxmlformats.org/officeDocument/2006/relationships/hyperlink" Target="https://www.shellcheck.net/" TargetMode="External"/><Relationship Id="rId7" Type="http://schemas.openxmlformats.org/officeDocument/2006/relationships/image" Target="../media/image8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hyperlink" Target="https://taskfile.dev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bash и make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https://habr.com/ru/company/ruvds/blog/336764/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Ввод и вывод текста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311700" y="572700"/>
            <a:ext cx="38388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/>
              <a:t>Вывод текста:</a:t>
            </a:r>
            <a:endParaRPr b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 our comment is here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echo "The current directory is:"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pwd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echo "The user logged in is:"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whoami</a:t>
            </a:r>
            <a:endParaRPr sz="2000"/>
          </a:p>
        </p:txBody>
      </p:sp>
      <p:sp>
        <p:nvSpPr>
          <p:cNvPr id="62" name="Google Shape;62;p14"/>
          <p:cNvSpPr txBox="1"/>
          <p:nvPr/>
        </p:nvSpPr>
        <p:spPr>
          <a:xfrm>
            <a:off x="4688700" y="572704"/>
            <a:ext cx="41436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/>
              <a:t>Ввод данных:</a:t>
            </a:r>
            <a:endParaRPr b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echo "Hello, who are you?"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read $name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e</a:t>
            </a:r>
            <a:r>
              <a:rPr lang="en" sz="2000"/>
              <a:t>cho "Hello, $name!"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number=$RANDOM</a:t>
            </a:r>
            <a:endParaRPr sz="2000"/>
          </a:p>
        </p:txBody>
      </p:sp>
      <p:sp>
        <p:nvSpPr>
          <p:cNvPr id="63" name="Google Shape;63;p14"/>
          <p:cNvSpPr txBox="1"/>
          <p:nvPr/>
        </p:nvSpPr>
        <p:spPr>
          <a:xfrm>
            <a:off x="311700" y="3683175"/>
            <a:ext cx="25539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Строки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-"/>
            </a:pPr>
            <a:r>
              <a:rPr lang="en">
                <a:solidFill>
                  <a:srgbClr val="000000"/>
                </a:solidFill>
              </a:rPr>
              <a:t>Одинарные кавычки выведут как есть: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$ echo ‘$PATH’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$PATH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-"/>
            </a:pPr>
            <a:r>
              <a:rPr lang="en">
                <a:solidFill>
                  <a:srgbClr val="000000"/>
                </a:solidFill>
              </a:rPr>
              <a:t>Двойные кавычки подставят значение: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$ echo “$PATH”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/usr/local/sbin:/usr/local/bin:/usr/sbin:/usr/bin:/sbin:/bin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-"/>
            </a:pPr>
            <a:r>
              <a:rPr lang="en">
                <a:solidFill>
                  <a:srgbClr val="000000"/>
                </a:solidFill>
              </a:rPr>
              <a:t>Экранирование $: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$ echo “\$PATH”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$PATH</a:t>
            </a:r>
            <a:endParaRPr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-"/>
            </a:pPr>
            <a:r>
              <a:rPr lang="en">
                <a:solidFill>
                  <a:srgbClr val="000000"/>
                </a:solidFill>
              </a:rPr>
              <a:t>Подстановка команд (`pwd` или $(pwd)):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mydir=$(pwd)</a:t>
            </a:r>
            <a:endParaRPr>
              <a:solidFill>
                <a:srgbClr val="000000"/>
              </a:solidFill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echo $mydir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String Manipulation</a:t>
            </a:r>
            <a:endParaRPr/>
          </a:p>
        </p:txBody>
      </p:sp>
      <p:sp>
        <p:nvSpPr>
          <p:cNvPr id="75" name="Google Shape;75;p16"/>
          <p:cNvSpPr txBox="1"/>
          <p:nvPr/>
        </p:nvSpPr>
        <p:spPr>
          <a:xfrm>
            <a:off x="311700" y="877500"/>
            <a:ext cx="85206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д</a:t>
            </a:r>
            <a:r>
              <a:rPr lang="en" sz="2400"/>
              <a:t>лина </a:t>
            </a:r>
            <a:r>
              <a:rPr lang="en" sz="2400">
                <a:solidFill>
                  <a:srgbClr val="0B5394"/>
                </a:solidFill>
              </a:rPr>
              <a:t>${#string}</a:t>
            </a:r>
            <a:endParaRPr sz="2400">
              <a:solidFill>
                <a:srgbClr val="0B5394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подстрока </a:t>
            </a:r>
            <a:r>
              <a:rPr lang="en" sz="2400">
                <a:solidFill>
                  <a:srgbClr val="0B5394"/>
                </a:solidFill>
              </a:rPr>
              <a:t>${string:position:length}</a:t>
            </a:r>
            <a:endParaRPr sz="2400">
              <a:solidFill>
                <a:srgbClr val="0B5394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удалить первое вхождение </a:t>
            </a:r>
            <a:r>
              <a:rPr lang="en" sz="2400">
                <a:solidFill>
                  <a:srgbClr val="0B5394"/>
                </a:solidFill>
              </a:rPr>
              <a:t>{string#substring}</a:t>
            </a:r>
            <a:endParaRPr sz="2400">
              <a:solidFill>
                <a:srgbClr val="0B5394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удалить последнее вхождение </a:t>
            </a:r>
            <a:r>
              <a:rPr lang="en" sz="2400">
                <a:solidFill>
                  <a:srgbClr val="0B5394"/>
                </a:solidFill>
              </a:rPr>
              <a:t>{string##substring}</a:t>
            </a:r>
            <a:endParaRPr sz="2400">
              <a:solidFill>
                <a:srgbClr val="0B5394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заменить вхождение </a:t>
            </a:r>
            <a:r>
              <a:rPr lang="en" sz="2400">
                <a:solidFill>
                  <a:srgbClr val="0B5394"/>
                </a:solidFill>
              </a:rPr>
              <a:t>${string/pattern/replacement}</a:t>
            </a:r>
            <a:endParaRPr sz="2400">
              <a:solidFill>
                <a:srgbClr val="0B5394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Математические операции</a:t>
            </a:r>
            <a:endParaRPr/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var1=$(( 5 + 5 ))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echo $var1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var2=$(( $var1 * 2 ))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echo $var2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82" name="Google Shape;8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98075" y="572700"/>
            <a:ext cx="2934225" cy="44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 txBox="1"/>
          <p:nvPr/>
        </p:nvSpPr>
        <p:spPr>
          <a:xfrm>
            <a:off x="343600" y="4041800"/>
            <a:ext cx="4293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https://habr.com/ru/articles/868766/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Параметры</a:t>
            </a:r>
            <a:endParaRPr/>
          </a:p>
        </p:txBody>
      </p:sp>
      <p:sp>
        <p:nvSpPr>
          <p:cNvPr id="89" name="Google Shape;89;p18"/>
          <p:cNvSpPr txBox="1"/>
          <p:nvPr>
            <p:ph idx="1" type="body"/>
          </p:nvPr>
        </p:nvSpPr>
        <p:spPr>
          <a:xfrm>
            <a:off x="311700" y="801300"/>
            <a:ext cx="8520600" cy="187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$ bash a.sh first second last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$0 - a.sh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$1 - first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$2 - second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$3 - last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...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0" name="Google Shape;90;p18"/>
          <p:cNvSpPr txBox="1"/>
          <p:nvPr/>
        </p:nvSpPr>
        <p:spPr>
          <a:xfrm>
            <a:off x="235500" y="2777550"/>
            <a:ext cx="85206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$! - PID последней задачи в фоне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$@ - "$1" "$2" "$3" …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$* - "$1 $2 $3 …"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$# – количество переданных параметров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$$ – PID(идентификатор) процесса, выполняющего скрипт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$? – код завершения предыдущей команды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$&amp;- ???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- then - else - fi</a:t>
            </a:r>
            <a:endParaRPr/>
          </a:p>
        </p:txBody>
      </p:sp>
      <p:sp>
        <p:nvSpPr>
          <p:cNvPr id="96" name="Google Shape;96;p19"/>
          <p:cNvSpPr txBox="1"/>
          <p:nvPr/>
        </p:nvSpPr>
        <p:spPr>
          <a:xfrm>
            <a:off x="311700" y="572700"/>
            <a:ext cx="85206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if </a:t>
            </a:r>
            <a:r>
              <a:rPr lang="en" sz="1800">
                <a:solidFill>
                  <a:srgbClr val="FF9900"/>
                </a:solidFill>
              </a:rPr>
              <a:t>&lt;условие 1&gt;; </a:t>
            </a:r>
            <a:r>
              <a:rPr lang="en" sz="1800">
                <a:solidFill>
                  <a:srgbClr val="FF9900"/>
                </a:solidFill>
              </a:rPr>
              <a:t>&lt;условие 2&gt;</a:t>
            </a:r>
            <a:r>
              <a:rPr lang="en" sz="1800"/>
              <a:t>; </a:t>
            </a:r>
            <a:r>
              <a:rPr lang="en" sz="1800"/>
              <a:t>then 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</a:t>
            </a:r>
            <a:r>
              <a:rPr lang="en" sz="1800">
                <a:solidFill>
                  <a:srgbClr val="0000FF"/>
                </a:solidFill>
              </a:rPr>
              <a:t>&lt;действия 1&gt;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elif </a:t>
            </a:r>
            <a:r>
              <a:rPr lang="en" sz="1800">
                <a:solidFill>
                  <a:srgbClr val="FF9900"/>
                </a:solidFill>
              </a:rPr>
              <a:t>&lt;условия 2&gt;</a:t>
            </a:r>
            <a:r>
              <a:rPr lang="en" sz="1800"/>
              <a:t>; </a:t>
            </a:r>
            <a:r>
              <a:rPr lang="en" sz="1800"/>
              <a:t>then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</a:t>
            </a:r>
            <a:r>
              <a:rPr lang="en" sz="1800">
                <a:solidFill>
                  <a:srgbClr val="0000FF"/>
                </a:solidFill>
              </a:rPr>
              <a:t>&lt;действия 2&gt;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else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</a:t>
            </a:r>
            <a:r>
              <a:rPr lang="en" sz="1800">
                <a:solidFill>
                  <a:srgbClr val="0000FF"/>
                </a:solidFill>
              </a:rPr>
              <a:t>&lt;действия 3&gt;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fi</a:t>
            </a:r>
            <a:endParaRPr sz="1800"/>
          </a:p>
        </p:txBody>
      </p:sp>
      <p:sp>
        <p:nvSpPr>
          <p:cNvPr id="97" name="Google Shape;97;p19"/>
          <p:cNvSpPr txBox="1"/>
          <p:nvPr/>
        </p:nvSpPr>
        <p:spPr>
          <a:xfrm>
            <a:off x="311700" y="3001625"/>
            <a:ext cx="8520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if </a:t>
            </a:r>
            <a:r>
              <a:rPr lang="en" sz="1800">
                <a:solidFill>
                  <a:srgbClr val="FF9900"/>
                </a:solidFill>
              </a:rPr>
              <a:t>[ -f /etc/passwd ]</a:t>
            </a:r>
            <a:endParaRPr sz="1800">
              <a:solidFill>
                <a:srgbClr val="FF99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then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</a:t>
            </a:r>
            <a:r>
              <a:rPr lang="en" sz="1800">
                <a:solidFill>
                  <a:srgbClr val="0000FF"/>
                </a:solidFill>
              </a:rPr>
              <a:t>echo "/etc/passwd – обычный файл"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else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</a:t>
            </a:r>
            <a:r>
              <a:rPr lang="en" sz="1800">
                <a:solidFill>
                  <a:srgbClr val="0000FF"/>
                </a:solidFill>
              </a:rPr>
              <a:t>echo "/etc/passwd – не обычный файл"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fi</a:t>
            </a:r>
            <a:endParaRPr sz="1800"/>
          </a:p>
        </p:txBody>
      </p:sp>
      <p:pic>
        <p:nvPicPr>
          <p:cNvPr id="98" name="Google Shape;9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06650" y="572700"/>
            <a:ext cx="3025650" cy="277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Проверки</a:t>
            </a:r>
            <a:endParaRPr/>
          </a:p>
        </p:txBody>
      </p:sp>
      <p:sp>
        <p:nvSpPr>
          <p:cNvPr id="104" name="Google Shape;104;p20"/>
          <p:cNvSpPr txBox="1"/>
          <p:nvPr/>
        </p:nvSpPr>
        <p:spPr>
          <a:xfrm>
            <a:off x="311700" y="572700"/>
            <a:ext cx="28908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Файлы: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-d - это каталог?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-f - это файл?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-r - доступ на чтение?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-s - файл не пуст?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-x - файл исполняемый? </a:t>
            </a:r>
            <a:endParaRPr sz="1800"/>
          </a:p>
        </p:txBody>
      </p:sp>
      <p:sp>
        <p:nvSpPr>
          <p:cNvPr id="105" name="Google Shape;105;p20"/>
          <p:cNvSpPr txBox="1"/>
          <p:nvPr/>
        </p:nvSpPr>
        <p:spPr>
          <a:xfrm>
            <a:off x="3512700" y="572700"/>
            <a:ext cx="2504700" cy="18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Числа</a:t>
            </a:r>
            <a:r>
              <a:rPr lang="en" sz="1800"/>
              <a:t>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-eq - equal?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-ne - not equal?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-gt - greater than?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-lt - less than?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-ge - greater or equal?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-le - less or equal?</a:t>
            </a:r>
            <a:endParaRPr sz="1800"/>
          </a:p>
        </p:txBody>
      </p:sp>
      <p:sp>
        <p:nvSpPr>
          <p:cNvPr id="106" name="Google Shape;106;p20"/>
          <p:cNvSpPr txBox="1"/>
          <p:nvPr/>
        </p:nvSpPr>
        <p:spPr>
          <a:xfrm>
            <a:off x="6327600" y="572700"/>
            <a:ext cx="25047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Строки: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-z - строка пуста?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-n -строка не пуста?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= - строки равны?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!= - строки не равны?</a:t>
            </a:r>
            <a:endParaRPr sz="1800"/>
          </a:p>
        </p:txBody>
      </p:sp>
      <p:sp>
        <p:nvSpPr>
          <p:cNvPr id="107" name="Google Shape;107;p20"/>
          <p:cNvSpPr txBox="1"/>
          <p:nvPr/>
        </p:nvSpPr>
        <p:spPr>
          <a:xfrm>
            <a:off x="311700" y="2921575"/>
            <a:ext cx="56343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[ -f filename.txt ] - в квадратных скобках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[ “$a”=”$b” ] - присвоение, а не сравнение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>
                <a:solidFill>
                  <a:schemeClr val="dk1"/>
                </a:solidFill>
              </a:rPr>
              <a:t>[</a:t>
            </a:r>
            <a:r>
              <a:rPr lang="en" sz="2000">
                <a:solidFill>
                  <a:srgbClr val="E69138"/>
                </a:solidFill>
              </a:rPr>
              <a:t>[ $a == z* ]</a:t>
            </a:r>
            <a:r>
              <a:rPr lang="en" sz="2000"/>
              <a:t>]</a:t>
            </a:r>
            <a:r>
              <a:rPr lang="en" sz="2000"/>
              <a:t> - сравнение на регексп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[[ “$a” &gt; “$b” ]] равносильно [ “$a” \&gt; “$b” ]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lang="en" sz="2000"/>
              <a:t>[ “$number” -gt “23” ] - числа в кавычках</a:t>
            </a:r>
            <a:endParaRPr sz="2000"/>
          </a:p>
        </p:txBody>
      </p:sp>
      <p:pic>
        <p:nvPicPr>
          <p:cNvPr id="108" name="Google Shape;10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27600" y="2488425"/>
            <a:ext cx="2504699" cy="2504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/usr/bin/[</a:t>
            </a:r>
            <a:endParaRPr/>
          </a:p>
        </p:txBody>
      </p:sp>
      <p:pic>
        <p:nvPicPr>
          <p:cNvPr id="114" name="Google Shape;11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725100"/>
            <a:ext cx="8839198" cy="2021217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1"/>
          <p:cNvSpPr txBox="1"/>
          <p:nvPr/>
        </p:nvSpPr>
        <p:spPr>
          <a:xfrm>
            <a:off x="1996650" y="4229575"/>
            <a:ext cx="5150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https://github.com/coreutils/coreutils/blob/master/src/lbracket.c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Циклы</a:t>
            </a:r>
            <a:endParaRPr/>
          </a:p>
        </p:txBody>
      </p:sp>
      <p:sp>
        <p:nvSpPr>
          <p:cNvPr id="121" name="Google Shape;121;p22"/>
          <p:cNvSpPr txBox="1"/>
          <p:nvPr/>
        </p:nvSpPr>
        <p:spPr>
          <a:xfrm>
            <a:off x="311700" y="572700"/>
            <a:ext cx="42690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for </a:t>
            </a:r>
            <a:r>
              <a:rPr lang="en" sz="1800">
                <a:solidFill>
                  <a:srgbClr val="FF9900"/>
                </a:solidFill>
              </a:rPr>
              <a:t>&lt;ЭЛЕМЕНТ&gt; in $&lt;СПИСОК&gt;</a:t>
            </a:r>
            <a:r>
              <a:rPr lang="en" sz="1800">
                <a:solidFill>
                  <a:schemeClr val="dk1"/>
                </a:solidFill>
              </a:rPr>
              <a:t> 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do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    </a:t>
            </a:r>
            <a:r>
              <a:rPr lang="en" sz="1800">
                <a:solidFill>
                  <a:srgbClr val="0000FF"/>
                </a:solidFill>
              </a:rPr>
              <a:t>&lt;действия&gt;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done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22" name="Google Shape;122;p22"/>
          <p:cNvSpPr txBox="1"/>
          <p:nvPr/>
        </p:nvSpPr>
        <p:spPr>
          <a:xfrm>
            <a:off x="311700" y="2243700"/>
            <a:ext cx="65997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LIST=$(ls -a $1)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for </a:t>
            </a:r>
            <a:r>
              <a:rPr lang="en" sz="1800">
                <a:solidFill>
                  <a:srgbClr val="FF9900"/>
                </a:solidFill>
              </a:rPr>
              <a:t>ITEM in $LIST</a:t>
            </a:r>
            <a:endParaRPr sz="1800">
              <a:solidFill>
                <a:srgbClr val="FF99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do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rgbClr val="0000FF"/>
                </a:solidFill>
              </a:rPr>
              <a:t>    </a:t>
            </a:r>
            <a:r>
              <a:rPr lang="en" sz="1800">
                <a:solidFill>
                  <a:srgbClr val="0000FF"/>
                </a:solidFill>
              </a:rPr>
              <a:t>if [ -d $1/$ITEM ]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rgbClr val="0000FF"/>
                </a:solidFill>
              </a:rPr>
              <a:t>    then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rgbClr val="0000FF"/>
                </a:solidFill>
              </a:rPr>
              <a:t>        echo "$ITEM"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rgbClr val="0000FF"/>
                </a:solidFill>
              </a:rPr>
              <a:t>    fi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done</a:t>
            </a:r>
            <a:endParaRPr sz="1800"/>
          </a:p>
        </p:txBody>
      </p:sp>
      <p:sp>
        <p:nvSpPr>
          <p:cNvPr id="123" name="Google Shape;123;p22"/>
          <p:cNvSpPr txBox="1"/>
          <p:nvPr/>
        </p:nvSpPr>
        <p:spPr>
          <a:xfrm>
            <a:off x="5620500" y="483725"/>
            <a:ext cx="3211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while </a:t>
            </a:r>
            <a:r>
              <a:rPr lang="en" sz="1800">
                <a:solidFill>
                  <a:srgbClr val="FF9900"/>
                </a:solidFill>
              </a:rPr>
              <a:t>&lt;условие&gt;</a:t>
            </a:r>
            <a:endParaRPr sz="1800">
              <a:solidFill>
                <a:srgbClr val="FF99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do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</a:t>
            </a:r>
            <a:r>
              <a:rPr lang="en" sz="1800">
                <a:solidFill>
                  <a:srgbClr val="0000FF"/>
                </a:solidFill>
              </a:rPr>
              <a:t>&lt;действия&gt;</a:t>
            </a:r>
            <a:endParaRPr sz="1800">
              <a:solidFill>
                <a:srgbClr val="0000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done</a:t>
            </a:r>
            <a:endParaRPr sz="1800"/>
          </a:p>
        </p:txBody>
      </p:sp>
      <p:pic>
        <p:nvPicPr>
          <p:cNvPr id="124" name="Google Shape;12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03250" y="3797850"/>
            <a:ext cx="3829050" cy="112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3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</a:t>
            </a:r>
            <a:endParaRPr/>
          </a:p>
        </p:txBody>
      </p:sp>
      <p:sp>
        <p:nvSpPr>
          <p:cNvPr id="130" name="Google Shape;130;p23"/>
          <p:cNvSpPr txBox="1"/>
          <p:nvPr/>
        </p:nvSpPr>
        <p:spPr>
          <a:xfrm>
            <a:off x="311700" y="572700"/>
            <a:ext cx="8520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case </a:t>
            </a:r>
            <a:r>
              <a:rPr lang="en" sz="1800">
                <a:solidFill>
                  <a:srgbClr val="FF9900"/>
                </a:solidFill>
              </a:rPr>
              <a:t>&lt;переменная&gt;</a:t>
            </a:r>
            <a:r>
              <a:rPr lang="en" sz="1800"/>
              <a:t> in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 </a:t>
            </a:r>
            <a:r>
              <a:rPr lang="en" sz="1800">
                <a:solidFill>
                  <a:srgbClr val="FF0000"/>
                </a:solidFill>
              </a:rPr>
              <a:t>&lt;значение1&gt;</a:t>
            </a:r>
            <a:r>
              <a:rPr lang="en" sz="1800"/>
              <a:t> 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 </a:t>
            </a:r>
            <a:r>
              <a:rPr lang="en" sz="1800">
                <a:solidFill>
                  <a:srgbClr val="0000FF"/>
                </a:solidFill>
              </a:rPr>
              <a:t>&lt;действие1&gt;</a:t>
            </a:r>
            <a:r>
              <a:rPr lang="en" sz="1800"/>
              <a:t>;;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 </a:t>
            </a:r>
            <a:r>
              <a:rPr lang="en" sz="1800">
                <a:solidFill>
                  <a:srgbClr val="FF0000"/>
                </a:solidFill>
              </a:rPr>
              <a:t>&lt;значение2&gt;</a:t>
            </a:r>
            <a:r>
              <a:rPr lang="en" sz="1800"/>
              <a:t> 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 </a:t>
            </a:r>
            <a:r>
              <a:rPr lang="en" sz="1800">
                <a:solidFill>
                  <a:srgbClr val="0000FF"/>
                </a:solidFill>
              </a:rPr>
              <a:t>&lt;действие2&gt;</a:t>
            </a:r>
            <a:r>
              <a:rPr lang="en" sz="1800"/>
              <a:t>;;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esac</a:t>
            </a:r>
            <a:endParaRPr sz="1800"/>
          </a:p>
        </p:txBody>
      </p:sp>
      <p:sp>
        <p:nvSpPr>
          <p:cNvPr id="131" name="Google Shape;131;p23"/>
          <p:cNvSpPr txBox="1"/>
          <p:nvPr/>
        </p:nvSpPr>
        <p:spPr>
          <a:xfrm>
            <a:off x="311700" y="2776300"/>
            <a:ext cx="85206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case </a:t>
            </a:r>
            <a:r>
              <a:rPr lang="en" sz="1800">
                <a:solidFill>
                  <a:srgbClr val="FF9900"/>
                </a:solidFill>
              </a:rPr>
              <a:t>$1</a:t>
            </a:r>
            <a:r>
              <a:rPr lang="en" sz="1800"/>
              <a:t> in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</a:t>
            </a:r>
            <a:r>
              <a:rPr lang="en" sz="1800">
                <a:solidFill>
                  <a:srgbClr val="FF0000"/>
                </a:solidFill>
              </a:rPr>
              <a:t>1</a:t>
            </a:r>
            <a:r>
              <a:rPr lang="en" sz="1800"/>
              <a:t> ) </a:t>
            </a:r>
            <a:r>
              <a:rPr lang="en" sz="1800">
                <a:solidFill>
                  <a:srgbClr val="0000FF"/>
                </a:solidFill>
              </a:rPr>
              <a:t>echo -n "uno"</a:t>
            </a:r>
            <a:r>
              <a:rPr lang="en" sz="1800"/>
              <a:t>;;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</a:t>
            </a:r>
            <a:r>
              <a:rPr lang="en" sz="1800">
                <a:solidFill>
                  <a:srgbClr val="FF0000"/>
                </a:solidFill>
              </a:rPr>
              <a:t>2</a:t>
            </a:r>
            <a:r>
              <a:rPr lang="en" sz="1800"/>
              <a:t> ) </a:t>
            </a:r>
            <a:r>
              <a:rPr lang="en" sz="1800">
                <a:solidFill>
                  <a:srgbClr val="0000FF"/>
                </a:solidFill>
              </a:rPr>
              <a:t>echo -n "duo"</a:t>
            </a:r>
            <a:r>
              <a:rPr lang="en" sz="1800"/>
              <a:t>;;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</a:t>
            </a:r>
            <a:r>
              <a:rPr lang="en" sz="1800">
                <a:solidFill>
                  <a:srgbClr val="FF0000"/>
                </a:solidFill>
              </a:rPr>
              <a:t>3</a:t>
            </a:r>
            <a:r>
              <a:rPr lang="en" sz="1800"/>
              <a:t> ) </a:t>
            </a:r>
            <a:r>
              <a:rPr lang="en" sz="1800">
                <a:solidFill>
                  <a:srgbClr val="0000FF"/>
                </a:solidFill>
              </a:rPr>
              <a:t>echo -n "tres"</a:t>
            </a:r>
            <a:r>
              <a:rPr lang="en" sz="1800"/>
              <a:t>;;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</a:t>
            </a:r>
            <a:r>
              <a:rPr lang="en" sz="1800">
                <a:solidFill>
                  <a:srgbClr val="FF0000"/>
                </a:solidFill>
              </a:rPr>
              <a:t>*</a:t>
            </a:r>
            <a:r>
              <a:rPr lang="en" sz="1800"/>
              <a:t>) </a:t>
            </a:r>
            <a:r>
              <a:rPr lang="en" sz="1800">
                <a:solidFill>
                  <a:srgbClr val="0000FF"/>
                </a:solidFill>
              </a:rPr>
              <a:t>echo -n "unknown number"</a:t>
            </a:r>
            <a:r>
              <a:rPr lang="en" sz="1800"/>
              <a:t>;;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esac</a:t>
            </a:r>
            <a:endParaRPr sz="1800"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200" y="572700"/>
            <a:ext cx="4077101" cy="229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Функции</a:t>
            </a:r>
            <a:endParaRPr/>
          </a:p>
        </p:txBody>
      </p:sp>
      <p:sp>
        <p:nvSpPr>
          <p:cNvPr id="138" name="Google Shape;138;p24"/>
          <p:cNvSpPr txBox="1"/>
          <p:nvPr/>
        </p:nvSpPr>
        <p:spPr>
          <a:xfrm>
            <a:off x="311700" y="633050"/>
            <a:ext cx="41436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factorial()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{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if </a:t>
            </a:r>
            <a:r>
              <a:rPr lang="en" sz="1800"/>
              <a:t>[</a:t>
            </a:r>
            <a:r>
              <a:rPr lang="en" sz="1800"/>
              <a:t> $1 = 0 </a:t>
            </a:r>
            <a:r>
              <a:rPr lang="en" sz="1800"/>
              <a:t>]</a:t>
            </a:r>
            <a:r>
              <a:rPr lang="en" sz="1800"/>
              <a:t>; then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echo 1;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else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echo $(( $1 * $( fact $(( $1 - 1 )) ) ));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fi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}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Линтеры</a:t>
            </a:r>
            <a:endParaRPr/>
          </a:p>
        </p:txBody>
      </p:sp>
      <p:sp>
        <p:nvSpPr>
          <p:cNvPr id="144" name="Google Shape;144;p25"/>
          <p:cNvSpPr txBox="1"/>
          <p:nvPr/>
        </p:nvSpPr>
        <p:spPr>
          <a:xfrm>
            <a:off x="311700" y="572700"/>
            <a:ext cx="8520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Подводные камни bash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>
                <a:solidFill>
                  <a:schemeClr val="hlink"/>
                </a:solidFill>
                <a:hlinkClick r:id="rId4"/>
              </a:rPr>
              <a:t>О неоправданно хорошей работе [ -z $var ]</a:t>
            </a:r>
            <a:endParaRPr sz="1800">
              <a:solidFill>
                <a:srgbClr val="2200CC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>
                <a:solidFill>
                  <a:schemeClr val="hlink"/>
                </a:solidFill>
                <a:hlinkClick r:id="rId5"/>
              </a:rPr>
              <a:t>Как безопасно программировать на bash</a:t>
            </a:r>
            <a:endParaRPr sz="1800">
              <a:solidFill>
                <a:srgbClr val="2200CC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u="sng">
                <a:solidFill>
                  <a:schemeClr val="hlink"/>
                </a:solidFill>
                <a:hlinkClick r:id="rId6"/>
              </a:rPr>
              <a:t>ShellCheck</a:t>
            </a:r>
            <a:endParaRPr sz="1800">
              <a:solidFill>
                <a:srgbClr val="2200CC"/>
              </a:solidFill>
            </a:endParaRPr>
          </a:p>
        </p:txBody>
      </p:sp>
      <p:pic>
        <p:nvPicPr>
          <p:cNvPr id="145" name="Google Shape;145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073463" y="1966375"/>
            <a:ext cx="4997086" cy="281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6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SheBang #!</a:t>
            </a:r>
            <a:endParaRPr/>
          </a:p>
        </p:txBody>
      </p:sp>
      <p:sp>
        <p:nvSpPr>
          <p:cNvPr id="151" name="Google Shape;151;p26"/>
          <p:cNvSpPr txBox="1"/>
          <p:nvPr/>
        </p:nvSpPr>
        <p:spPr>
          <a:xfrm>
            <a:off x="311700" y="712175"/>
            <a:ext cx="4468800" cy="12930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#!/usr/local/Cellar/php@7.2/7.2.24/bin/php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&lt;?php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	phpinfo();</a:t>
            </a:r>
            <a:endParaRPr sz="1800"/>
          </a:p>
        </p:txBody>
      </p:sp>
      <p:sp>
        <p:nvSpPr>
          <p:cNvPr id="152" name="Google Shape;152;p26"/>
          <p:cNvSpPr txBox="1"/>
          <p:nvPr/>
        </p:nvSpPr>
        <p:spPr>
          <a:xfrm>
            <a:off x="6188500" y="712175"/>
            <a:ext cx="2463300" cy="12930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#!/usr/bin/env perl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use warnings;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print "Hello " x 5;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print "\\n";</a:t>
            </a:r>
            <a:endParaRPr sz="1800"/>
          </a:p>
        </p:txBody>
      </p:sp>
      <p:sp>
        <p:nvSpPr>
          <p:cNvPr id="153" name="Google Shape;153;p26"/>
          <p:cNvSpPr txBox="1"/>
          <p:nvPr/>
        </p:nvSpPr>
        <p:spPr>
          <a:xfrm>
            <a:off x="1021650" y="2124338"/>
            <a:ext cx="3048900" cy="1847100"/>
          </a:xfrm>
          <a:prstGeom prst="rect">
            <a:avLst/>
          </a:prstGeom>
          <a:solidFill>
            <a:srgbClr val="A4C2F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/>
              <a:t>#!/usr/bin/</a:t>
            </a:r>
            <a:r>
              <a:rPr b="1" lang="en" sz="1800"/>
              <a:t>env </a:t>
            </a:r>
            <a:r>
              <a:rPr b="1" lang="en" sz="1800"/>
              <a:t>python3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import boto3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/>
              <a:t>t = boto3.resource('s3')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/>
              <a:t>for b in t.buckets.all():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     print(b.name)</a:t>
            </a:r>
            <a:endParaRPr b="1" sz="1800"/>
          </a:p>
        </p:txBody>
      </p:sp>
      <p:sp>
        <p:nvSpPr>
          <p:cNvPr id="154" name="Google Shape;154;p26"/>
          <p:cNvSpPr txBox="1"/>
          <p:nvPr/>
        </p:nvSpPr>
        <p:spPr>
          <a:xfrm>
            <a:off x="733050" y="4090600"/>
            <a:ext cx="7677900" cy="738900"/>
          </a:xfrm>
          <a:prstGeom prst="rect">
            <a:avLst/>
          </a:prstGeom>
          <a:solidFill>
            <a:srgbClr val="A2C4C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env [OPTION]... [-] [NAME=VALUE]... [COMMAND [ARG]...]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Set each NAME to VALUE in the environment and run COMMAND.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Makefile</a:t>
            </a:r>
            <a:endParaRPr sz="6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/>
          <p:nvPr>
            <p:ph type="title"/>
          </p:nvPr>
        </p:nvSpPr>
        <p:spPr>
          <a:xfrm>
            <a:off x="311700" y="140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Makefile</a:t>
            </a:r>
            <a:endParaRPr/>
          </a:p>
        </p:txBody>
      </p:sp>
      <p:sp>
        <p:nvSpPr>
          <p:cNvPr id="165" name="Google Shape;165;p28"/>
          <p:cNvSpPr txBox="1"/>
          <p:nvPr>
            <p:ph idx="1" type="body"/>
          </p:nvPr>
        </p:nvSpPr>
        <p:spPr>
          <a:xfrm>
            <a:off x="311700" y="3362275"/>
            <a:ext cx="8520600" cy="149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3D85C6"/>
                </a:solidFill>
              </a:rPr>
              <a:t>цель</a:t>
            </a:r>
            <a:r>
              <a:rPr lang="en"/>
              <a:t>: </a:t>
            </a:r>
            <a:r>
              <a:rPr lang="en">
                <a:solidFill>
                  <a:srgbClr val="E69138"/>
                </a:solidFill>
              </a:rPr>
              <a:t>зависимости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[tab] </a:t>
            </a:r>
            <a:r>
              <a:rPr lang="en">
                <a:solidFill>
                  <a:srgbClr val="38761D"/>
                </a:solidFill>
              </a:rPr>
              <a:t>команда #1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[tab]	</a:t>
            </a:r>
            <a:r>
              <a:rPr lang="en">
                <a:solidFill>
                  <a:srgbClr val="38761D"/>
                </a:solidFill>
              </a:rPr>
              <a:t>команда #n</a:t>
            </a:r>
            <a:endParaRPr/>
          </a:p>
        </p:txBody>
      </p:sp>
      <p:sp>
        <p:nvSpPr>
          <p:cNvPr id="166" name="Google Shape;166;p28"/>
          <p:cNvSpPr txBox="1"/>
          <p:nvPr/>
        </p:nvSpPr>
        <p:spPr>
          <a:xfrm>
            <a:off x="250050" y="2700475"/>
            <a:ext cx="86439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{Из чего делаем? </a:t>
            </a:r>
            <a:r>
              <a:rPr lang="en" sz="1700">
                <a:solidFill>
                  <a:srgbClr val="E69138"/>
                </a:solidFill>
              </a:rPr>
              <a:t>зависимости</a:t>
            </a:r>
            <a:r>
              <a:rPr lang="en" sz="1700">
                <a:solidFill>
                  <a:schemeClr val="dk2"/>
                </a:solidFill>
              </a:rPr>
              <a:t>} ---&gt; [Как делаем? </a:t>
            </a:r>
            <a:r>
              <a:rPr lang="en" sz="1700">
                <a:solidFill>
                  <a:srgbClr val="38761D"/>
                </a:solidFill>
              </a:rPr>
              <a:t>команды</a:t>
            </a:r>
            <a:r>
              <a:rPr lang="en" sz="1700">
                <a:solidFill>
                  <a:schemeClr val="dk2"/>
                </a:solidFill>
              </a:rPr>
              <a:t>] ---&gt; {Что делаем? </a:t>
            </a:r>
            <a:r>
              <a:rPr lang="en" sz="1700">
                <a:solidFill>
                  <a:srgbClr val="3D85C6"/>
                </a:solidFill>
              </a:rPr>
              <a:t>цель</a:t>
            </a:r>
            <a:r>
              <a:rPr lang="en" sz="1700">
                <a:solidFill>
                  <a:schemeClr val="dk2"/>
                </a:solidFill>
              </a:rPr>
              <a:t>}</a:t>
            </a:r>
            <a:endParaRPr sz="1700">
              <a:solidFill>
                <a:schemeClr val="dk2"/>
              </a:solidFill>
            </a:endParaRPr>
          </a:p>
        </p:txBody>
      </p:sp>
      <p:sp>
        <p:nvSpPr>
          <p:cNvPr id="167" name="Google Shape;167;p28"/>
          <p:cNvSpPr txBox="1"/>
          <p:nvPr/>
        </p:nvSpPr>
        <p:spPr>
          <a:xfrm>
            <a:off x="311700" y="1017725"/>
            <a:ext cx="58092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800">
                <a:solidFill>
                  <a:srgbClr val="3C78D8"/>
                </a:solidFill>
              </a:rPr>
              <a:t>hello</a:t>
            </a:r>
            <a:r>
              <a:rPr lang="en" sz="2800">
                <a:solidFill>
                  <a:schemeClr val="dk2"/>
                </a:solidFill>
              </a:rPr>
              <a:t>: </a:t>
            </a:r>
            <a:r>
              <a:rPr lang="en" sz="2800">
                <a:solidFill>
                  <a:srgbClr val="E69138"/>
                </a:solidFill>
              </a:rPr>
              <a:t>main.c</a:t>
            </a:r>
            <a:endParaRPr sz="2800">
              <a:solidFill>
                <a:srgbClr val="E69138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38761D"/>
                </a:solidFill>
              </a:rPr>
              <a:t>	gcc -o hello main.c</a:t>
            </a:r>
            <a:endParaRPr sz="2800">
              <a:solidFill>
                <a:srgbClr val="38761D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9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Makefile</a:t>
            </a:r>
            <a:endParaRPr/>
          </a:p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311700" y="572700"/>
            <a:ext cx="8520600" cy="422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TARGET = hello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PREFIX = /usr/local/bin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.PHONY: all clean install uninstall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	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rgbClr val="3C78D8"/>
                </a:solidFill>
              </a:rPr>
              <a:t>all</a:t>
            </a:r>
            <a:r>
              <a:rPr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rgbClr val="E69138"/>
                </a:solidFill>
              </a:rPr>
              <a:t>$(TARGET)</a:t>
            </a:r>
            <a:endParaRPr>
              <a:solidFill>
                <a:srgbClr val="E69138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	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rgbClr val="3C78D8"/>
                </a:solidFill>
              </a:rPr>
              <a:t>clean</a:t>
            </a:r>
            <a:r>
              <a:rPr lang="en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			</a:t>
            </a:r>
            <a:r>
              <a:rPr lang="en">
                <a:solidFill>
                  <a:srgbClr val="38761D"/>
                </a:solidFill>
              </a:rPr>
              <a:t>rm -rf $TARGET *.o</a:t>
            </a:r>
            <a:endParaRPr>
              <a:solidFill>
                <a:srgbClr val="38761D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rgbClr val="3C78D8"/>
                </a:solidFill>
              </a:rPr>
              <a:t>main.o</a:t>
            </a:r>
            <a:r>
              <a:rPr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rgbClr val="E69138"/>
                </a:solidFill>
              </a:rPr>
              <a:t>main.c</a:t>
            </a:r>
            <a:endParaRPr>
              <a:solidFill>
                <a:srgbClr val="E69138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			</a:t>
            </a:r>
            <a:r>
              <a:rPr lang="en">
                <a:solidFill>
                  <a:srgbClr val="38761D"/>
                </a:solidFill>
              </a:rPr>
              <a:t>gcc -c -o main.o main.c</a:t>
            </a:r>
            <a:endParaRPr>
              <a:solidFill>
                <a:srgbClr val="38761D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rgbClr val="3C78D8"/>
                </a:solidFill>
              </a:rPr>
              <a:t>hello.o</a:t>
            </a:r>
            <a:r>
              <a:rPr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rgbClr val="E69138"/>
                </a:solidFill>
              </a:rPr>
              <a:t>hello.c</a:t>
            </a:r>
            <a:endParaRPr>
              <a:solidFill>
                <a:srgbClr val="E69138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			</a:t>
            </a:r>
            <a:r>
              <a:rPr lang="en">
                <a:solidFill>
                  <a:srgbClr val="38761D"/>
                </a:solidFill>
              </a:rPr>
              <a:t>gcc -c -o hello.o hello.c</a:t>
            </a:r>
            <a:endParaRPr>
              <a:solidFill>
                <a:srgbClr val="38761D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rgbClr val="3C78D8"/>
                </a:solidFill>
              </a:rPr>
              <a:t>$(TARGET)</a:t>
            </a:r>
            <a:r>
              <a:rPr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rgbClr val="E69138"/>
                </a:solidFill>
              </a:rPr>
              <a:t>main.o hello.o</a:t>
            </a:r>
            <a:endParaRPr>
              <a:solidFill>
                <a:srgbClr val="E69138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			</a:t>
            </a:r>
            <a:r>
              <a:rPr lang="en">
                <a:solidFill>
                  <a:srgbClr val="38761D"/>
                </a:solidFill>
              </a:rPr>
              <a:t>gcc -o $TARGET main.o hello.o</a:t>
            </a:r>
            <a:endParaRPr>
              <a:solidFill>
                <a:srgbClr val="38761D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rgbClr val="3C78D8"/>
                </a:solidFill>
              </a:rPr>
              <a:t>install</a:t>
            </a:r>
            <a:r>
              <a:rPr lang="en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			</a:t>
            </a:r>
            <a:r>
              <a:rPr lang="en">
                <a:solidFill>
                  <a:srgbClr val="38761D"/>
                </a:solidFill>
              </a:rPr>
              <a:t>install $(TARGET) $(PREFIX)</a:t>
            </a:r>
            <a:endParaRPr>
              <a:solidFill>
                <a:srgbClr val="38761D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rgbClr val="3C78D8"/>
                </a:solidFill>
              </a:rPr>
              <a:t>uninstall</a:t>
            </a:r>
            <a:r>
              <a:rPr lang="en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			</a:t>
            </a:r>
            <a:r>
              <a:rPr lang="en">
                <a:solidFill>
                  <a:srgbClr val="38761D"/>
                </a:solidFill>
              </a:rPr>
              <a:t>rm -rf $(PREFIX)/$(TARGET)</a:t>
            </a:r>
            <a:endParaRPr>
              <a:solidFill>
                <a:srgbClr val="38761D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74" name="Google Shape;174;p29"/>
          <p:cNvSpPr/>
          <p:nvPr/>
        </p:nvSpPr>
        <p:spPr>
          <a:xfrm>
            <a:off x="481050" y="2231175"/>
            <a:ext cx="1221000" cy="10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9"/>
          <p:cNvSpPr/>
          <p:nvPr/>
        </p:nvSpPr>
        <p:spPr>
          <a:xfrm>
            <a:off x="481050" y="2612175"/>
            <a:ext cx="1221000" cy="10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9"/>
          <p:cNvSpPr/>
          <p:nvPr/>
        </p:nvSpPr>
        <p:spPr>
          <a:xfrm>
            <a:off x="481050" y="2916975"/>
            <a:ext cx="1221000" cy="10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9"/>
          <p:cNvSpPr/>
          <p:nvPr/>
        </p:nvSpPr>
        <p:spPr>
          <a:xfrm>
            <a:off x="481050" y="3374175"/>
            <a:ext cx="1221000" cy="10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9"/>
          <p:cNvSpPr/>
          <p:nvPr/>
        </p:nvSpPr>
        <p:spPr>
          <a:xfrm>
            <a:off x="481050" y="3678975"/>
            <a:ext cx="1221000" cy="10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9"/>
          <p:cNvSpPr/>
          <p:nvPr/>
        </p:nvSpPr>
        <p:spPr>
          <a:xfrm>
            <a:off x="481050" y="4059975"/>
            <a:ext cx="1221000" cy="10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9"/>
          <p:cNvSpPr/>
          <p:nvPr/>
        </p:nvSpPr>
        <p:spPr>
          <a:xfrm>
            <a:off x="481050" y="1850175"/>
            <a:ext cx="1221000" cy="10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9"/>
          <p:cNvSpPr/>
          <p:nvPr/>
        </p:nvSpPr>
        <p:spPr>
          <a:xfrm>
            <a:off x="6817900" y="684575"/>
            <a:ext cx="888000" cy="518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/>
              <a:t>all</a:t>
            </a:r>
            <a:endParaRPr b="1" sz="2400"/>
          </a:p>
        </p:txBody>
      </p:sp>
      <p:sp>
        <p:nvSpPr>
          <p:cNvPr id="182" name="Google Shape;182;p29"/>
          <p:cNvSpPr/>
          <p:nvPr/>
        </p:nvSpPr>
        <p:spPr>
          <a:xfrm>
            <a:off x="6651400" y="1951875"/>
            <a:ext cx="1221000" cy="518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/>
              <a:t>hello</a:t>
            </a:r>
            <a:endParaRPr b="1" sz="2400"/>
          </a:p>
        </p:txBody>
      </p:sp>
      <p:sp>
        <p:nvSpPr>
          <p:cNvPr id="183" name="Google Shape;183;p29"/>
          <p:cNvSpPr/>
          <p:nvPr/>
        </p:nvSpPr>
        <p:spPr>
          <a:xfrm>
            <a:off x="5754075" y="3219175"/>
            <a:ext cx="1323300" cy="518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/>
              <a:t>main.o</a:t>
            </a:r>
            <a:endParaRPr b="1" sz="2400"/>
          </a:p>
        </p:txBody>
      </p:sp>
      <p:sp>
        <p:nvSpPr>
          <p:cNvPr id="184" name="Google Shape;184;p29"/>
          <p:cNvSpPr/>
          <p:nvPr/>
        </p:nvSpPr>
        <p:spPr>
          <a:xfrm>
            <a:off x="7465000" y="3219175"/>
            <a:ext cx="1323300" cy="518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/>
              <a:t>hello.o</a:t>
            </a:r>
            <a:endParaRPr b="1" sz="2400"/>
          </a:p>
        </p:txBody>
      </p:sp>
      <p:cxnSp>
        <p:nvCxnSpPr>
          <p:cNvPr id="185" name="Google Shape;185;p29"/>
          <p:cNvCxnSpPr>
            <a:stCxn id="181" idx="2"/>
            <a:endCxn id="182" idx="0"/>
          </p:cNvCxnSpPr>
          <p:nvPr/>
        </p:nvCxnSpPr>
        <p:spPr>
          <a:xfrm>
            <a:off x="7261900" y="1202675"/>
            <a:ext cx="0" cy="7491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6" name="Google Shape;186;p29"/>
          <p:cNvCxnSpPr>
            <a:stCxn id="182" idx="2"/>
            <a:endCxn id="184" idx="0"/>
          </p:cNvCxnSpPr>
          <p:nvPr/>
        </p:nvCxnSpPr>
        <p:spPr>
          <a:xfrm flipH="1" rot="-5400000">
            <a:off x="7319800" y="2412075"/>
            <a:ext cx="749100" cy="864900"/>
          </a:xfrm>
          <a:prstGeom prst="curvedConnector3">
            <a:avLst>
              <a:gd fmla="val 50007" name="adj1"/>
            </a:avLst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7" name="Google Shape;187;p29"/>
          <p:cNvCxnSpPr>
            <a:stCxn id="182" idx="2"/>
            <a:endCxn id="183" idx="0"/>
          </p:cNvCxnSpPr>
          <p:nvPr/>
        </p:nvCxnSpPr>
        <p:spPr>
          <a:xfrm rot="5400000">
            <a:off x="6464200" y="2421375"/>
            <a:ext cx="749100" cy="846300"/>
          </a:xfrm>
          <a:prstGeom prst="curvedConnector3">
            <a:avLst>
              <a:gd fmla="val 50007" name="adj1"/>
            </a:avLst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0"/>
          <p:cNvSpPr txBox="1"/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Makefile</a:t>
            </a:r>
            <a:endParaRPr/>
          </a:p>
        </p:txBody>
      </p:sp>
      <p:sp>
        <p:nvSpPr>
          <p:cNvPr id="193" name="Google Shape;193;p30"/>
          <p:cNvSpPr txBox="1"/>
          <p:nvPr/>
        </p:nvSpPr>
        <p:spPr>
          <a:xfrm>
            <a:off x="171450" y="572700"/>
            <a:ext cx="38436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.PHONY: run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run: bin/django syncdb bin/sass compile_trans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./bin/django runserver 0.0.0.0:8000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.PHONY: shell_plus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shell_plus: bin/django syncdb bin/sass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./bin/django shell_plus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bin/django: bin/buildout buildout.cfg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./bin/buildout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bin/buildout: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python bootstrap.py --distribute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syncdb: bin/django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./bin/django syncdb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# touch a timestamp file to avoid re-syncing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touch syncdb  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make_trans: bin/django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./bin/django makemessages -a -e 'py,html,haml'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bin/sass: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gem install sass --bindir bin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# watch buildout.cfg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buildout.cfg: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compile_trans: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make locale/*/LC_MESSAGES/django.mo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locale/%/LC_MESSAGES/django.mo: locale/%/LC_MESSAGES/django.po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	./bin/django compilemessages -l $(word 2,$(subst /, ,$@))</a:t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33333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90500" marR="1905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rPr>
              <a:t>locale/*/LC_MESSAGES/django.po:</a:t>
            </a:r>
            <a:endParaRPr sz="700">
              <a:solidFill>
                <a:schemeClr val="dk2"/>
              </a:solidFill>
            </a:endParaRPr>
          </a:p>
        </p:txBody>
      </p:sp>
      <p:pic>
        <p:nvPicPr>
          <p:cNvPr id="194" name="Google Shape;19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04700" y="0"/>
            <a:ext cx="5939301" cy="353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30"/>
          <p:cNvSpPr txBox="1"/>
          <p:nvPr/>
        </p:nvSpPr>
        <p:spPr>
          <a:xfrm>
            <a:off x="4572000" y="3943500"/>
            <a:ext cx="3792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u="sng">
                <a:solidFill>
                  <a:schemeClr val="hlink"/>
                </a:solidFill>
                <a:hlinkClick r:id="rId4"/>
              </a:rPr>
              <a:t>Taskfile</a:t>
            </a:r>
            <a:r>
              <a:rPr lang="en" sz="2600">
                <a:solidFill>
                  <a:schemeClr val="dk2"/>
                </a:solidFill>
              </a:rPr>
              <a:t> - альтернатива</a:t>
            </a:r>
            <a:endParaRPr sz="2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