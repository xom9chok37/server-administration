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1DA2F5-FCEF-492F-8DFC-3ABC802F4878}">
  <a:tblStyle styleId="{751DA2F5-FCEF-492F-8DFC-3ABC802F48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6A95579-DE3D-4907-B42A-BAE55390190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a058bb2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a058bb2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7957f38ba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7957f38ba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acfbc44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acfbc44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@startuml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(пользователь == владелец)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if (права в первом триплете установлены?)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#palegreen: разрешаем;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detach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else (нет)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endif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elseif (группы пользователя\nи файла пересекаются)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if (права во втором триплете установлены?)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#palegreen: разрешаем;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detach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else (нет)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endif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elseif (права в третьем триплете установлены?)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#palegreen: разрешаем;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detach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#pink: запрещаем;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@enduml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a058bb2f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a058bb2f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bb7758fe1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bb7758fe1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aef6c00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aef6c00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957f38ba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957f38ba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1a88698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1a88698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957f38b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957f38b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a058bb2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a058bb2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957f38b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957f38b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957f38ba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957f38ba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1a88698a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1a88698a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a058bb2f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a058bb2f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a058bb2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a058bb2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1a88698a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1a88698a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c1a88698a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c1a88698a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957f38ba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957f38ba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957f38ba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7957f38ba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7758fe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7758fe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c50a50bb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c50a50bb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1a88698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c1a88698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b6da088e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b6da088e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b6da088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b6da088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c1a88698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c1a88698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b6da088e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b6da088e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b6da088e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b6da088e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ac690cd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ac690cd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ac690cd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ac690cd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ac690cdf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ac690cdf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bbfd15c4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cbbfd15c4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bb7758fe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bb7758fe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Создать пользователя и рабочий каталог для него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Создать файлопомойку с каталогами для каждого пользователя и общим public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Позволить группе читать файлы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Добавить пользователя в sudo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Запретить пользователю входить в систему и сменить шелл на /bin/sh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Сменить пароль пользователю из-под root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Подправить /etc/skel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Взломать пароль по словарю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habr.com/ru/articles/44783/" TargetMode="External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habr.com/ru/companies/otus/articles/460387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Пользователи 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система прав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Разграничение прав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01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rwxrwxrwx – классические POSIX (+ACL)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AppArmor/SELinux – мандатный доступ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lsattr – атрибуты файла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capabilities – современные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Система прав</a:t>
            </a:r>
            <a:endParaRPr sz="2500">
              <a:solidFill>
                <a:srgbClr val="000000"/>
              </a:solidFill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00" y="712925"/>
            <a:ext cx="5055354" cy="4278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4" y="1776575"/>
            <a:ext cx="3631445" cy="321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275" y="712925"/>
            <a:ext cx="2949675" cy="10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Блок-схема проверки прав</a:t>
            </a:r>
            <a:endParaRPr/>
          </a:p>
        </p:txBody>
      </p:sp>
      <p:pic>
        <p:nvPicPr>
          <p:cNvPr id="74" name="Google Shape;74;p16" title="permiss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712925"/>
            <a:ext cx="8679899" cy="3174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rwx для каталогов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572700"/>
            <a:ext cx="39999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 – чтение списка файлов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 – изменение списка файлов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x – зайти в каталог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572000" y="572700"/>
            <a:ext cx="4260300" cy="43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~/dir ll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d--xrwxr-x - tyvik tyvik 21 Feb 13:39 execute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dr--rwxr-x - tyvik tyvik 21 Feb 13:39 read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d-w-rwxr-x - tyvik tyvik 21 Feb 13:39 write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~/dir ls {write,execute}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ls: cannot open directory 'execute': Permission denied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ls: cannot open directory 'write': Permission denied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~/dir cd read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cd: permission denied: read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~/dir cd write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cd: permission denied: write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~/dir touch execute/new.txt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touch: cannot touch 'execute/new.txt': Permission denied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~/dir cat execute/old.txt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Welcome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1824000"/>
            <a:ext cx="39999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➜  ~/dir stat execute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File: execute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Size: 4096      	Blocks: 8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Device: 0,66	Inode: 1361407     Links: 2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Access: (0175/d--xrwxr-x)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Uid: ( 1000/   tyvik)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Gid: ( 1000/   tyvik)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Access: 2026-02-21 13:45:20 +0300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Modify: 2026-02-21 13:45:17 +0300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Change: 2026-02-21 13:45:25 +0300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Расширенная с</a:t>
            </a:r>
            <a:r>
              <a:rPr lang="en" sz="2500">
                <a:solidFill>
                  <a:srgbClr val="000000"/>
                </a:solidFill>
              </a:rPr>
              <a:t>истема прав</a:t>
            </a:r>
            <a:endParaRPr sz="2500">
              <a:solidFill>
                <a:srgbClr val="000000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925"/>
            <a:ext cx="4283100" cy="1606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81850"/>
            <a:ext cx="4283112" cy="2409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572000" y="712925"/>
            <a:ext cx="4260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SUID - от имени того же пользователя (только файлы)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SGID - от имени той же группы (для файлов); все новые файлы будут принадлежать группе (для каталогов)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Sticky - запрет удаления и перемещения (только для каталогов)</a:t>
            </a:r>
            <a:endParaRPr sz="1600"/>
          </a:p>
        </p:txBody>
      </p:sp>
      <p:sp>
        <p:nvSpPr>
          <p:cNvPr id="91" name="Google Shape;91;p18"/>
          <p:cNvSpPr txBox="1"/>
          <p:nvPr/>
        </p:nvSpPr>
        <p:spPr>
          <a:xfrm>
            <a:off x="4717500" y="3078725"/>
            <a:ext cx="411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4 – SUID; 2 – SGID; 1 – Sticky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chmod g+s …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chmod 4755 …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560525"/>
            <a:ext cx="8520600" cy="38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000">
                <a:solidFill>
                  <a:schemeClr val="dk1"/>
                </a:solidFill>
              </a:rPr>
              <a:t>А кто я?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$ whoami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tyvik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000">
                <a:solidFill>
                  <a:schemeClr val="dk1"/>
                </a:solidFill>
              </a:rPr>
              <a:t>Информация о пользователе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$ id tyvik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uid=1000(tyvik) gid=1000(tyvik) groups=1000(tyvik),4(adm),20(dialout),24(cdrom),27(sudo),30(dip),46(plugdev),112(lpadmin),127(sambashare),131(docker),147(libvirt)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Системные группы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311700" y="712925"/>
            <a:ext cx="8520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audio – доступ к звуковым устройствам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v</a:t>
            </a:r>
            <a:r>
              <a:rPr lang="en" sz="2000"/>
              <a:t>ideo – доступ к веб-камерам, GPU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</a:t>
            </a:r>
            <a:r>
              <a:rPr lang="en" sz="2000"/>
              <a:t>drom – Доступ к CD/DVD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sudo – доступ к запуску sudo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power – разрешает управлять питанием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</a:t>
            </a:r>
            <a:r>
              <a:rPr lang="en" sz="2000"/>
              <a:t>ocker – Управление контейнерами Docker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kvm – Доступ к виртуализации KVM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...</a:t>
            </a:r>
            <a:endParaRPr sz="2000"/>
          </a:p>
        </p:txBody>
      </p:sp>
      <p:sp>
        <p:nvSpPr>
          <p:cNvPr id="104" name="Google Shape;104;p20"/>
          <p:cNvSpPr txBox="1"/>
          <p:nvPr/>
        </p:nvSpPr>
        <p:spPr>
          <a:xfrm>
            <a:off x="311700" y="362070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apt install docker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groupadd docker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usermod -aG docker user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exit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Обзор</a:t>
            </a:r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311700" y="10455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{751DA2F5-FCEF-492F-8DFC-3ABC802F4878}</a:tableStyleId>
              </a:tblPr>
              <a:tblGrid>
                <a:gridCol w="2840200"/>
                <a:gridCol w="2840200"/>
                <a:gridCol w="2840200"/>
              </a:tblGrid>
              <a:tr h="70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Пользователь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Группа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823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Создание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useradd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groupadd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85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Редактирование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usermod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groupmod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70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Удаление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userdel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groupdel</a:t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useradd – добавление пользователей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560525"/>
            <a:ext cx="85206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useradd jim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</a:t>
            </a:r>
            <a:r>
              <a:rPr lang="en">
                <a:solidFill>
                  <a:schemeClr val="dk1"/>
                </a:solidFill>
              </a:rPr>
              <a:t> tail -n 1 /etc/passwd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jim:x:1002:1002::/home/jim:/bin/sh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ls /home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yvik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2694125"/>
            <a:ext cx="85206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useradd jim --create-home --shell /bin/bash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tail -n 1 /etc/passwd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jim:x:1002:1002::/home/jim:/bin/bash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ls /home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yvik jim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useradd – добавление пользователей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789125"/>
            <a:ext cx="8520600" cy="3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useradd jim --create-home --shell /bin/bash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passwd jim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New password: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Retype new password: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passwd: password updated successfully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tail -n 1 /etc/passwd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jim:x:1002:1002::/home/jim:/bin/bash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# ls /home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>
                <a:solidFill>
                  <a:schemeClr val="dk1"/>
                </a:solidFill>
              </a:rPr>
              <a:t>tyvik jim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/etc/passwd – пользователи в системе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560525"/>
            <a:ext cx="85206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2400">
                <a:solidFill>
                  <a:schemeClr val="dk1"/>
                </a:solidFill>
              </a:rPr>
              <a:t>jim:x:1002:1002:comment:/home/jim:/bin/sh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093925"/>
            <a:ext cx="8520600" cy="26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j</a:t>
            </a:r>
            <a:r>
              <a:rPr lang="en" sz="2000">
                <a:solidFill>
                  <a:schemeClr val="dk1"/>
                </a:solidFill>
              </a:rPr>
              <a:t>im – логин пользователя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x</a:t>
            </a:r>
            <a:r>
              <a:rPr lang="en" sz="2000">
                <a:solidFill>
                  <a:schemeClr val="dk1"/>
                </a:solidFill>
              </a:rPr>
              <a:t> – пароль (или x, если он хранится в /etc/shadow)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1002 – user id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1002 – user group id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comment – комментарий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/home/jim – домашний каталог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/bin/sh – shell по умолчанию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311700" y="400935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id jim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uid=1001(jim) gid=1001(jim) groups=1001(jim),131(docker)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passwd (работа с паролями)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560525"/>
            <a:ext cx="8520600" cy="30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Назначение пароля: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passwd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Сделать пароль устаревшим: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passwd -e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Просить сменить пароль через 10 дней: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passwd -x 10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Сгенерировать пароль: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$ openssl passwd -1 -salt xyz yourpass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/etc/shadow – работа с паролями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560525"/>
            <a:ext cx="85206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2400">
                <a:solidFill>
                  <a:schemeClr val="dk1"/>
                </a:solidFill>
              </a:rPr>
              <a:t>jim:$&lt;alg&gt;$&lt;salt&gt;$&lt;crypt&gt;:18685:0:30:7:10:365: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093925"/>
            <a:ext cx="8520600" cy="26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jim – логин пользователя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$&lt;alg&gt;$&lt;salt&gt;$&lt;crypt&gt; – хэш пароля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18685 – последнее изменение (кол-во дней)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0 – минимальный возраст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30 – максимальный возраст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7 – период предупреждения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365 – срок хранения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311700" y="400935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passwd --status jim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jim P 02/27/2021 0 30 7 365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hashcat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572700"/>
            <a:ext cx="8520600" cy="4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root@TyVik-XPS:~# openssl passwd -1 -salt xyz123 d3ll2 &gt; input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root@TyVik-XPS:~# hashcat -m 500 -a 3 -O -d 3 input ?1?1?1?1?1 -1 ?l?d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hashcat (v6.2.6) starting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$1$xyz123$jCmV0oTyjmb7V81sVUhkT/:d3ll2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 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Status...........: Cracked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Hash.Mode........: 500 (md5crypt, MD5 (Unix), Cisco-IOS $1$ (MD5))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Hash.Target......: $1$xyz123$jCmV0oTyjmb7V81sVUhkT/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Kernel.Feature...: Optimized Kernel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Guess.Mask.......: ?1?1?1?1?1 [5]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Guess.Charset....: -1 ?l?d, -2 Undefined, -3 Undefined, -4 Undefined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Guess.Queue......: 1/1 (100.00%)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Speed.#3.........:  1820.6 kH/s (13.16ms) @ Accel:16 Loops:1000 Thr:256 Vec:1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Recovered........: 1/1 (100.00%) Digests (total), 1/1 (100.00%) Digests (new)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Progress.........: 25042944/60466176 (41.42%)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Rejected.........: 0/25042944 (0.00%)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Restore.Point....: 688128/1679616 (40.97%)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Restore.Sub.#3...: Salt:0 Amplifier:10-11 Iteration:0-1000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Candidate.Engine.: Device Generator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Candidates.#3....: dpq9c -&gt; dn93a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Hardware.Mon.#3..: Temp: 63c Util:100% Core:1113MHz Mem:3504MHz Bus:16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/etc/skel – шаблон каталога пользователя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tyvik@web-adm:/etc/skel$ ls -la /etc/skel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drwxr-xr-x   4 root root  4096 Feb  6  2025 .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drwxr-xr-x 116 root root 12288 Feb 20 06:01 ..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-rw-r--r--   1 root root   220 Mar 31  2024 .bash_logout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-rw-r--r--   1 root root  3771 Mar 31  2024 .bashrc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drwx------   4 root root  4096 Feb  5  2025 .config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-rw-r--r--   1 root root   807 Mar 31  2024 .profile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drwxrwxr-x   7 root root  4096 Feb  5  2025 tasks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usermod (редактирование пользователя)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560525"/>
            <a:ext cx="8520600" cy="41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Укажем пользователю его группы: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# usermod -G adm,jim jim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Добавить пользователю группу: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# usermod -a -G adm jim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Перенести домашний каталог пользователя: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# usermod -m -d /var/www jim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Заблокировать аккаунт: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# usermod -L jim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Установить оболочку для входа: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# usermod -s /bin/bash jim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Удаление пользователя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560525"/>
            <a:ext cx="8520600" cy="30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Удалить пользователя с домашним каталогом: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# userdel -r jim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Смена прав chmod  (</a:t>
            </a:r>
            <a:r>
              <a:rPr b="1" lang="en" sz="2500">
                <a:solidFill>
                  <a:srgbClr val="000000"/>
                </a:solidFill>
              </a:rPr>
              <a:t>ch</a:t>
            </a:r>
            <a:r>
              <a:rPr lang="en" sz="2500">
                <a:solidFill>
                  <a:srgbClr val="000000"/>
                </a:solidFill>
              </a:rPr>
              <a:t>ange </a:t>
            </a:r>
            <a:r>
              <a:rPr b="1" lang="en" sz="2500">
                <a:solidFill>
                  <a:srgbClr val="000000"/>
                </a:solidFill>
              </a:rPr>
              <a:t>mod</a:t>
            </a:r>
            <a:r>
              <a:rPr lang="en" sz="2500">
                <a:solidFill>
                  <a:srgbClr val="000000"/>
                </a:solidFill>
              </a:rPr>
              <a:t>e)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311700" y="560525"/>
            <a:ext cx="4222500" cy="4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буквенный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Добавляем владельцу право читать, писать, выполнять: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$ chmod u+rwx &lt;filename&gt;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Убираем у группы и остальных право выполнения: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chmod go-x &lt;filename&gt;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Устанавливаем владельцу право читать, писать, выполнять: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chmod u=rwx &lt;filename&gt;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Убираем у остальных все права: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chmod o-rwx &lt;filename&gt;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4609800" y="560525"/>
            <a:ext cx="4222500" cy="4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числовой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$ chmod 760 &lt;filename&gt;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4 - чтение (r)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2 - запись (w)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1 - выполнение (x)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Владелец может читать и писать, группа - читать, остальные - ничего: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$ chmod 740 &lt;filename&gt;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Всем разрешено только читать файл: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$chmod 444 &lt;filename&gt;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Смена </a:t>
            </a:r>
            <a:r>
              <a:rPr lang="en" sz="2500"/>
              <a:t>владельца</a:t>
            </a:r>
            <a:r>
              <a:rPr lang="en" sz="2500">
                <a:solidFill>
                  <a:srgbClr val="000000"/>
                </a:solidFill>
              </a:rPr>
              <a:t> chown  (</a:t>
            </a:r>
            <a:r>
              <a:rPr b="1" lang="en" sz="2500">
                <a:solidFill>
                  <a:srgbClr val="000000"/>
                </a:solidFill>
              </a:rPr>
              <a:t>ch</a:t>
            </a:r>
            <a:r>
              <a:rPr lang="en" sz="2500">
                <a:solidFill>
                  <a:srgbClr val="000000"/>
                </a:solidFill>
              </a:rPr>
              <a:t>ange </a:t>
            </a:r>
            <a:r>
              <a:rPr b="1" lang="en" sz="2500">
                <a:solidFill>
                  <a:srgbClr val="000000"/>
                </a:solidFill>
              </a:rPr>
              <a:t>own</a:t>
            </a:r>
            <a:r>
              <a:rPr lang="en" sz="2500">
                <a:solidFill>
                  <a:srgbClr val="000000"/>
                </a:solidFill>
              </a:rPr>
              <a:t>er)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82" name="Google Shape;182;p32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Полная запись: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chown &lt;user&gt;:&lt;group&gt;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владельца на user1: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chown user1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владельца на user1 и группу на group1: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chown user1:group1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только группу на group1: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chown :group1 &lt;filename&gt;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Смена </a:t>
            </a:r>
            <a:r>
              <a:rPr lang="en" sz="2500"/>
              <a:t>группы</a:t>
            </a:r>
            <a:r>
              <a:rPr lang="en" sz="2500">
                <a:solidFill>
                  <a:srgbClr val="000000"/>
                </a:solidFill>
              </a:rPr>
              <a:t> ch</a:t>
            </a:r>
            <a:r>
              <a:rPr lang="en" sz="2500"/>
              <a:t>grp</a:t>
            </a:r>
            <a:r>
              <a:rPr lang="en" sz="2500">
                <a:solidFill>
                  <a:srgbClr val="000000"/>
                </a:solidFill>
              </a:rPr>
              <a:t>  (</a:t>
            </a:r>
            <a:r>
              <a:rPr b="1" lang="en" sz="2500">
                <a:solidFill>
                  <a:srgbClr val="000000"/>
                </a:solidFill>
              </a:rPr>
              <a:t>ch</a:t>
            </a:r>
            <a:r>
              <a:rPr lang="en" sz="2500">
                <a:solidFill>
                  <a:srgbClr val="000000"/>
                </a:solidFill>
              </a:rPr>
              <a:t>ange</a:t>
            </a:r>
            <a:r>
              <a:rPr lang="en" sz="2500"/>
              <a:t> </a:t>
            </a:r>
            <a:r>
              <a:rPr b="1" lang="en" sz="2500"/>
              <a:t>gr</a:t>
            </a:r>
            <a:r>
              <a:rPr lang="en" sz="2500"/>
              <a:t>oup</a:t>
            </a:r>
            <a:r>
              <a:rPr lang="en" sz="2500">
                <a:solidFill>
                  <a:srgbClr val="000000"/>
                </a:solidFill>
              </a:rPr>
              <a:t>)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Полная запись: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chgrp &lt;group&gt;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владельца на user1: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chgrp user1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1401" y="632512"/>
            <a:ext cx="2820900" cy="40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 – switch user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311700" y="560525"/>
            <a:ext cx="8520600" cy="30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 id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uid=1001(jim) gid=1001(jim) groups=1001(jim),131(docker)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000">
                <a:solidFill>
                  <a:schemeClr val="dk1"/>
                </a:solidFill>
              </a:rPr>
              <a:t># su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000">
                <a:solidFill>
                  <a:schemeClr val="dk1"/>
                </a:solidFill>
              </a:rPr>
              <a:t>$ whoami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000">
                <a:solidFill>
                  <a:schemeClr val="dk1"/>
                </a:solidFill>
              </a:rPr>
              <a:t>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000">
                <a:solidFill>
                  <a:schemeClr val="dk1"/>
                </a:solidFill>
              </a:rPr>
              <a:t>$ exit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000">
                <a:solidFill>
                  <a:schemeClr val="dk1"/>
                </a:solidFill>
              </a:rPr>
              <a:t># whoami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000">
                <a:solidFill>
                  <a:schemeClr val="dk1"/>
                </a:solidFill>
              </a:rPr>
              <a:t>root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96" name="Google Shape;196;p34"/>
          <p:cNvSpPr txBox="1"/>
          <p:nvPr/>
        </p:nvSpPr>
        <p:spPr>
          <a:xfrm>
            <a:off x="311700" y="4774200"/>
            <a:ext cx="358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su или sudo?</a:t>
            </a:r>
            <a:endParaRPr sz="1200"/>
          </a:p>
        </p:txBody>
      </p:sp>
      <p:pic>
        <p:nvPicPr>
          <p:cNvPr id="197" name="Google Shape;19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0500" y="1668067"/>
            <a:ext cx="3583500" cy="3475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sudo</a:t>
            </a:r>
            <a:endParaRPr/>
          </a:p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311700" y="560525"/>
            <a:ext cx="8520600" cy="4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 visudo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990000"/>
                </a:solidFill>
              </a:rPr>
              <a:t>jim </a:t>
            </a:r>
            <a:r>
              <a:rPr lang="en" sz="2000">
                <a:solidFill>
                  <a:srgbClr val="B45F06"/>
                </a:solidFill>
              </a:rPr>
              <a:t>ALL</a:t>
            </a:r>
            <a:r>
              <a:rPr lang="en" sz="2000">
                <a:solidFill>
                  <a:schemeClr val="dk1"/>
                </a:solidFill>
              </a:rPr>
              <a:t>=(</a:t>
            </a:r>
            <a:r>
              <a:rPr lang="en" sz="2000">
                <a:solidFill>
                  <a:srgbClr val="38761D"/>
                </a:solidFill>
              </a:rPr>
              <a:t>postgres</a:t>
            </a:r>
            <a:r>
              <a:rPr lang="en" sz="2000">
                <a:solidFill>
                  <a:schemeClr val="dk1"/>
                </a:solidFill>
              </a:rPr>
              <a:t>) NOPASSWD: </a:t>
            </a:r>
            <a:r>
              <a:rPr lang="en" sz="2000">
                <a:solidFill>
                  <a:srgbClr val="351C75"/>
                </a:solidFill>
              </a:rPr>
              <a:t>/usr/bin/psql</a:t>
            </a:r>
            <a:endParaRPr sz="2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990000"/>
                </a:solidFill>
              </a:rPr>
              <a:t>%sudo</a:t>
            </a:r>
            <a:r>
              <a:rPr lang="en" sz="2000">
                <a:solidFill>
                  <a:schemeClr val="dk1"/>
                </a:solidFill>
              </a:rPr>
              <a:t>   </a:t>
            </a:r>
            <a:r>
              <a:rPr lang="en" sz="2000">
                <a:solidFill>
                  <a:srgbClr val="BF9000"/>
                </a:solidFill>
              </a:rPr>
              <a:t>ALL</a:t>
            </a:r>
            <a:r>
              <a:rPr lang="en" sz="2000">
                <a:solidFill>
                  <a:schemeClr val="dk1"/>
                </a:solidFill>
              </a:rPr>
              <a:t>=(</a:t>
            </a:r>
            <a:r>
              <a:rPr lang="en" sz="2000">
                <a:solidFill>
                  <a:srgbClr val="38761D"/>
                </a:solidFill>
              </a:rPr>
              <a:t>ALL:ALL</a:t>
            </a:r>
            <a:r>
              <a:rPr lang="en" sz="2000">
                <a:solidFill>
                  <a:schemeClr val="dk1"/>
                </a:solidFill>
              </a:rPr>
              <a:t>) </a:t>
            </a:r>
            <a:r>
              <a:rPr lang="en" sz="2000">
                <a:solidFill>
                  <a:srgbClr val="351C75"/>
                </a:solidFill>
              </a:rPr>
              <a:t>ALL</a:t>
            </a:r>
            <a:endParaRPr sz="2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351C75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Char char="●"/>
            </a:pPr>
            <a:r>
              <a:rPr lang="en" sz="2000">
                <a:solidFill>
                  <a:srgbClr val="990000"/>
                </a:solidFill>
              </a:rPr>
              <a:t>%sudo – пользователь/группа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000"/>
              <a:buChar char="●"/>
            </a:pPr>
            <a:r>
              <a:rPr lang="en" sz="2000">
                <a:solidFill>
                  <a:srgbClr val="B45F06"/>
                </a:solidFill>
              </a:rPr>
              <a:t>ALL – хост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Char char="●"/>
            </a:pPr>
            <a:r>
              <a:rPr lang="en" sz="2000">
                <a:solidFill>
                  <a:srgbClr val="38761D"/>
                </a:solidFill>
              </a:rPr>
              <a:t>ALL:ALL – от имени кого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2000"/>
              <a:buChar char="●"/>
            </a:pPr>
            <a:r>
              <a:rPr lang="en" sz="2000">
                <a:solidFill>
                  <a:srgbClr val="351C75"/>
                </a:solidFill>
              </a:rPr>
              <a:t>ALL </a:t>
            </a:r>
            <a:r>
              <a:rPr lang="en" sz="2000">
                <a:solidFill>
                  <a:srgbClr val="000000"/>
                </a:solidFill>
              </a:rPr>
              <a:t>– команда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$ sudo -i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$ sudo su postgres -c psql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$ sudo -l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204" name="Google Shape;2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3175" y="1828900"/>
            <a:ext cx="3990825" cy="33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sudo -i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➜  ~/Универ/111 sudo su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root@TyVik-XPS:/home/tyvik/Универ/111# env | wc -l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root@TyVik-XPS:/home/tyvik/Универ/111#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➜  ~/Универ/111 sudo -i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root@TyVik-XPS:~# env | wc -l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37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getfacl / setfacl</a:t>
            </a:r>
            <a:endParaRPr/>
          </a:p>
        </p:txBody>
      </p:sp>
      <p:sp>
        <p:nvSpPr>
          <p:cNvPr id="216" name="Google Shape;216;p37"/>
          <p:cNvSpPr txBox="1"/>
          <p:nvPr/>
        </p:nvSpPr>
        <p:spPr>
          <a:xfrm>
            <a:off x="0" y="468180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требуется поддержка на уровне файловой системы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7" name="Google Shape;217;p37"/>
          <p:cNvSpPr txBox="1"/>
          <p:nvPr/>
        </p:nvSpPr>
        <p:spPr>
          <a:xfrm>
            <a:off x="311700" y="560525"/>
            <a:ext cx="4950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setfacl -m [тип]:[сущность]:[права] файл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Дать пользователю bob право записи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setfacl -m u:bob:rw project.txt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Дать группе testers только чтение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setfacl -m g:testers:r project.txt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Удалить ACL-правило для пользователя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setfacl -x u:bob project.txt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Удалить ВСЕ ACL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setfacl -b project.txt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Задать права рекурсивно для папки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setfacl -R -m u:bob:rx /var/www/project/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18" name="Google Shape;218;p37"/>
          <p:cNvSpPr txBox="1"/>
          <p:nvPr/>
        </p:nvSpPr>
        <p:spPr>
          <a:xfrm>
            <a:off x="5558700" y="560525"/>
            <a:ext cx="35853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$ getfacl project.txt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file: project.txt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owner: alice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group: testers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user::rw-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user:bob:rw-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user:charlie:r--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group::r--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mask::rw-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other::---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chattr / lsattr</a:t>
            </a:r>
            <a:endParaRPr/>
          </a:p>
        </p:txBody>
      </p:sp>
      <p:sp>
        <p:nvSpPr>
          <p:cNvPr id="224" name="Google Shape;224;p38"/>
          <p:cNvSpPr txBox="1"/>
          <p:nvPr/>
        </p:nvSpPr>
        <p:spPr>
          <a:xfrm>
            <a:off x="311700" y="560525"/>
            <a:ext cx="48489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</a:t>
            </a:r>
            <a:r>
              <a:rPr lang="en" sz="1600"/>
              <a:t> - время доступа к файлу файла не изменяется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</a:t>
            </a:r>
            <a:r>
              <a:rPr lang="en" sz="1600"/>
              <a:t> - добавлять, но не удалять файл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</a:t>
            </a:r>
            <a:r>
              <a:rPr lang="en" sz="1600"/>
              <a:t> - разрешает сжатие на уровне тома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</a:t>
            </a:r>
            <a:r>
              <a:rPr lang="en" sz="1600"/>
              <a:t> - гарантирует, что изменения в файлах записываются на диск немедленно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</a:t>
            </a:r>
            <a:r>
              <a:rPr lang="en" sz="1600"/>
              <a:t> - файл не будет сохранен в резервных копиях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</a:t>
            </a:r>
            <a:r>
              <a:rPr lang="en" sz="1600"/>
              <a:t> - включает индексирование для каталога, в котором он включен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</a:t>
            </a:r>
            <a:r>
              <a:rPr lang="en" sz="1600"/>
              <a:t> - делает файл неизменным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j</a:t>
            </a:r>
            <a:r>
              <a:rPr lang="en" sz="1600"/>
              <a:t> - включает журналирование на максимум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</a:t>
            </a:r>
            <a:r>
              <a:rPr lang="en" sz="1600"/>
              <a:t> - заполняет 0, гарантирует, что файл невозможно восстановить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u -</a:t>
            </a:r>
            <a:r>
              <a:rPr lang="en" sz="1600"/>
              <a:t> сохраняет информацию об удалении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...</a:t>
            </a:r>
            <a:endParaRPr sz="1600"/>
          </a:p>
        </p:txBody>
      </p:sp>
      <p:pic>
        <p:nvPicPr>
          <p:cNvPr id="225" name="Google Shape;2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000" y="712925"/>
            <a:ext cx="3678600" cy="47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000" y="1704076"/>
            <a:ext cx="3519300" cy="2981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AppArmor</a:t>
            </a:r>
            <a:r>
              <a:rPr lang="en"/>
              <a:t> / </a:t>
            </a:r>
            <a:r>
              <a:rPr lang="en"/>
              <a:t>SELinux</a:t>
            </a:r>
            <a:endParaRPr/>
          </a:p>
        </p:txBody>
      </p:sp>
      <p:graphicFrame>
        <p:nvGraphicFramePr>
          <p:cNvPr id="232" name="Google Shape;232;p39"/>
          <p:cNvGraphicFramePr/>
          <p:nvPr/>
        </p:nvGraphicFramePr>
        <p:xfrm>
          <a:off x="311663" y="6322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{A6A95579-DE3D-4907-B42A-BAE55390190C}</a:tableStyleId>
              </a:tblPr>
              <a:tblGrid>
                <a:gridCol w="1631300"/>
                <a:gridCol w="3168600"/>
                <a:gridCol w="3720700"/>
              </a:tblGrid>
              <a:tr h="37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AppArmor</a:t>
                      </a:r>
                      <a:endParaRPr b="1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SELinux</a:t>
                      </a:r>
                      <a:endParaRPr b="1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Принцип работы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Привязка политик к путям файлов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Привязка к контекстам безопасности: </a:t>
                      </a: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user:role:type:level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Тип политики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Профили на приложение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Типизация (TE), ролевая модель (RBAC), многоуровневая безопасность (MLS)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Режимы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блокировка и логирование без блокировки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enforcing</a:t>
                      </a: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, </a:t>
                      </a: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permissive</a:t>
                      </a: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, </a:t>
                      </a: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disabled</a:t>
                      </a: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 — глобально или по домену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Сложность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Низкий порог входа, профили читаемы человеком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Высокая гибкость, но крутая кривая обучения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Требования к ФС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 требует расширенных атрибутов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Требует поддержки extended attributes (ext4, XFS и др.)</a:t>
                      </a:r>
                      <a:endParaRPr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39"/>
          <p:cNvSpPr txBox="1"/>
          <p:nvPr/>
        </p:nvSpPr>
        <p:spPr>
          <a:xfrm>
            <a:off x="311675" y="4774200"/>
            <a:ext cx="484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Руководство для начинающих по SELinux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AppArmor / SELinux</a:t>
            </a:r>
            <a:endParaRPr/>
          </a:p>
        </p:txBody>
      </p:sp>
      <p:sp>
        <p:nvSpPr>
          <p:cNvPr id="239" name="Google Shape;239;p40"/>
          <p:cNvSpPr txBox="1"/>
          <p:nvPr>
            <p:ph idx="1" type="body"/>
          </p:nvPr>
        </p:nvSpPr>
        <p:spPr>
          <a:xfrm>
            <a:off x="311700" y="572700"/>
            <a:ext cx="354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AppArmor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/usr/sbin/tcpdump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capability net_raw,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network raw,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/usr/sbin/tcpdump r,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@{HOME}/** rw,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40"/>
          <p:cNvSpPr txBox="1"/>
          <p:nvPr>
            <p:ph idx="2" type="body"/>
          </p:nvPr>
        </p:nvSpPr>
        <p:spPr>
          <a:xfrm>
            <a:off x="3856200" y="572700"/>
            <a:ext cx="497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SELinux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require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type tcpdump_t;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type tcpdump_exec_t;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type user_home_t;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class capability { net_raw 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class rawip_socket { create ioctl read write 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class file { read write open create 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allow tcpdump_t self:capability net_raw;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allow tcpdump_t self:rawip_socket { create ioctl read write 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allow tcpdump_t tcpdump_exec_t:file { read open 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allow tcpdump_t user_home_t:file { read write open create 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Capabilities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46" name="Google Shape;246;p41"/>
          <p:cNvSpPr txBox="1"/>
          <p:nvPr>
            <p:ph idx="1" type="body"/>
          </p:nvPr>
        </p:nvSpPr>
        <p:spPr>
          <a:xfrm>
            <a:off x="311700" y="560525"/>
            <a:ext cx="3999900" cy="4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Inheritable — наследуемые дочерними процессами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Permitted — доступные для использования (одноразово)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Effective — применимые в данный момент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Bounding — доступные для использования (многоразово)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Ambient — аналогично Inheritable, но для непривилегированных пользователей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247" name="Google Shape;247;p41"/>
          <p:cNvGraphicFramePr/>
          <p:nvPr/>
        </p:nvGraphicFramePr>
        <p:xfrm>
          <a:off x="4311600" y="56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{751DA2F5-FCEF-492F-8DFC-3ABC802F4878}</a:tableStyleId>
              </a:tblPr>
              <a:tblGrid>
                <a:gridCol w="2275500"/>
                <a:gridCol w="2244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CAP_MAC_OVERRIDE</a:t>
                      </a:r>
                      <a:endParaRPr sz="1200">
                        <a:solidFill>
                          <a:srgbClr val="3C3C4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</a:rPr>
                        <a:t>Менять MAC адрес</a:t>
                      </a:r>
                      <a:endParaRPr sz="1200">
                        <a:solidFill>
                          <a:srgbClr val="3C3C43"/>
                        </a:solidFill>
                      </a:endParaRPr>
                    </a:p>
                  </a:txBody>
                  <a:tcPr marT="76200" marB="76200" marR="152400" marL="1524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CAP_AUDIT_WRITE</a:t>
                      </a:r>
                      <a:endParaRPr sz="1200">
                        <a:solidFill>
                          <a:srgbClr val="3C3C4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</a:rPr>
                        <a:t>Писать в логи аудита ядра</a:t>
                      </a:r>
                      <a:endParaRPr sz="1200">
                        <a:solidFill>
                          <a:srgbClr val="3C3C43"/>
                        </a:solidFill>
                      </a:endParaRPr>
                    </a:p>
                  </a:txBody>
                  <a:tcPr marT="76200" marB="76200" marR="152400" marL="1524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CAP_CHOWN</a:t>
                      </a:r>
                      <a:endParaRPr sz="1200">
                        <a:solidFill>
                          <a:srgbClr val="3C3C4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</a:rPr>
                        <a:t>Делать chown</a:t>
                      </a:r>
                      <a:endParaRPr sz="1200">
                        <a:solidFill>
                          <a:srgbClr val="3C3C43"/>
                        </a:solidFill>
                      </a:endParaRPr>
                    </a:p>
                  </a:txBody>
                  <a:tcPr marT="76200" marB="76200" marR="152400" marL="1524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CAP_SETUID/CAP_SETGID</a:t>
                      </a:r>
                      <a:endParaRPr sz="1200">
                        <a:solidFill>
                          <a:srgbClr val="3C3C4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</a:rPr>
                        <a:t>Изменять UID/GID</a:t>
                      </a:r>
                      <a:endParaRPr sz="1200">
                        <a:solidFill>
                          <a:srgbClr val="3C3C43"/>
                        </a:solidFill>
                      </a:endParaRPr>
                    </a:p>
                  </a:txBody>
                  <a:tcPr marT="76200" marB="76200" marR="152400" marL="1524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CAP_NET_RAW</a:t>
                      </a:r>
                      <a:endParaRPr sz="1200">
                        <a:solidFill>
                          <a:srgbClr val="3C3C4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</a:rPr>
                        <a:t>Открывать сырые сокеты</a:t>
                      </a:r>
                      <a:endParaRPr sz="1200">
                        <a:solidFill>
                          <a:srgbClr val="3C3C43"/>
                        </a:solidFill>
                      </a:endParaRPr>
                    </a:p>
                  </a:txBody>
                  <a:tcPr marT="76200" marB="76200" marR="152400" marL="1524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CAP_NET_BIND_SERVICE</a:t>
                      </a:r>
                      <a:endParaRPr sz="1200">
                        <a:solidFill>
                          <a:srgbClr val="3C3C4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</a:rPr>
                        <a:t>Слушать сокет на привилегированном порту</a:t>
                      </a:r>
                      <a:endParaRPr sz="1200">
                        <a:solidFill>
                          <a:srgbClr val="3C3C43"/>
                        </a:solidFill>
                      </a:endParaRPr>
                    </a:p>
                  </a:txBody>
                  <a:tcPr marT="76200" marB="76200" marR="152400" marL="1524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CAP_SYS_BOOT</a:t>
                      </a:r>
                      <a:endParaRPr sz="1200">
                        <a:solidFill>
                          <a:srgbClr val="3C3C4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C3C43"/>
                          </a:solidFill>
                        </a:rPr>
                        <a:t>Перезагружать систему</a:t>
                      </a:r>
                      <a:endParaRPr sz="1200">
                        <a:solidFill>
                          <a:srgbClr val="3C3C43"/>
                        </a:solidFill>
                      </a:endParaRPr>
                    </a:p>
                  </a:txBody>
                  <a:tcPr marT="76200" marB="76200" marR="152400" marL="152400"/>
                </a:tc>
              </a:tr>
            </a:tbl>
          </a:graphicData>
        </a:graphic>
      </p:graphicFrame>
      <p:sp>
        <p:nvSpPr>
          <p:cNvPr id="248" name="Google Shape;248;p41"/>
          <p:cNvSpPr txBox="1"/>
          <p:nvPr/>
        </p:nvSpPr>
        <p:spPr>
          <a:xfrm>
            <a:off x="4311600" y="3392097"/>
            <a:ext cx="4644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root@TyVik-XPS:~# cat /proc/$$/status | grep Cap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CapInh:	0000000000000000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CapPrm:	000001ffffffffff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CapEff:	000001ffffffffff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CapBnd:	000001ffffffffff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CapAmb:	0000000000000000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getcap / setcap</a:t>
            </a:r>
            <a:endParaRPr/>
          </a:p>
        </p:txBody>
      </p:sp>
      <p:sp>
        <p:nvSpPr>
          <p:cNvPr id="254" name="Google Shape;254;p42"/>
          <p:cNvSpPr txBox="1"/>
          <p:nvPr>
            <p:ph idx="1" type="body"/>
          </p:nvPr>
        </p:nvSpPr>
        <p:spPr>
          <a:xfrm>
            <a:off x="233100" y="572700"/>
            <a:ext cx="8520600" cy="41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 python3 -m http.server 80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Traceback (most recent call last):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File "/usr/lib/python3.12/socketserver.py", line 473, in server_bind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self.socket.bind(self.server_address)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PermissionError: [Errno 13] Permission denied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 ls -l $(pyenv which python3)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lrwxrwxrwx 1 root root 10 Nov 12 15:15 /usr/bin/python3 -&gt; python3.12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 sudo getcap /usr/bin/python3.12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 sudo setcap 'cap_net_bind_service=+ep' /usr/bin/python3.12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 sudo getcap /usr/bin/python3.12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/usr/bin/python3.12 cap_net_bind_service=ep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 python3 -m http.server 80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Serving HTTP on 0.0.0.0 port 80 (http://0.0.0.0:80/) ...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Наследование capabilities</a:t>
            </a:r>
            <a:endParaRPr/>
          </a:p>
        </p:txBody>
      </p:sp>
      <p:pic>
        <p:nvPicPr>
          <p:cNvPr id="260" name="Google Shape;260;p43" title="capability-rules_hu6f76cc0b78ddf276da9384b9c7ad3758_47230_1280x0_resize_q95_h2_lancz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363" y="471600"/>
            <a:ext cx="6255274" cy="46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Разграничение прав</a:t>
            </a:r>
            <a:endParaRPr/>
          </a:p>
        </p:txBody>
      </p:sp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311700" y="801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rwxrwxrwx – классические POSIX (+ACL)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AppArmor/SELinux – мандатный доступ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lsattr – атрибуты файла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capabilities – современные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72" name="Google Shape;272;p45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