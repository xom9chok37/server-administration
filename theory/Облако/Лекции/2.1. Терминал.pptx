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43993B-629D-433A-BE6F-542F982FBB8D}">
  <a:tblStyle styleId="{0043993B-629D-433A-BE6F-542F982FBB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jlevy/the-art-of-command-line/blob/master/README-ru.md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37156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gexcrossword.com/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afee4ea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6afee4e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https://github.com/jlevy/the-art-of-command-line/blob/master/README-ru.md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Различие в подходе GUI и CLI.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https://habr.com/ru/company/ruvds/blog/589245/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a2af72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a2af72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терминалом и шеллом. Команда tty.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e412aef7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e412aef7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сделать свой shell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https://habr.com/ru/post/537156/</a:t>
            </a:r>
            <a:r>
              <a:rPr lang="en"/>
              <a:t>. Оболочек может быть несколько, как и ядер: ll /boot, uname -a.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a07fb5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a07fb5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8b68211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8b68211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7dc8d7f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7dc8d7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Одна утилита, но делает это хорошо.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595cbc5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595cbc5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a07fb5fe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a07fb5fe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07fb5fe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07fb5fe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a07fb5fe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a07fb5fe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e412aef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e412aef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a07fb5fe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a07fb5fe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a07fb5f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a07fb5f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 без аргументов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a07fb5fe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a07fb5fe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6afee4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6afee4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https://catonmat.net/ftp/bash-redirections-cheat-sheet.pdf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a2af7206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a2af7206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echo $PATH | sed -e "s/:/\n/g"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вывод LC_TIME="ru_RU.UTF8" date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a2af720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a2af720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Программа через cron может иметь другие переменные окружения.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https://blog.flowblok.id.au/2013-02/shell-startup-scripts.html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a3c917d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a3c917d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aa3c917d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aa3c917d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t</a:t>
            </a:r>
            <a:r>
              <a:rPr lang="en"/>
              <a:t>ype 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 -&gt; Ctrl+Alt+E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1aed39ec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1aed39ec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1aed39ec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1aed39ec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https://regexcrossword.com/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 в больших файлах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cb7a676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cb7a67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a218144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a218144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vimtutor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https://habr.com/ru/companies/alfa/articles/885408/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a218144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a218144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работает над потоком байт, tar сохраняет права доступа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- де-факто стандарт в интернете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ba218144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ba218144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Есть ещё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https://habr.com/ru/company/skillfactory/blog/656423/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cb7a6763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cb7a6763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cb7a676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cb7a676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1aed39ec0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f1aed39ec0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4cbae43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4cbae43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9fa5b5f4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b9fa5b5f4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br.com/ru/post/157283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hmyz.sh/" TargetMode="External"/><Relationship Id="rId4" Type="http://schemas.openxmlformats.org/officeDocument/2006/relationships/hyperlink" Target="https://www.educba.com/zsh-vs-bash/" TargetMode="External"/><Relationship Id="rId5" Type="http://schemas.openxmlformats.org/officeDocument/2006/relationships/hyperlink" Target="https://habr.com/ru/post/326580/" TargetMode="External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hyperlink" Target="https://cheatography.com/davechild/cheat-sheets/linux-command-line/" TargetMode="External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hyperlink" Target="https://habr.com/ru/post/452410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habr.com/ru/post/553000/" TargetMode="External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nvbn/thefuck" TargetMode="External"/><Relationship Id="rId4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625750"/>
            <a:ext cx="8520600" cy="9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Терминал</a:t>
            </a:r>
            <a:endParaRPr/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575" y="1629500"/>
            <a:ext cx="4118842" cy="32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Terminal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875" y="2156925"/>
            <a:ext cx="3538250" cy="279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9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45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1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37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6"/>
          <p:cNvCxnSpPr>
            <a:stCxn id="107" idx="2"/>
            <a:endCxn id="106" idx="0"/>
          </p:cNvCxnSpPr>
          <p:nvPr/>
        </p:nvCxnSpPr>
        <p:spPr>
          <a:xfrm flipH="1" rot="-5400000">
            <a:off x="2893687" y="478600"/>
            <a:ext cx="606600" cy="27498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6"/>
          <p:cNvCxnSpPr>
            <a:stCxn id="108" idx="2"/>
            <a:endCxn id="106" idx="0"/>
          </p:cNvCxnSpPr>
          <p:nvPr/>
        </p:nvCxnSpPr>
        <p:spPr>
          <a:xfrm flipH="1" rot="-5400000">
            <a:off x="3741087" y="1325800"/>
            <a:ext cx="606600" cy="10554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6"/>
          <p:cNvCxnSpPr>
            <a:stCxn id="109" idx="2"/>
            <a:endCxn id="106" idx="0"/>
          </p:cNvCxnSpPr>
          <p:nvPr/>
        </p:nvCxnSpPr>
        <p:spPr>
          <a:xfrm rot="5400000">
            <a:off x="4588337" y="1533850"/>
            <a:ext cx="606600" cy="6393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26"/>
          <p:cNvCxnSpPr>
            <a:stCxn id="110" idx="2"/>
            <a:endCxn id="106" idx="0"/>
          </p:cNvCxnSpPr>
          <p:nvPr/>
        </p:nvCxnSpPr>
        <p:spPr>
          <a:xfrm rot="5400000">
            <a:off x="5435587" y="686500"/>
            <a:ext cx="606600" cy="23340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sh - оригинальный Bourne shell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ksh - Korn shell (AIX, HP-UX)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fish - friendly interactive shell (не POSIX)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bash - Bourne again shell (linux)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zsh - Z shell (macOS)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ash - Almquist shell (alpine, busybox)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196800" y="4459925"/>
            <a:ext cx="27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https://habr.com/ru/post/157283/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оболочками</a:t>
            </a:r>
            <a:endParaRPr/>
          </a:p>
        </p:txBody>
      </p:sp>
      <p:graphicFrame>
        <p:nvGraphicFramePr>
          <p:cNvPr id="127" name="Google Shape;127;p28"/>
          <p:cNvGraphicFramePr/>
          <p:nvPr/>
        </p:nvGraphicFramePr>
        <p:xfrm>
          <a:off x="634800" y="7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{0043993B-629D-433A-BE6F-542F982FBB8D}</a:tableStyleId>
              </a:tblPr>
              <a:tblGrid>
                <a:gridCol w="1968600"/>
                <a:gridCol w="1968600"/>
                <a:gridCol w="1968600"/>
                <a:gridCol w="1968600"/>
              </a:tblGrid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bash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zsh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псевдонимы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история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редактирование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rlwrap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автодополнение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минимальное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плагины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фоновые задачи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7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кастомизация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сложно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zsh</a:t>
            </a:r>
            <a:endParaRPr/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4055450"/>
            <a:ext cx="85206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https://ohmyz.sh/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https://www.educba.com/zsh-vs-bash/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https://habr.com/ru/post/326580/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6538" y="560525"/>
            <a:ext cx="6370925" cy="32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sp>
        <p:nvSpPr>
          <p:cNvPr id="140" name="Google Shape;140;p30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 -T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</a:t>
            </a:r>
            <a:r>
              <a:rPr lang="en" sz="2400"/>
              <a:t> </a:t>
            </a:r>
            <a:r>
              <a:rPr lang="en" sz="2400">
                <a:solidFill>
                  <a:srgbClr val="E69138"/>
                </a:solidFill>
              </a:rPr>
              <a:t>--all --inode --tabsize=3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полная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find </a:t>
            </a:r>
            <a:r>
              <a:rPr lang="en" sz="2400">
                <a:solidFill>
                  <a:srgbClr val="3D85C6"/>
                </a:solidFill>
              </a:rPr>
              <a:t>-name "*.pl"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.</a:t>
            </a:r>
            <a:r>
              <a:rPr lang="en" sz="2400"/>
              <a:t> | xargs </a:t>
            </a:r>
            <a:r>
              <a:rPr lang="en" sz="2400">
                <a:solidFill>
                  <a:srgbClr val="E69138"/>
                </a:solidFill>
              </a:rPr>
              <a:t>--verbose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tar</a:t>
            </a:r>
            <a:r>
              <a:rPr lang="en" sz="2400"/>
              <a:t> </a:t>
            </a:r>
            <a:r>
              <a:rPr lang="en" sz="2400">
                <a:solidFill>
                  <a:srgbClr val="3D85C6"/>
                </a:solidFill>
              </a:rPr>
              <a:t>-zcf pl.tar.gz</a:t>
            </a:r>
            <a:endParaRPr sz="24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к</a:t>
            </a:r>
            <a:r>
              <a:rPr lang="en" sz="2400"/>
              <a:t>оманда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400"/>
              <a:buChar char="-"/>
            </a:pPr>
            <a:r>
              <a:rPr lang="en" sz="2400">
                <a:solidFill>
                  <a:srgbClr val="3D85C6"/>
                </a:solidFill>
              </a:rPr>
              <a:t>с</a:t>
            </a:r>
            <a:r>
              <a:rPr lang="en" sz="2400">
                <a:solidFill>
                  <a:srgbClr val="3D85C6"/>
                </a:solidFill>
              </a:rPr>
              <a:t>окращённые </a:t>
            </a:r>
            <a:r>
              <a:rPr lang="en" sz="2400">
                <a:solidFill>
                  <a:srgbClr val="3D85C6"/>
                </a:solidFill>
              </a:rPr>
              <a:t>ключи (флаги, опции)</a:t>
            </a:r>
            <a:endParaRPr sz="2400">
              <a:solidFill>
                <a:srgbClr val="3D85C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Char char="-"/>
            </a:pPr>
            <a:r>
              <a:rPr lang="en" sz="2400">
                <a:solidFill>
                  <a:srgbClr val="FF9900"/>
                </a:solidFill>
              </a:rPr>
              <a:t>полные ключи</a:t>
            </a:r>
            <a:endParaRPr sz="2400">
              <a:solidFill>
                <a:srgbClr val="FF99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Char char="-"/>
            </a:pPr>
            <a:r>
              <a:rPr lang="en" sz="2400">
                <a:solidFill>
                  <a:srgbClr val="6AA84F"/>
                </a:solidFill>
              </a:rPr>
              <a:t>аргументы</a:t>
            </a:r>
            <a:endParaRPr sz="24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5851440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Навигация по каталогам</a:t>
            </a:r>
            <a:endParaRPr/>
          </a:p>
        </p:txBody>
      </p:sp>
      <p:sp>
        <p:nvSpPr>
          <p:cNvPr id="152" name="Google Shape;152;p3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Текущий каталог (</a:t>
            </a:r>
            <a:r>
              <a:rPr b="1" lang="en" sz="1500"/>
              <a:t>p</a:t>
            </a:r>
            <a:r>
              <a:rPr lang="en" sz="1500"/>
              <a:t>resent </a:t>
            </a:r>
            <a:r>
              <a:rPr b="1" lang="en" sz="1500"/>
              <a:t>w</a:t>
            </a:r>
            <a:r>
              <a:rPr lang="en" sz="1500"/>
              <a:t>orking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pwd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Сменить каталог (</a:t>
            </a:r>
            <a:r>
              <a:rPr b="1" lang="en" sz="1500"/>
              <a:t>c</a:t>
            </a:r>
            <a:r>
              <a:rPr lang="en" sz="1500"/>
              <a:t>hange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/var/log  </a:t>
            </a:r>
            <a:r>
              <a:rPr lang="en" sz="1500">
                <a:solidFill>
                  <a:srgbClr val="999999"/>
                </a:solidFill>
              </a:rPr>
              <a:t># абсолютный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home     </a:t>
            </a:r>
            <a:r>
              <a:rPr lang="en" sz="1500">
                <a:solidFill>
                  <a:srgbClr val="999999"/>
                </a:solidFill>
              </a:rPr>
              <a:t># относительный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..            </a:t>
            </a:r>
            <a:r>
              <a:rPr lang="en" sz="1500">
                <a:solidFill>
                  <a:srgbClr val="999999"/>
                </a:solidFill>
              </a:rPr>
              <a:t># выйти на каталог выше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-             </a:t>
            </a:r>
            <a:r>
              <a:rPr lang="en" sz="1500">
                <a:solidFill>
                  <a:srgbClr val="999999"/>
                </a:solidFill>
              </a:rPr>
              <a:t># вернуться в предыдущий каталог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Содержимое каталога (</a:t>
            </a:r>
            <a:r>
              <a:rPr b="1" lang="en" sz="1500"/>
              <a:t>l</a:t>
            </a:r>
            <a:r>
              <a:rPr lang="en" sz="1500"/>
              <a:t>i</a:t>
            </a:r>
            <a:r>
              <a:rPr b="1" lang="en" sz="1500"/>
              <a:t>s</a:t>
            </a:r>
            <a:r>
              <a:rPr lang="en" sz="1500"/>
              <a:t>t):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      </a:t>
            </a:r>
            <a:r>
              <a:rPr lang="en" sz="1500">
                <a:solidFill>
                  <a:srgbClr val="999999"/>
                </a:solidFill>
              </a:rPr>
              <a:t># списком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-la  </a:t>
            </a:r>
            <a:r>
              <a:rPr lang="en" sz="1500">
                <a:solidFill>
                  <a:srgbClr val="999999"/>
                </a:solidFill>
              </a:rPr>
              <a:t># с дополнительной информацией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Создать каталог (</a:t>
            </a:r>
            <a:r>
              <a:rPr b="1" lang="en" sz="1500"/>
              <a:t>m</a:t>
            </a:r>
            <a:r>
              <a:rPr lang="en" sz="1500"/>
              <a:t>a</a:t>
            </a:r>
            <a:r>
              <a:rPr b="1" lang="en" sz="1500"/>
              <a:t>k</a:t>
            </a:r>
            <a:r>
              <a:rPr lang="en" sz="1500"/>
              <a:t>e </a:t>
            </a:r>
            <a:r>
              <a:rPr b="1" lang="en" sz="1500"/>
              <a:t>dir</a:t>
            </a:r>
            <a:r>
              <a:rPr lang="en" sz="1500"/>
              <a:t>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mkdir newdirectory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Удалить каталог (</a:t>
            </a:r>
            <a:r>
              <a:rPr b="1" lang="en" sz="1500">
                <a:solidFill>
                  <a:schemeClr val="dk1"/>
                </a:solidFill>
              </a:rPr>
              <a:t>r</a:t>
            </a:r>
            <a:r>
              <a:rPr lang="en" sz="1500">
                <a:solidFill>
                  <a:schemeClr val="dk1"/>
                </a:solidFill>
              </a:rPr>
              <a:t>e</a:t>
            </a:r>
            <a:r>
              <a:rPr b="1" lang="en" sz="1500">
                <a:solidFill>
                  <a:schemeClr val="dk1"/>
                </a:solidFill>
              </a:rPr>
              <a:t>m</a:t>
            </a:r>
            <a:r>
              <a:rPr lang="en" sz="1500">
                <a:solidFill>
                  <a:schemeClr val="dk1"/>
                </a:solidFill>
              </a:rPr>
              <a:t>ove </a:t>
            </a:r>
            <a:r>
              <a:rPr b="1" lang="en" sz="1500">
                <a:solidFill>
                  <a:schemeClr val="dk1"/>
                </a:solidFill>
              </a:rPr>
              <a:t>dir</a:t>
            </a:r>
            <a:r>
              <a:rPr lang="en" sz="1500">
                <a:solidFill>
                  <a:schemeClr val="dk1"/>
                </a:solidFill>
              </a:rPr>
              <a:t>ectory):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$ rmdir newdirectory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файлами</a:t>
            </a:r>
            <a:endParaRPr/>
          </a:p>
        </p:txBody>
      </p:sp>
      <p:sp>
        <p:nvSpPr>
          <p:cNvPr id="158" name="Google Shape;158;p3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файл: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touch newfile.txt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Копировать файл (</a:t>
            </a:r>
            <a:r>
              <a:rPr b="1" lang="en" sz="1800"/>
              <a:t>c</a:t>
            </a:r>
            <a:r>
              <a:rPr lang="en" sz="1800"/>
              <a:t>o</a:t>
            </a:r>
            <a:r>
              <a:rPr b="1" lang="en" sz="1800"/>
              <a:t>p</a:t>
            </a:r>
            <a:r>
              <a:rPr lang="en" sz="1800"/>
              <a:t>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cp /etc/passwd /var/log  </a:t>
            </a:r>
            <a:r>
              <a:rPr lang="en">
                <a:solidFill>
                  <a:srgbClr val="B7B7B7"/>
                </a:solidFill>
              </a:rPr>
              <a:t># копирует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Переместить файл (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</a:t>
            </a:r>
            <a:r>
              <a:rPr b="1" lang="en" sz="1800">
                <a:solidFill>
                  <a:schemeClr val="dk1"/>
                </a:solidFill>
              </a:rPr>
              <a:t>v</a:t>
            </a:r>
            <a:r>
              <a:rPr lang="en" sz="1800">
                <a:solidFill>
                  <a:schemeClr val="dk1"/>
                </a:solidFill>
              </a:rPr>
              <a:t>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mv /etc/passwd /var/log  </a:t>
            </a:r>
            <a:r>
              <a:rPr lang="en">
                <a:solidFill>
                  <a:srgbClr val="B7B7B7"/>
                </a:solidFill>
              </a:rPr>
              <a:t># перемещает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Удалить файл (</a:t>
            </a:r>
            <a:r>
              <a:rPr b="1" lang="en" sz="1800">
                <a:solidFill>
                  <a:schemeClr val="dk1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e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ove):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rm /etc/passwd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Создать ссылку (</a:t>
            </a:r>
            <a:r>
              <a:rPr b="1" lang="en" sz="1800">
                <a:solidFill>
                  <a:schemeClr val="dk1"/>
                </a:solidFill>
              </a:rPr>
              <a:t>l</a:t>
            </a:r>
            <a:r>
              <a:rPr lang="en" sz="1800">
                <a:solidFill>
                  <a:schemeClr val="dk1"/>
                </a:solidFill>
              </a:rPr>
              <a:t>i</a:t>
            </a:r>
            <a:r>
              <a:rPr b="1" lang="en" sz="1800">
                <a:solidFill>
                  <a:schemeClr val="dk1"/>
                </a:solidFill>
              </a:rPr>
              <a:t>n</a:t>
            </a:r>
            <a:r>
              <a:rPr lang="en" sz="1800">
                <a:solidFill>
                  <a:schemeClr val="dk1"/>
                </a:solidFill>
              </a:rPr>
              <a:t>k):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ln passwd /etc/passwd  </a:t>
            </a:r>
            <a:r>
              <a:rPr lang="en">
                <a:solidFill>
                  <a:srgbClr val="B7B7B7"/>
                </a:solidFill>
              </a:rPr>
              <a:t># создаёт симлинк в каталоге /etc/ на файл passwd в текущем каталоге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Содержимое файлов</a:t>
            </a:r>
            <a:endParaRPr/>
          </a:p>
        </p:txBody>
      </p:sp>
      <p:sp>
        <p:nvSpPr>
          <p:cNvPr id="164" name="Google Shape;164;p34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Вывести всё содержимое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Подогнать содержимое файла под экран: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more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less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Прочитать начало или конец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head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tail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Редактирование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nano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vim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</a:t>
            </a:r>
            <a:endParaRPr/>
          </a:p>
        </p:txBody>
      </p:sp>
      <p:sp>
        <p:nvSpPr>
          <p:cNvPr id="170" name="Google Shape;170;p35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man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tldr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--help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&lt;tab&gt;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71" name="Google Shape;1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82350"/>
            <a:ext cx="3990150" cy="14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1700700" y="4589600"/>
            <a:ext cx="57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https://cheatography.com/davechild/cheat-sheets/linux-command-line/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475" y="560525"/>
            <a:ext cx="4420826" cy="3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Операторы</a:t>
            </a:r>
            <a:endParaRPr/>
          </a:p>
        </p:txBody>
      </p:sp>
      <p:sp>
        <p:nvSpPr>
          <p:cNvPr id="179" name="Google Shape;179;p36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-la; pwd;  </a:t>
            </a:r>
            <a:r>
              <a:rPr lang="en" sz="1600">
                <a:solidFill>
                  <a:srgbClr val="999999"/>
                </a:solidFill>
              </a:rPr>
              <a:t># сначала выполнится ls -la, а после её завершения pwd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sleep 1 &amp;&amp;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||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sleep 1 ||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НЕуспешного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cd /home &amp; pwd &amp;  </a:t>
            </a:r>
            <a:r>
              <a:rPr lang="en" sz="1600">
                <a:solidFill>
                  <a:srgbClr val="999999"/>
                </a:solidFill>
              </a:rPr>
              <a:t># команды выполнятся параллельно каждая в своём процессе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|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ls -la | grep txt  </a:t>
            </a:r>
            <a:r>
              <a:rPr lang="en" sz="1600">
                <a:solidFill>
                  <a:srgbClr val="999999"/>
                </a:solidFill>
              </a:rPr>
              <a:t># перенаправить вывод ls -la в ввод grep txt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Потоки ввода-вывода</a:t>
            </a:r>
            <a:endParaRPr/>
          </a:p>
        </p:txBody>
      </p:sp>
      <p:sp>
        <p:nvSpPr>
          <p:cNvPr id="185" name="Google Shape;185;p37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0. /dev/stdin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/dev/stdout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/dev/stderr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-l 1&gt; dir.txt  </a:t>
            </a:r>
            <a:r>
              <a:rPr lang="en" sz="2000">
                <a:solidFill>
                  <a:srgbClr val="999999"/>
                </a:solidFill>
              </a:rPr>
              <a:t># полный формат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$ ls -l 2&gt;&amp;1 &gt; dir.txt  </a:t>
            </a:r>
            <a:r>
              <a:rPr lang="en" sz="2000">
                <a:solidFill>
                  <a:srgbClr val="999999"/>
                </a:solidFill>
              </a:rPr>
              <a:t># объединить stderr с stdout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-l &gt; dir.txt  </a:t>
            </a:r>
            <a:r>
              <a:rPr lang="en" sz="2000">
                <a:solidFill>
                  <a:srgbClr val="999999"/>
                </a:solidFill>
              </a:rPr>
              <a:t># запишет вывод ls в файл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$ ls -l &gt;&gt; dir.txt  </a:t>
            </a:r>
            <a:r>
              <a:rPr lang="en" sz="2000">
                <a:solidFill>
                  <a:srgbClr val="999999"/>
                </a:solidFill>
              </a:rPr>
              <a:t># добавит вывод ls в файл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wc -w &lt; dir.txt  </a:t>
            </a:r>
            <a:r>
              <a:rPr lang="en" sz="2000">
                <a:solidFill>
                  <a:srgbClr val="999999"/>
                </a:solidFill>
              </a:rPr>
              <a:t># получить на вход wc данные из файла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Пример: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echo 'export PS1="\u$"' &gt;&gt; ~/.bashrc &amp;&amp; source ~/.bashrc</a:t>
            </a:r>
            <a:endParaRPr sz="2000"/>
          </a:p>
        </p:txBody>
      </p:sp>
      <p:pic>
        <p:nvPicPr>
          <p:cNvPr id="186" name="Google Shape;1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00" y="560513"/>
            <a:ext cx="60960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|</a:t>
            </a:r>
            <a:endParaRPr/>
          </a:p>
        </p:txBody>
      </p:sp>
      <p:sp>
        <p:nvSpPr>
          <p:cNvPr id="192" name="Google Shape;192;p38"/>
          <p:cNvSpPr txBox="1"/>
          <p:nvPr/>
        </p:nvSpPr>
        <p:spPr>
          <a:xfrm>
            <a:off x="311700" y="2236925"/>
            <a:ext cx="8520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cat os.txt | grep linux | wc -l</a:t>
            </a:r>
            <a:endParaRPr sz="2400"/>
          </a:p>
        </p:txBody>
      </p:sp>
      <p:sp>
        <p:nvSpPr>
          <p:cNvPr id="193" name="Google Shape;193;p38"/>
          <p:cNvSpPr txBox="1"/>
          <p:nvPr/>
        </p:nvSpPr>
        <p:spPr>
          <a:xfrm>
            <a:off x="311625" y="3306900"/>
            <a:ext cx="17499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4" name="Google Shape;194;p38"/>
          <p:cNvSpPr txBox="1"/>
          <p:nvPr/>
        </p:nvSpPr>
        <p:spPr>
          <a:xfrm>
            <a:off x="3697025" y="3306900"/>
            <a:ext cx="1749900" cy="104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7082431" y="3306900"/>
            <a:ext cx="17499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96" name="Google Shape;196;p38"/>
          <p:cNvCxnSpPr>
            <a:endCxn id="194" idx="1"/>
          </p:cNvCxnSpPr>
          <p:nvPr/>
        </p:nvCxnSpPr>
        <p:spPr>
          <a:xfrm flipH="1" rot="10800000">
            <a:off x="2038025" y="3830250"/>
            <a:ext cx="1659000" cy="21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8"/>
          <p:cNvCxnSpPr>
            <a:stCxn id="194" idx="3"/>
            <a:endCxn id="195" idx="1"/>
          </p:cNvCxnSpPr>
          <p:nvPr/>
        </p:nvCxnSpPr>
        <p:spPr>
          <a:xfrm flipH="1" rot="10800000">
            <a:off x="5446925" y="3507150"/>
            <a:ext cx="1635600" cy="3231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38"/>
          <p:cNvSpPr txBox="1"/>
          <p:nvPr/>
        </p:nvSpPr>
        <p:spPr>
          <a:xfrm>
            <a:off x="311700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cat os.txt</a:t>
            </a:r>
            <a:endParaRPr sz="1600"/>
          </a:p>
        </p:txBody>
      </p:sp>
      <p:sp>
        <p:nvSpPr>
          <p:cNvPr id="199" name="Google Shape;199;p38"/>
          <p:cNvSpPr txBox="1"/>
          <p:nvPr/>
        </p:nvSpPr>
        <p:spPr>
          <a:xfrm>
            <a:off x="3697025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grep linux</a:t>
            </a:r>
            <a:endParaRPr sz="1600"/>
          </a:p>
        </p:txBody>
      </p:sp>
      <p:sp>
        <p:nvSpPr>
          <p:cNvPr id="200" name="Google Shape;200;p38"/>
          <p:cNvSpPr txBox="1"/>
          <p:nvPr/>
        </p:nvSpPr>
        <p:spPr>
          <a:xfrm>
            <a:off x="7082350" y="2848950"/>
            <a:ext cx="174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wc -l</a:t>
            </a:r>
            <a:endParaRPr/>
          </a:p>
        </p:txBody>
      </p:sp>
      <p:sp>
        <p:nvSpPr>
          <p:cNvPr id="201" name="Google Shape;201;p38"/>
          <p:cNvSpPr txBox="1"/>
          <p:nvPr/>
        </p:nvSpPr>
        <p:spPr>
          <a:xfrm>
            <a:off x="311675" y="606325"/>
            <a:ext cx="2424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Заменяет: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cat os.txt &gt;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wc -l &lt;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$ rm tmpfile</a:t>
            </a:r>
            <a:endParaRPr sz="1900"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25" y="606325"/>
            <a:ext cx="60960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Перенаправление</a:t>
            </a:r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TCP-сокет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cat &lt; /dev/tcp/geopuzzle.org/22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SSH-2.0-OpenSSH_9.0p1 Ubuntu-1ubuntu8.5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# exec 5&lt;&gt;/dev/tcp/ya.ru/80 &amp;&amp; echo -e "GET / HTTP/1.1\nhost: ya.ru\n\n" &gt;&amp;5 &amp;&amp; cat &lt;&amp;5 | head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Объединение вывода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{ ls dir1; ls dir2; } | wc -l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Подмена процессов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diff &lt;(ls dir1) &lt;(ls dir2)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&lt; test1.txt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---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&gt; test2.txt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Переменные окружения</a:t>
            </a:r>
            <a:endParaRPr/>
          </a:p>
        </p:txBody>
      </p:sp>
      <p:sp>
        <p:nvSpPr>
          <p:cNvPr id="214" name="Google Shape;214;p40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Shell variables vs environment variables: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оболочки - определяется в текущем процессе и не наследуется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окружения - наследуется при вызовах, необходимо экспортировать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Правила определения: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 (Только в верхнем регистре, вокруг = нет пробелов)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KEY=”Hello world” (Если есть пробелы, то должны быть кавычки)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KEY=value1:value2 (Значения разделяются двоеточием)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все переменные: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env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значение: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$TEST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“${TEST} world”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Установить значение переменной окружения: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highlight>
                  <a:srgbClr val="FFFF00"/>
                </a:highlight>
              </a:rPr>
              <a:t>$ export TEST=value</a:t>
            </a:r>
            <a:endParaRPr i="1" sz="15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переменных окружения</a:t>
            </a:r>
            <a:endParaRPr/>
          </a:p>
        </p:txBody>
      </p:sp>
      <p:sp>
        <p:nvSpPr>
          <p:cNvPr id="220" name="Google Shape;220;p41"/>
          <p:cNvSpPr txBox="1"/>
          <p:nvPr/>
        </p:nvSpPr>
        <p:spPr>
          <a:xfrm>
            <a:off x="311700" y="560525"/>
            <a:ext cx="533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Определение переменных окружения: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/etc/environment -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/etc/profile -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/etc/bash.bashrc - системные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~/.bashrc - каждый раз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~/.bash_profile или ~/.profile - каждый раз при логине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Перечитать из файла: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source .bashrc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050" y="560525"/>
            <a:ext cx="2936250" cy="39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1"/>
          <p:cNvSpPr txBox="1"/>
          <p:nvPr/>
        </p:nvSpPr>
        <p:spPr>
          <a:xfrm>
            <a:off x="3180300" y="4522925"/>
            <a:ext cx="2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https://habr.com/ru/post/452410/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228" name="Google Shape;228;p4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История команд: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~/.bash_history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Поиск по истории: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Ctrl+R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h</a:t>
            </a:r>
            <a:r>
              <a:rPr lang="en" sz="2400"/>
              <a:t>istory | grep “...”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Выполнить команду: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!! - предыдущую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!123 - с номером 123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</p:txBody>
      </p:sp>
      <p:sp>
        <p:nvSpPr>
          <p:cNvPr id="234" name="Google Shape;234;p4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la='ls -A'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ll='ls -alF'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ls='ls --color=auto'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sl="ls"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apt='sudo apt'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gerp=grep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type ll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ll is aliased to `ls -alF'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40" name="Google Shape;240;p44"/>
          <p:cNvSpPr txBox="1"/>
          <p:nvPr>
            <p:ph idx="1" type="body"/>
          </p:nvPr>
        </p:nvSpPr>
        <p:spPr>
          <a:xfrm>
            <a:off x="311700" y="695275"/>
            <a:ext cx="8520600" cy="4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Tue 23 Feb 2021 06:31:53 PM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Mon 22 Feb 2021 12:00:00 AM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 +%F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2021-02-22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 +%Z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"+%M:%S"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 строк (grep)</a:t>
            </a:r>
            <a:endParaRPr/>
          </a:p>
        </p:txBody>
      </p:sp>
      <p:sp>
        <p:nvSpPr>
          <p:cNvPr id="246" name="Google Shape;246;p45"/>
          <p:cNvSpPr txBox="1"/>
          <p:nvPr/>
        </p:nvSpPr>
        <p:spPr>
          <a:xfrm>
            <a:off x="311700" y="560525"/>
            <a:ext cx="4683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root root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3 root root      4096 Nov 20  2019 mnt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drwx------  17 root root      4096 Nov 29 11:55 root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root root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13 root root      4096 Dec 14 12:38 var</a:t>
            </a:r>
            <a:endParaRPr sz="1600"/>
          </a:p>
        </p:txBody>
      </p:sp>
      <p:sp>
        <p:nvSpPr>
          <p:cNvPr id="247" name="Google Shape;247;p45"/>
          <p:cNvSpPr txBox="1"/>
          <p:nvPr/>
        </p:nvSpPr>
        <p:spPr>
          <a:xfrm>
            <a:off x="355075" y="3154925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-E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48" name="Google Shape;248;p45"/>
          <p:cNvSpPr txBox="1"/>
          <p:nvPr/>
        </p:nvSpPr>
        <p:spPr>
          <a:xfrm>
            <a:off x="4622275" y="3154925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 / | egrep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49" name="Google Shape;249;p45"/>
          <p:cNvSpPr txBox="1"/>
          <p:nvPr/>
        </p:nvSpPr>
        <p:spPr>
          <a:xfrm>
            <a:off x="5847575" y="560525"/>
            <a:ext cx="299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grep ivpn .bash_history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ivpn connect -city Paris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</a:t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find /home -atime 10 -maxdepth 1 -name “*.txt”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atime - время доступа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name - имя файла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maxdepth - глубина поиска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</a:t>
            </a:r>
            <a:endParaRPr/>
          </a:p>
        </p:txBody>
      </p:sp>
      <p:pic>
        <p:nvPicPr>
          <p:cNvPr id="261" name="Google Shape;2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8125"/>
            <a:ext cx="8839197" cy="310969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7"/>
          <p:cNvSpPr txBox="1"/>
          <p:nvPr/>
        </p:nvSpPr>
        <p:spPr>
          <a:xfrm>
            <a:off x="4610825" y="3678775"/>
            <a:ext cx="432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:wq - выход с сохранением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:q! - выход без сохранения</a:t>
            </a:r>
            <a:endParaRPr sz="2600"/>
          </a:p>
        </p:txBody>
      </p:sp>
      <p:pic>
        <p:nvPicPr>
          <p:cNvPr id="263" name="Google Shape;26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45850"/>
            <a:ext cx="3268908" cy="14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Архивация</a:t>
            </a:r>
            <a:endParaRPr/>
          </a:p>
        </p:txBody>
      </p:sp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311700" y="695275"/>
            <a:ext cx="42603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 - без сжатия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.tar.gz, .tar.gzip - gzip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.tar.bz2, .tar.bzip2 - bzip2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0" name="Google Shape;2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95344"/>
            <a:ext cx="4572000" cy="11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8"/>
          <p:cNvSpPr txBox="1"/>
          <p:nvPr/>
        </p:nvSpPr>
        <p:spPr>
          <a:xfrm>
            <a:off x="398950" y="2179925"/>
            <a:ext cx="2412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>
                <a:solidFill>
                  <a:srgbClr val="BF9000"/>
                </a:solidFill>
              </a:rPr>
              <a:t>tar</a:t>
            </a:r>
            <a:r>
              <a:rPr lang="en" sz="1600"/>
              <a:t> </a:t>
            </a:r>
            <a:r>
              <a:rPr lang="en" sz="1600">
                <a:solidFill>
                  <a:srgbClr val="38761D"/>
                </a:solidFill>
              </a:rPr>
              <a:t>zcvf dst.tar.gz</a:t>
            </a:r>
            <a:r>
              <a:rPr lang="en" sz="1600"/>
              <a:t> </a:t>
            </a:r>
            <a:r>
              <a:rPr lang="en" sz="1600">
                <a:solidFill>
                  <a:srgbClr val="1155CC"/>
                </a:solidFill>
              </a:rPr>
              <a:t>src/</a:t>
            </a:r>
            <a:endParaRPr sz="1600">
              <a:solidFill>
                <a:srgbClr val="1155CC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z</a:t>
            </a:r>
            <a:r>
              <a:rPr lang="en" sz="1600"/>
              <a:t> - gzip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c</a:t>
            </a:r>
            <a:r>
              <a:rPr lang="en" sz="1600"/>
              <a:t> - create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v</a:t>
            </a:r>
            <a:r>
              <a:rPr lang="en" sz="1600"/>
              <a:t> - verbose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f</a:t>
            </a:r>
            <a:r>
              <a:rPr lang="en" sz="1600"/>
              <a:t> - filename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x</a:t>
            </a:r>
            <a:r>
              <a:rPr lang="en" sz="1600"/>
              <a:t> - extract</a:t>
            </a:r>
            <a:endParaRPr sz="1600"/>
          </a:p>
        </p:txBody>
      </p:sp>
      <p:sp>
        <p:nvSpPr>
          <p:cNvPr id="272" name="Google Shape;272;p48"/>
          <p:cNvSpPr txBox="1"/>
          <p:nvPr/>
        </p:nvSpPr>
        <p:spPr>
          <a:xfrm>
            <a:off x="2811175" y="3094325"/>
            <a:ext cx="618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pg_dump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&gt; dump.sql.gz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Восстановление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-dc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dump.sql.gz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psql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endParaRPr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 cron</a:t>
            </a:r>
            <a:endParaRPr/>
          </a:p>
        </p:txBody>
      </p:sp>
      <p:sp>
        <p:nvSpPr>
          <p:cNvPr id="278" name="Google Shape;278;p49"/>
          <p:cNvSpPr txBox="1"/>
          <p:nvPr/>
        </p:nvSpPr>
        <p:spPr>
          <a:xfrm>
            <a:off x="311700" y="492600"/>
            <a:ext cx="8520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crontab -e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10-15</a:t>
            </a:r>
            <a:r>
              <a:rPr lang="en" sz="1800"/>
              <a:t> </a:t>
            </a:r>
            <a:r>
              <a:rPr lang="en" sz="1800">
                <a:solidFill>
                  <a:srgbClr val="F6B26B"/>
                </a:solidFill>
              </a:rPr>
              <a:t>*</a:t>
            </a:r>
            <a:r>
              <a:rPr lang="en" sz="1800"/>
              <a:t> </a:t>
            </a:r>
            <a:r>
              <a:rPr lang="en" sz="1800">
                <a:solidFill>
                  <a:srgbClr val="6AA84F"/>
                </a:solidFill>
              </a:rPr>
              <a:t>2-31/2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Jun,Aug</a:t>
            </a:r>
            <a:r>
              <a:rPr lang="en" sz="1800"/>
              <a:t> </a:t>
            </a:r>
            <a:r>
              <a:rPr lang="en" sz="1800">
                <a:solidFill>
                  <a:srgbClr val="674EA7"/>
                </a:solidFill>
              </a:rPr>
              <a:t>*</a:t>
            </a:r>
            <a:r>
              <a:rPr lang="en" sz="1800"/>
              <a:t> /home/student/bin/script3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-"/>
            </a:pPr>
            <a:r>
              <a:rPr lang="en" sz="1800">
                <a:solidFill>
                  <a:srgbClr val="FF0000"/>
                </a:solidFill>
              </a:rPr>
              <a:t>минуты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lang="en" sz="1800">
                <a:solidFill>
                  <a:srgbClr val="FF9900"/>
                </a:solidFill>
              </a:rPr>
              <a:t>часы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-"/>
            </a:pPr>
            <a:r>
              <a:rPr lang="en" sz="1800">
                <a:solidFill>
                  <a:srgbClr val="6AA84F"/>
                </a:solidFill>
              </a:rPr>
              <a:t>дни</a:t>
            </a:r>
            <a:endParaRPr sz="1800"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Char char="-"/>
            </a:pPr>
            <a:r>
              <a:rPr lang="en" sz="1800">
                <a:solidFill>
                  <a:srgbClr val="3C78D8"/>
                </a:solidFill>
              </a:rPr>
              <a:t>месяц</a:t>
            </a:r>
            <a:endParaRPr sz="1800">
              <a:solidFill>
                <a:srgbClr val="3C78D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-"/>
            </a:pPr>
            <a:r>
              <a:rPr lang="en" sz="1800">
                <a:solidFill>
                  <a:srgbClr val="674EA7"/>
                </a:solidFill>
              </a:rPr>
              <a:t>день недели</a:t>
            </a:r>
            <a:endParaRPr sz="1800">
              <a:solidFill>
                <a:srgbClr val="674EA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команда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xargs </a:t>
            </a:r>
            <a:endParaRPr/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lang="en">
                <a:solidFill>
                  <a:srgbClr val="FF9900"/>
                </a:solidFill>
              </a:rPr>
              <a:t>find . -name "*.pl"</a:t>
            </a:r>
            <a:r>
              <a:rPr lang="en">
                <a:solidFill>
                  <a:schemeClr val="dk1"/>
                </a:solidFill>
              </a:rPr>
              <a:t> | xargs </a:t>
            </a:r>
            <a:r>
              <a:rPr lang="en">
                <a:solidFill>
                  <a:srgbClr val="00FF00"/>
                </a:solidFill>
              </a:rPr>
              <a:t>--verbose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FF"/>
                </a:solidFill>
              </a:rPr>
              <a:t>tar -zcf pl.tar.gz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rgbClr val="FF9900"/>
                </a:solidFill>
              </a:rPr>
              <a:t>команда генератор списка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опции xargs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команда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5" name="Google Shape;285;p50"/>
          <p:cNvSpPr txBox="1"/>
          <p:nvPr/>
        </p:nvSpPr>
        <p:spPr>
          <a:xfrm>
            <a:off x="311800" y="2792550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$ find examples/ -name "*.sh" -printf "%f\n"| xargs -t -L1 -I {} cp examples/{} 1/{}.bak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Отправка сообщений пользователям</a:t>
            </a:r>
            <a:endParaRPr/>
          </a:p>
        </p:txBody>
      </p:sp>
      <p:pic>
        <p:nvPicPr>
          <p:cNvPr id="291" name="Google Shape;29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3090575"/>
            <a:ext cx="62674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1"/>
          <p:cNvSpPr txBox="1"/>
          <p:nvPr/>
        </p:nvSpPr>
        <p:spPr>
          <a:xfrm>
            <a:off x="311700" y="56052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who -T - кто работает в системе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write &lt;кому&gt; &lt;terminal&gt; - отправить сообщение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Современные утилиты</a:t>
            </a:r>
            <a:endParaRPr/>
          </a:p>
        </p:txBody>
      </p:sp>
      <p:sp>
        <p:nvSpPr>
          <p:cNvPr id="298" name="Google Shape;298;p52"/>
          <p:cNvSpPr txBox="1"/>
          <p:nvPr/>
        </p:nvSpPr>
        <p:spPr>
          <a:xfrm>
            <a:off x="3130050" y="4608750"/>
            <a:ext cx="288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https://habr.com/ru/post/553000/</a:t>
            </a:r>
            <a:endParaRPr/>
          </a:p>
        </p:txBody>
      </p:sp>
      <p:pic>
        <p:nvPicPr>
          <p:cNvPr id="299" name="Google Shape;29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49" y="572700"/>
            <a:ext cx="7763302" cy="421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Принципы работы cli-программ</a:t>
            </a:r>
            <a:endParaRPr/>
          </a:p>
        </p:txBody>
      </p:sp>
      <p:pic>
        <p:nvPicPr>
          <p:cNvPr id="305" name="Google Shape;3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399" y="587363"/>
            <a:ext cx="6468450" cy="39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3"/>
          <p:cNvSpPr txBox="1"/>
          <p:nvPr/>
        </p:nvSpPr>
        <p:spPr>
          <a:xfrm>
            <a:off x="2280825" y="4681800"/>
            <a:ext cx="42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https://habr.com/ru/articles/867114/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Fuck</a:t>
            </a:r>
            <a:endParaRPr/>
          </a:p>
        </p:txBody>
      </p:sp>
      <p:sp>
        <p:nvSpPr>
          <p:cNvPr id="312" name="Google Shape;312;p54"/>
          <p:cNvSpPr txBox="1"/>
          <p:nvPr/>
        </p:nvSpPr>
        <p:spPr>
          <a:xfrm>
            <a:off x="311700" y="4457725"/>
            <a:ext cx="852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https://github.com/nvbn/thefuck</a:t>
            </a:r>
            <a:endParaRPr/>
          </a:p>
        </p:txBody>
      </p:sp>
      <p:pic>
        <p:nvPicPr>
          <p:cNvPr id="313" name="Google Shape;31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925" y="766763"/>
            <a:ext cx="653415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