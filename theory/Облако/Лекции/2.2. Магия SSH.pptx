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834D02-C6F7-4A6D-B6B6-85582E22A5C1}">
  <a:tblStyle styleId="{A6834D02-C6F7-4A6D-B6B6-85582E22A5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1" Type="http://schemas.openxmlformats.org/officeDocument/2006/relationships/hyperlink" Target="https://habr.com/ru/company/itsumma/blog/459558/" TargetMode="External"/><Relationship Id="rId10" Type="http://schemas.openxmlformats.org/officeDocument/2006/relationships/hyperlink" Target="https://habr.com/ru/company/redhatrussia/blog/430748/" TargetMode="External"/><Relationship Id="rId13" Type="http://schemas.openxmlformats.org/officeDocument/2006/relationships/hyperlink" Target="https://habr.com/ru/company/vdsina/blog/503148/" TargetMode="External"/><Relationship Id="rId12" Type="http://schemas.openxmlformats.org/officeDocument/2006/relationships/hyperlink" Target="https://habr.com/ru/post/122445/" TargetMode="External"/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company/ruvds/blog/523872/" TargetMode="External"/><Relationship Id="rId3" Type="http://schemas.openxmlformats.org/officeDocument/2006/relationships/hyperlink" Target="https://habr.com/ru/company/ruvds/blog/532988/" TargetMode="External"/><Relationship Id="rId4" Type="http://schemas.openxmlformats.org/officeDocument/2006/relationships/hyperlink" Target="https://habr.com/ru/company/otus/blog/459598/" TargetMode="External"/><Relationship Id="rId9" Type="http://schemas.openxmlformats.org/officeDocument/2006/relationships/hyperlink" Target="https://habr.com/ru/company/otus/blog/417957/" TargetMode="External"/><Relationship Id="rId5" Type="http://schemas.openxmlformats.org/officeDocument/2006/relationships/hyperlink" Target="https://habr.com/ru/company/otus/blog/460387/" TargetMode="External"/><Relationship Id="rId6" Type="http://schemas.openxmlformats.org/officeDocument/2006/relationships/hyperlink" Target="https://habr.com/ru/company/otus/blog/484896/" TargetMode="External"/><Relationship Id="rId7" Type="http://schemas.openxmlformats.org/officeDocument/2006/relationships/hyperlink" Target="https://habr.com/ru/post/332886/" TargetMode="External"/><Relationship Id="rId8" Type="http://schemas.openxmlformats.org/officeDocument/2006/relationships/hyperlink" Target="https://habr.com/ru/post/322904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company/ruvds/blog/520752/" TargetMode="External"/><Relationship Id="rId3" Type="http://schemas.openxmlformats.org/officeDocument/2006/relationships/hyperlink" Target="https://losst.ru/podklyuchenie-i-nastrojka-sshfs-v-linux" TargetMode="Externa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company/selectel/blog/209130/" TargetMode="External"/><Relationship Id="rId3" Type="http://schemas.openxmlformats.org/officeDocument/2006/relationships/hyperlink" Target="https://habr.com/ru/post/516488/" TargetMode="External"/><Relationship Id="rId4" Type="http://schemas.openxmlformats.org/officeDocument/2006/relationships/hyperlink" Target="https://habr.com/ru/post/32763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https://habr.com/ru/company/ruvds/blog/523872/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https://habr.com/ru/company/ruvds/blog/532988/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https://habr.com/ru/company/otus/blog/459598/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https://habr.com/ru/company/otus/blog/460387/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https://habr.com/ru/company/otus/blog/484896/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0097A7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https://habr.com/ru/post/332886/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0097A7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https://habr.com/ru/post/322904/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9"/>
              </a:rPr>
              <a:t>https://habr.com/ru/company/otus/blog/417957/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10"/>
              </a:rPr>
              <a:t>https://habr.com/ru/company/redhatrussia/blog/430748/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11"/>
              </a:rPr>
              <a:t>https://habr.com/ru/company/itsumma/blog/459558/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12"/>
              </a:rPr>
              <a:t>https://habr.com/ru/post/122445/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rgbClr val="0097A7"/>
                </a:solidFill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https://habr.com/ru/company/vdsina/blog/503148/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https://habr.com/ru/company/ruvds/blog/676596/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https://habr.com/ru/companies/flant/articles/691388/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https://habr.com/ru/articles/747080/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c584a0d4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c584a0d4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c45912b1e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c45912b1e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45912b1e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45912b1e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45912b1e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45912b1e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45912b1e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45912b1e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45912b1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c45912b1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c45912b1e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c45912b1e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c45912b1e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c45912b1e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https://habr.com/ru/company/ruvds/blog/520752/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https://losst.ru/podklyuchenie-i-nastrojka-sshfs-v-linux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c45912b1e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c45912b1e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Подключиться к бд GeoPuzzle с локального ноута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c45912b1e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c45912b1e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c45912b1e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c45912b1e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c45912b1e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c45912b1e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https://habr.com/ru/company/selectel/blog/209130/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https://habr.com/ru/post/516488/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https://habr.com/ru/post/327630/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habr.com/ru/post/335906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Магия SSH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Подключение по ssh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311700" y="572700"/>
            <a:ext cx="72084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</a:t>
            </a:r>
            <a:r>
              <a:rPr lang="en" sz="1800">
                <a:solidFill>
                  <a:srgbClr val="FF0000"/>
                </a:solidFill>
              </a:rPr>
              <a:t>ssh</a:t>
            </a:r>
            <a:r>
              <a:rPr lang="en" sz="1800"/>
              <a:t> </a:t>
            </a:r>
            <a:r>
              <a:rPr lang="en" sz="1800">
                <a:solidFill>
                  <a:srgbClr val="FF9900"/>
                </a:solidFill>
              </a:rPr>
              <a:t>-v</a:t>
            </a:r>
            <a:r>
              <a:rPr lang="en" sz="1800"/>
              <a:t> </a:t>
            </a:r>
            <a:r>
              <a:rPr lang="en" sz="1800">
                <a:solidFill>
                  <a:srgbClr val="00FF00"/>
                </a:solidFill>
              </a:rPr>
              <a:t>tyvik</a:t>
            </a:r>
            <a:r>
              <a:rPr lang="en" sz="1800"/>
              <a:t>@</a:t>
            </a:r>
            <a:r>
              <a:rPr lang="en" sz="1800">
                <a:solidFill>
                  <a:srgbClr val="0000FF"/>
                </a:solidFill>
              </a:rPr>
              <a:t>geopuzzle.org </a:t>
            </a:r>
            <a:r>
              <a:rPr lang="en" sz="1800">
                <a:solidFill>
                  <a:srgbClr val="9900FF"/>
                </a:solidFill>
              </a:rPr>
              <a:t>ls -la</a:t>
            </a:r>
            <a:endParaRPr sz="1800">
              <a:solidFill>
                <a:srgbClr val="99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s</a:t>
            </a:r>
            <a:r>
              <a:rPr lang="en" sz="1800">
                <a:solidFill>
                  <a:srgbClr val="FF0000"/>
                </a:solidFill>
              </a:rPr>
              <a:t>sh</a:t>
            </a:r>
            <a:r>
              <a:rPr lang="en" sz="1800">
                <a:solidFill>
                  <a:schemeClr val="dk1"/>
                </a:solidFill>
              </a:rPr>
              <a:t> - команда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rgbClr val="FF9900"/>
                </a:solidFill>
              </a:rPr>
              <a:t>-v</a:t>
            </a:r>
            <a:r>
              <a:rPr lang="en" sz="1800">
                <a:solidFill>
                  <a:schemeClr val="dk1"/>
                </a:solidFill>
              </a:rPr>
              <a:t> - аргументы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rgbClr val="00FF00"/>
                </a:solidFill>
              </a:rPr>
              <a:t>tyvik</a:t>
            </a:r>
            <a:r>
              <a:rPr lang="en" sz="1800">
                <a:solidFill>
                  <a:schemeClr val="dk1"/>
                </a:solidFill>
              </a:rPr>
              <a:t> - имя пользователя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rgbClr val="0000FF"/>
                </a:solidFill>
              </a:rPr>
              <a:t>geopuzzle.org</a:t>
            </a:r>
            <a:r>
              <a:rPr lang="en" sz="1800">
                <a:solidFill>
                  <a:schemeClr val="dk1"/>
                </a:solidFill>
              </a:rPr>
              <a:t> - имя компьютера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rgbClr val="9900FF"/>
                </a:solidFill>
              </a:rPr>
              <a:t>ls -la</a:t>
            </a:r>
            <a:r>
              <a:rPr lang="en" sz="1800">
                <a:solidFill>
                  <a:schemeClr val="dk1"/>
                </a:solidFill>
              </a:rPr>
              <a:t> - команда для выполнения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~/.ssh/config</a:t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311700" y="572700"/>
            <a:ext cx="7208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Host home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HostName example.com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User tyvik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Port 4567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LogLevel INFO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ServerAliveInterval 120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ForwardAgent yes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ForwardX11 yes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IdentityFile ~/.ssh/id_rsa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Настройка ssh клиента</a:t>
            </a:r>
            <a:endParaRPr/>
          </a:p>
        </p:txBody>
      </p:sp>
      <p:sp>
        <p:nvSpPr>
          <p:cNvPr id="73" name="Google Shape;73;p16"/>
          <p:cNvSpPr txBox="1"/>
          <p:nvPr/>
        </p:nvSpPr>
        <p:spPr>
          <a:xfrm>
            <a:off x="311700" y="572700"/>
            <a:ext cx="7208400" cy="43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tyvik@TyVik-XPS:~/test/ssh$ </a:t>
            </a: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ssh-keygen -t rsa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Generating public/private rsa key pair.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Enter file in which to save the key (/home/tyvik/.ssh/id_rsa): </a:t>
            </a: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key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Enter passphrase (empty for no passphrase):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Enter same passphrase again: 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Your identification has been saved in </a:t>
            </a: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key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Your public key has been saved in </a:t>
            </a: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key.pub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The key fingerprint is: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Courier New"/>
                <a:ea typeface="Courier New"/>
                <a:cs typeface="Courier New"/>
                <a:sym typeface="Courier New"/>
              </a:rPr>
              <a:t>SHA256:uKp5kovlfp0UZasbwapcjtPhvEZblKvlJvAo/VOhjGY tyvik@TyVik-XPS</a:t>
            </a:r>
            <a:endParaRPr b="1"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The key's randomart image is: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+---[RSA 3072]----+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          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        o 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     . + .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      B.. 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   o +.*S 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  E B O.  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 =.# @.+  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|.+X.#.*   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|.o*X+=           |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Courier New"/>
                <a:ea typeface="Courier New"/>
                <a:cs typeface="Courier New"/>
                <a:sym typeface="Courier New"/>
              </a:rPr>
              <a:t>+----[SHA256]-----+</a:t>
            </a:r>
            <a:endParaRPr sz="13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Открытый и закрытый ключ</a:t>
            </a:r>
            <a:endParaRPr/>
          </a:p>
        </p:txBody>
      </p:sp>
      <p:sp>
        <p:nvSpPr>
          <p:cNvPr id="79" name="Google Shape;79;p17"/>
          <p:cNvSpPr txBox="1"/>
          <p:nvPr/>
        </p:nvSpPr>
        <p:spPr>
          <a:xfrm>
            <a:off x="311700" y="572700"/>
            <a:ext cx="8520600" cy="738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cat key.pub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ssh-rsa AAAAB3NzaC1yc2EAAAAD … TsRX0vE= tyvik@TyVik-XPS</a:t>
            </a:r>
            <a:endParaRPr sz="1800"/>
          </a:p>
        </p:txBody>
      </p:sp>
      <p:sp>
        <p:nvSpPr>
          <p:cNvPr id="80" name="Google Shape;80;p17"/>
          <p:cNvSpPr txBox="1"/>
          <p:nvPr/>
        </p:nvSpPr>
        <p:spPr>
          <a:xfrm>
            <a:off x="311700" y="1582625"/>
            <a:ext cx="8520600" cy="1847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cat key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-----BEGIN OPENSSH PRIVATE KEY-----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b3BlbnNzaC1rZXktdjEAAAAABG5vbmUAAAAEbm9uZQAAAAAAAAABAAAAHJ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...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bZYIsW15ijERkAAAAPdHl2aWtAVHlWaWstWFBTAQIDBA==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-----END OPENSSH PRIVATE KEY-----</a:t>
            </a:r>
            <a:endParaRPr sz="1800"/>
          </a:p>
        </p:txBody>
      </p:sp>
      <p:sp>
        <p:nvSpPr>
          <p:cNvPr id="81" name="Google Shape;81;p17"/>
          <p:cNvSpPr txBox="1"/>
          <p:nvPr/>
        </p:nvSpPr>
        <p:spPr>
          <a:xfrm>
            <a:off x="311700" y="4323250"/>
            <a:ext cx="555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</a:t>
            </a:r>
            <a:r>
              <a:rPr lang="en" sz="1800"/>
              <a:t> ssh-copy-id -i ~/.ssh/key.pub user@host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Современная криптография</a:t>
            </a:r>
            <a:endParaRPr/>
          </a:p>
        </p:txBody>
      </p:sp>
      <p:sp>
        <p:nvSpPr>
          <p:cNvPr id="87" name="Google Shape;87;p18"/>
          <p:cNvSpPr txBox="1"/>
          <p:nvPr/>
        </p:nvSpPr>
        <p:spPr>
          <a:xfrm>
            <a:off x="311700" y="572700"/>
            <a:ext cx="4260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DSA - только подпись, зависит от хеш-функции SHA-*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DH - позволяет передать симметричный ключ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RSA - шифрование и подпись</a:t>
            </a:r>
            <a:endParaRPr sz="1800"/>
          </a:p>
        </p:txBody>
      </p:sp>
      <p:graphicFrame>
        <p:nvGraphicFramePr>
          <p:cNvPr id="88" name="Google Shape;88;p18"/>
          <p:cNvGraphicFramePr/>
          <p:nvPr/>
        </p:nvGraphicFramePr>
        <p:xfrm>
          <a:off x="4917225" y="239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{A6834D02-C6F7-4A6D-B6B6-85582E22A5C1}</a:tableStyleId>
              </a:tblPr>
              <a:tblGrid>
                <a:gridCol w="1269225"/>
                <a:gridCol w="1269225"/>
              </a:tblGrid>
              <a:tr h="253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RSA</a:t>
                      </a:r>
                      <a:endParaRPr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Elliptic Curve</a:t>
                      </a:r>
                      <a:endParaRPr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1024</a:t>
                      </a:r>
                      <a:endParaRPr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160</a:t>
                      </a:r>
                      <a:endParaRPr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2048</a:t>
                      </a:r>
                      <a:endParaRPr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224</a:t>
                      </a:r>
                      <a:endParaRPr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3072</a:t>
                      </a:r>
                      <a:endParaRPr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256</a:t>
                      </a:r>
                      <a:endParaRPr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7680</a:t>
                      </a:r>
                      <a:endParaRPr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384</a:t>
                      </a:r>
                      <a:endParaRPr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15360</a:t>
                      </a:r>
                      <a:endParaRPr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222222"/>
                          </a:solidFill>
                          <a:highlight>
                            <a:srgbClr val="FFFFFF"/>
                          </a:highlight>
                        </a:rPr>
                        <a:t>512</a:t>
                      </a:r>
                      <a:endParaRPr>
                        <a:solidFill>
                          <a:srgbClr val="222222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57150" marB="85725" marR="114300" marL="114300">
                    <a:lnL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DD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" name="Google Shape;89;p18"/>
          <p:cNvSpPr txBox="1"/>
          <p:nvPr/>
        </p:nvSpPr>
        <p:spPr>
          <a:xfrm>
            <a:off x="2658048" y="4579325"/>
            <a:ext cx="28179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https://habr.com/ru/post/335906/</a:t>
            </a:r>
            <a:r>
              <a:rPr lang="en"/>
              <a:t> </a:t>
            </a:r>
            <a:endParaRPr/>
          </a:p>
        </p:txBody>
      </p:sp>
      <p:sp>
        <p:nvSpPr>
          <p:cNvPr id="90" name="Google Shape;90;p18"/>
          <p:cNvSpPr txBox="1"/>
          <p:nvPr/>
        </p:nvSpPr>
        <p:spPr>
          <a:xfrm>
            <a:off x="6015263" y="1930050"/>
            <a:ext cx="161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Длина ключа</a:t>
            </a:r>
            <a:endParaRPr sz="1800"/>
          </a:p>
        </p:txBody>
      </p:sp>
      <p:sp>
        <p:nvSpPr>
          <p:cNvPr id="91" name="Google Shape;91;p18"/>
          <p:cNvSpPr txBox="1"/>
          <p:nvPr/>
        </p:nvSpPr>
        <p:spPr>
          <a:xfrm>
            <a:off x="4572000" y="572700"/>
            <a:ext cx="4260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ECDH - Диффи-Хелман на эллиптических кривых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ECDSA - верификация на эллиптических кривых</a:t>
            </a:r>
            <a:endParaRPr sz="1800"/>
          </a:p>
        </p:txBody>
      </p:sp>
      <p:sp>
        <p:nvSpPr>
          <p:cNvPr id="92" name="Google Shape;92;p18"/>
          <p:cNvSpPr txBox="1"/>
          <p:nvPr/>
        </p:nvSpPr>
        <p:spPr>
          <a:xfrm>
            <a:off x="405300" y="2509025"/>
            <a:ext cx="4260300" cy="20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22222"/>
                </a:solidFill>
                <a:highlight>
                  <a:srgbClr val="FFFFFF"/>
                </a:highlight>
              </a:rPr>
              <a:t>Алгоритмы для получения сессионного ключа:</a:t>
            </a:r>
            <a:endParaRPr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83A42"/>
                </a:solidFill>
                <a:highlight>
                  <a:srgbClr val="FBFDFF"/>
                </a:highlight>
              </a:rPr>
              <a:t>$ ssh -Q kex</a:t>
            </a:r>
            <a:endParaRPr>
              <a:solidFill>
                <a:srgbClr val="383A42"/>
              </a:solidFill>
              <a:highlight>
                <a:srgbClr val="FBFD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  <a:highlight>
                  <a:srgbClr val="FFFFFF"/>
                </a:highlight>
              </a:rPr>
              <a:t>Симметричные ключи для шифрования канала:</a:t>
            </a:r>
            <a:endParaRPr>
              <a:solidFill>
                <a:schemeClr val="dk1"/>
              </a:solidFill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383A42"/>
                </a:solidFill>
                <a:highlight>
                  <a:srgbClr val="FBFDFF"/>
                </a:highlight>
              </a:rPr>
              <a:t>$ ssh -Q cipher</a:t>
            </a:r>
            <a:endParaRPr>
              <a:solidFill>
                <a:srgbClr val="383A42"/>
              </a:solidFill>
              <a:highlight>
                <a:srgbClr val="FBFD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222222"/>
                </a:solidFill>
                <a:highlight>
                  <a:srgbClr val="FFFFFF"/>
                </a:highlight>
              </a:rPr>
              <a:t>Ключи для авторизации у клиента:</a:t>
            </a:r>
            <a:endParaRPr>
              <a:solidFill>
                <a:schemeClr val="dk1"/>
              </a:solidFill>
            </a:endParaRPr>
          </a:p>
          <a:p>
            <a:pPr indent="0" lvl="0" marL="0" marR="190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3A42"/>
                </a:solidFill>
                <a:highlight>
                  <a:srgbClr val="FBFDFF"/>
                </a:highlight>
              </a:rPr>
              <a:t>$ ssh -Q key-cert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scp</a:t>
            </a:r>
            <a:endParaRPr/>
          </a:p>
        </p:txBody>
      </p:sp>
      <p:sp>
        <p:nvSpPr>
          <p:cNvPr id="98" name="Google Shape;98;p19"/>
          <p:cNvSpPr txBox="1"/>
          <p:nvPr/>
        </p:nvSpPr>
        <p:spPr>
          <a:xfrm>
            <a:off x="311700" y="572700"/>
            <a:ext cx="8520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scp </a:t>
            </a:r>
            <a:r>
              <a:rPr lang="en" sz="1800">
                <a:solidFill>
                  <a:srgbClr val="FF0000"/>
                </a:solidFill>
              </a:rPr>
              <a:t>~/file</a:t>
            </a:r>
            <a:r>
              <a:rPr lang="en" sz="1800"/>
              <a:t> </a:t>
            </a:r>
            <a:r>
              <a:rPr lang="en" sz="1800">
                <a:solidFill>
                  <a:srgbClr val="38761D"/>
                </a:solidFill>
              </a:rPr>
              <a:t>user@host</a:t>
            </a:r>
            <a:r>
              <a:rPr lang="en" sz="1800"/>
              <a:t>:</a:t>
            </a:r>
            <a:r>
              <a:rPr lang="en" sz="1800">
                <a:solidFill>
                  <a:srgbClr val="0B5394"/>
                </a:solidFill>
              </a:rPr>
              <a:t>/home/user/dst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~/file</a:t>
            </a:r>
            <a:r>
              <a:rPr lang="en" sz="1800">
                <a:solidFill>
                  <a:schemeClr val="dk1"/>
                </a:solidFill>
              </a:rPr>
              <a:t> - локальный файл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rgbClr val="38761D"/>
                </a:solidFill>
              </a:rPr>
              <a:t>user@host</a:t>
            </a:r>
            <a:r>
              <a:rPr lang="en" sz="1800">
                <a:solidFill>
                  <a:schemeClr val="dk1"/>
                </a:solidFill>
              </a:rPr>
              <a:t> - удалённый компьютер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rgbClr val="0B5394"/>
                </a:solidFill>
              </a:rPr>
              <a:t>/home/user/dst</a:t>
            </a:r>
            <a:r>
              <a:rPr lang="en" sz="1800">
                <a:solidFill>
                  <a:schemeClr val="dk1"/>
                </a:solidFill>
              </a:rPr>
              <a:t> - путь до нового файла на удалённом компьютере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311700" y="3242425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</a:t>
            </a:r>
            <a:r>
              <a:rPr lang="en" sz="1800"/>
              <a:t> </a:t>
            </a:r>
            <a:r>
              <a:rPr lang="en" sz="1800">
                <a:solidFill>
                  <a:srgbClr val="FF0000"/>
                </a:solidFill>
              </a:rPr>
              <a:t>tar czf - /home/user/file</a:t>
            </a:r>
            <a:r>
              <a:rPr lang="en" sz="1800"/>
              <a:t> | </a:t>
            </a:r>
            <a:r>
              <a:rPr lang="en" sz="1800">
                <a:solidFill>
                  <a:srgbClr val="38761D"/>
                </a:solidFill>
              </a:rPr>
              <a:t>ssh user@host</a:t>
            </a:r>
            <a:r>
              <a:rPr lang="en" sz="1800"/>
              <a:t> </a:t>
            </a:r>
            <a:r>
              <a:rPr lang="en" sz="1800">
                <a:solidFill>
                  <a:srgbClr val="0B5394"/>
                </a:solidFill>
              </a:rPr>
              <a:t>tar -xvzf -C /home/user/dst</a:t>
            </a:r>
            <a:endParaRPr sz="1800">
              <a:solidFill>
                <a:srgbClr val="0B539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Запуск графических приложений</a:t>
            </a:r>
            <a:endParaRPr/>
          </a:p>
        </p:txBody>
      </p:sp>
      <p:sp>
        <p:nvSpPr>
          <p:cNvPr id="105" name="Google Shape;105;p20"/>
          <p:cNvSpPr txBox="1"/>
          <p:nvPr/>
        </p:nvSpPr>
        <p:spPr>
          <a:xfrm>
            <a:off x="311700" y="572700"/>
            <a:ext cx="7208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На сервере: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apt install xauth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echo "X11Forwarding yes" &gt;&gt; /etc/ssh/sshd_conf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На клиенте: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ssh -X server</a:t>
            </a:r>
            <a:endParaRPr sz="1800"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5172" y="2419800"/>
            <a:ext cx="5307127" cy="217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sshfs</a:t>
            </a:r>
            <a:endParaRPr/>
          </a:p>
        </p:txBody>
      </p:sp>
      <p:sp>
        <p:nvSpPr>
          <p:cNvPr id="112" name="Google Shape;112;p21"/>
          <p:cNvSpPr txBox="1"/>
          <p:nvPr/>
        </p:nvSpPr>
        <p:spPr>
          <a:xfrm>
            <a:off x="311700" y="572700"/>
            <a:ext cx="72084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$ sshfs -d numicoins:/home/tyvik/ /mnt/sshfs</a:t>
            </a:r>
            <a:br>
              <a:rPr lang="en" sz="1800">
                <a:solidFill>
                  <a:schemeClr val="dk1"/>
                </a:solidFill>
              </a:rPr>
            </a:br>
            <a:br>
              <a:rPr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$ fusermount -u /mnt/sshfs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Проброс туннеля</a:t>
            </a:r>
            <a:endParaRPr/>
          </a:p>
        </p:txBody>
      </p:sp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0351" y="1738075"/>
            <a:ext cx="4591950" cy="2522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 txBox="1"/>
          <p:nvPr/>
        </p:nvSpPr>
        <p:spPr>
          <a:xfrm>
            <a:off x="311700" y="572700"/>
            <a:ext cx="7208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ssh -f -N -L </a:t>
            </a:r>
            <a:r>
              <a:rPr lang="en" sz="1800">
                <a:solidFill>
                  <a:srgbClr val="38761D"/>
                </a:solidFill>
              </a:rPr>
              <a:t>3306</a:t>
            </a:r>
            <a:r>
              <a:rPr lang="en" sz="1800"/>
              <a:t>:</a:t>
            </a:r>
            <a:r>
              <a:rPr lang="en" sz="1800">
                <a:solidFill>
                  <a:srgbClr val="0000FF"/>
                </a:solidFill>
              </a:rPr>
              <a:t>192.168.0.10:3306</a:t>
            </a:r>
            <a:r>
              <a:rPr lang="en" sz="1800"/>
              <a:t> </a:t>
            </a:r>
            <a:r>
              <a:rPr lang="en" sz="1800">
                <a:solidFill>
                  <a:srgbClr val="FF0000"/>
                </a:solidFill>
              </a:rPr>
              <a:t>user@52.250.250.25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38761D"/>
                </a:solidFill>
              </a:rPr>
              <a:t>3306</a:t>
            </a:r>
            <a:r>
              <a:rPr lang="en" sz="1800"/>
              <a:t> - локальный порт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0000FF"/>
                </a:solidFill>
              </a:rPr>
              <a:t>192.168.0.10:3306</a:t>
            </a:r>
            <a:r>
              <a:rPr lang="en" sz="1800"/>
              <a:t> - адрес удалённой машины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rgbClr val="FF0000"/>
                </a:solidFill>
              </a:rPr>
              <a:t>user@52.250.250.25</a:t>
            </a:r>
            <a:r>
              <a:rPr lang="en" sz="1800"/>
              <a:t> - доступ к бастион-хосту</a:t>
            </a:r>
            <a:endParaRPr sz="1800"/>
          </a:p>
        </p:txBody>
      </p:sp>
      <p:sp>
        <p:nvSpPr>
          <p:cNvPr id="120" name="Google Shape;120;p22"/>
          <p:cNvSpPr txBox="1"/>
          <p:nvPr/>
        </p:nvSpPr>
        <p:spPr>
          <a:xfrm>
            <a:off x="311700" y="3898650"/>
            <a:ext cx="4523100" cy="1015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Host dbinstance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  Hostname </a:t>
            </a:r>
            <a:r>
              <a:rPr lang="en" sz="1800">
                <a:solidFill>
                  <a:srgbClr val="FF0000"/>
                </a:solidFill>
              </a:rPr>
              <a:t>52.250.250.25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  Localforward </a:t>
            </a:r>
            <a:r>
              <a:rPr lang="en" sz="1800">
                <a:solidFill>
                  <a:srgbClr val="38761D"/>
                </a:solidFill>
              </a:rPr>
              <a:t>3306</a:t>
            </a:r>
            <a:r>
              <a:rPr lang="en" sz="1800"/>
              <a:t> </a:t>
            </a:r>
            <a:r>
              <a:rPr lang="en" sz="1800">
                <a:solidFill>
                  <a:srgbClr val="0000FF"/>
                </a:solidFill>
              </a:rPr>
              <a:t>192.168.0.10:3306</a:t>
            </a:r>
            <a:endParaRPr sz="18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Настройка сервера ssh</a:t>
            </a:r>
            <a:endParaRPr/>
          </a:p>
        </p:txBody>
      </p:sp>
      <p:sp>
        <p:nvSpPr>
          <p:cNvPr id="126" name="Google Shape;126;p23"/>
          <p:cNvSpPr txBox="1"/>
          <p:nvPr/>
        </p:nvSpPr>
        <p:spPr>
          <a:xfrm>
            <a:off x="311700" y="572700"/>
            <a:ext cx="72084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 22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PermitRootLogin 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PasswordAuthentication 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PubkeyAuthentication yes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AllowUsers user1, user2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Методы защиты ssh</a:t>
            </a:r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572700"/>
            <a:ext cx="72084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авторизация по ключу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отключение входа root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fail2ban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обязательное обновление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использование google-authenticator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смена дефолтного порта (?)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honeypot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ограничение по IP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port-knocking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nohup</a:t>
            </a:r>
            <a:endParaRPr/>
          </a:p>
        </p:txBody>
      </p:sp>
      <p:sp>
        <p:nvSpPr>
          <p:cNvPr id="138" name="Google Shape;138;p25"/>
          <p:cNvSpPr txBox="1"/>
          <p:nvPr/>
        </p:nvSpPr>
        <p:spPr>
          <a:xfrm>
            <a:off x="438250" y="926900"/>
            <a:ext cx="7208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Disown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tmux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