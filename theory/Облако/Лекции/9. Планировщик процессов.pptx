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980E9F-D3CD-4461-AFD2-41C945392701}">
  <a:tblStyle styleId="{E4980E9F-D3CD-4461-AFD2-41C9453927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1cf576a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1cf576a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https://hackmd.io/@wrfsh/BymP0hcbv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https://medium.com/@charles.vissol/practicing-cgroup-v2-cad6743bba0c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https://fernandovillalba.substack.com/p/a-journey-to-understand-cgroups-v2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1cf576ab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1cf576ab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1cf576ab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1cf576ab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1cf576ab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1cf576ab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1cf576ab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1cf576ab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cf576ab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1cf576ab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4829071e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4829071e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1cf576ab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1cf576ab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@startmindmap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* 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* user.slice\n\n1024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* stress\n\n2048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* docker.service\n\n1024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* system.slice\n\n1024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* calc\n\n1024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@endmindmap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1cf576ab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1cf576ab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1cf576ab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1cf576ab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1cf576ab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1cf576ab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1cf576ab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1cf576ab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1cf576ab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1cf576ab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1cf576ab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1cf576ab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c167b1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2c167b1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2c167b19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2c167b19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4829071e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4829071e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17dec35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17dec35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hyperlink" Target="https://habr.com/ru/company/wunderfund/blog/658309/" TargetMode="External"/><Relationship Id="rId5" Type="http://schemas.openxmlformats.org/officeDocument/2006/relationships/hyperlink" Target="http://www.youtube.com/watch?v=xIyKUMpRTRE" TargetMode="External"/><Relationship Id="rId6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Планировщик процессов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Отличие потоков и процессов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11700" y="56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{E4980E9F-D3CD-4461-AFD2-41C945392701}</a:tableStyleId>
              </a:tblPr>
              <a:tblGrid>
                <a:gridCol w="1458450"/>
                <a:gridCol w="3225950"/>
                <a:gridCol w="3836200"/>
              </a:tblGrid>
              <a:tr h="379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highlight>
                            <a:schemeClr val="lt1"/>
                          </a:highlight>
                        </a:rPr>
                        <a:t>Parameter</a:t>
                      </a:r>
                      <a:endParaRPr b="1"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highlight>
                            <a:schemeClr val="lt1"/>
                          </a:highlight>
                        </a:rPr>
                        <a:t>Process</a:t>
                      </a:r>
                      <a:endParaRPr b="1"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highlight>
                            <a:schemeClr val="lt1"/>
                          </a:highlight>
                        </a:rPr>
                        <a:t>Thread</a:t>
                      </a:r>
                      <a:endParaRPr b="1"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79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Execution Unit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Independent entity that can run concurrently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Lightweight unit within a process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569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Resource Usage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Has its own memory space and system resources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Shares memory space and resources with other threads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79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Creation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Created using the fork() system call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Created using the pthread_create() system call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569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Communication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Requires inter-process communication mechanisms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Enables easy sharing of data within the same process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569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Scheduling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Managed by the kernel using process scheduling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Scheduled within the context of the parent process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569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Context Switch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Involves a higher overhead due to separate processes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Involves a lower overhead due to shared resources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79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Dependency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Can have dependencies on other processes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Relies on the existence of the parent process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6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Fault Isolation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Provides strong isolation and fault tolerance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lt1"/>
                          </a:highlight>
                        </a:rPr>
                        <a:t>Lack of isolation, failure of one thread affects others</a:t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Планировщик и конкурентное программирование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560525"/>
            <a:ext cx="8520600" cy="44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en"/>
              <a:t>Своевременность</a:t>
            </a:r>
            <a:r>
              <a:rPr lang="en"/>
              <a:t>: для алгоритмов, которые позволяют пользователю устанавливать сроки для задачи, — это измеряет долю времени, когда задача не может уложиться в срок.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Накладные расходы</a:t>
            </a:r>
            <a:r>
              <a:rPr lang="en"/>
              <a:t>: доля времени, отводимая на само планирование и системные издержки из-за переключения контекста.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Предсказуемость</a:t>
            </a:r>
            <a:r>
              <a:rPr lang="en"/>
              <a:t>: выполнение одного и того же задания занимает примерно одно и то же время, независимо от нагрузки на систему.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Эффективность</a:t>
            </a:r>
            <a:r>
              <a:rPr lang="en"/>
              <a:t>: постараться занять процессор на все 100% рабочего времени, не позволяя ему простаивать в ожидании процессов, готовых к исполнению.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en"/>
              <a:t>Пропускная способность</a:t>
            </a:r>
            <a:r>
              <a:rPr lang="en"/>
              <a:t>: число задач в секунду, которые планировщик передает на выполнение.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en"/>
              <a:t>Справедливость</a:t>
            </a:r>
            <a:r>
              <a:rPr lang="en"/>
              <a:t>: при отсутствии предоставленных пользователем или системой критериев выбора, планировщик должен выделять достаточное количество ресурсов для каждой задачи.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Сбалансированность</a:t>
            </a:r>
            <a:r>
              <a:rPr lang="en"/>
              <a:t>: планировщик должен равномерно распределять нагрузку между другими системными ресурсами, такими как память, использование буфера и использование ввода-вывода.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Планировщик и конкурентное программирование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60525"/>
            <a:ext cx="8520600" cy="18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First Come - First Serve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Priority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Shortest Job Next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Round Robin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…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925" y="2422625"/>
            <a:ext cx="6012150" cy="25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Scheduler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9125"/>
            <a:ext cx="8839204" cy="359524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4460575"/>
            <a:ext cx="48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chrt -p 1234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Completely Fair Scheduler*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636725"/>
            <a:ext cx="7162800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Completely Fair Scheduler (quota/period) – лимиты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3425"/>
            <a:ext cx="8520600" cy="2375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Completely Fair Scheduler (shares) – приоритеты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300" y="572700"/>
            <a:ext cx="5801400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Control Groups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311750" y="542875"/>
            <a:ext cx="8520600" cy="1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Ограничение</a:t>
            </a:r>
            <a:r>
              <a:rPr lang="en" sz="1600">
                <a:solidFill>
                  <a:srgbClr val="000000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—</a:t>
            </a:r>
            <a:r>
              <a:rPr lang="en" sz="1600">
                <a:solidFill>
                  <a:srgbClr val="000000"/>
                </a:solidFill>
              </a:rPr>
              <a:t> установка лимитов использования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Приоритизация </a:t>
            </a:r>
            <a:r>
              <a:rPr lang="en" sz="1600">
                <a:solidFill>
                  <a:schemeClr val="dk1"/>
                </a:solidFill>
              </a:rPr>
              <a:t>—</a:t>
            </a:r>
            <a:r>
              <a:rPr lang="en" sz="1600">
                <a:solidFill>
                  <a:srgbClr val="000000"/>
                </a:solidFill>
              </a:rPr>
              <a:t> пропускная способность HDD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Биллинг </a:t>
            </a:r>
            <a:r>
              <a:rPr lang="en" sz="1600">
                <a:solidFill>
                  <a:schemeClr val="dk1"/>
                </a:solidFill>
              </a:rPr>
              <a:t>—</a:t>
            </a:r>
            <a:r>
              <a:rPr lang="en" sz="1600">
                <a:solidFill>
                  <a:srgbClr val="000000"/>
                </a:solidFill>
              </a:rPr>
              <a:t> измерение потребления каждого контейнера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Управление </a:t>
            </a:r>
            <a:r>
              <a:rPr lang="en" sz="1600">
                <a:solidFill>
                  <a:schemeClr val="dk1"/>
                </a:solidFill>
              </a:rPr>
              <a:t>—</a:t>
            </a:r>
            <a:r>
              <a:rPr lang="en" sz="1600">
                <a:solidFill>
                  <a:srgbClr val="000000"/>
                </a:solidFill>
              </a:rPr>
              <a:t> заморозка всех процессов внутри контейнера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725" y="1773100"/>
            <a:ext cx="5946650" cy="270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Каталоги cgroups v1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12" name="Google Shape;112;p22"/>
          <p:cNvSpPr txBox="1"/>
          <p:nvPr/>
        </p:nvSpPr>
        <p:spPr>
          <a:xfrm>
            <a:off x="311700" y="542875"/>
            <a:ext cx="8520600" cy="42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/sys/fs/cgroup: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blkio </a:t>
            </a:r>
            <a:r>
              <a:rPr lang="en" sz="1800"/>
              <a:t>—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/>
              <a:t>у</a:t>
            </a:r>
            <a:r>
              <a:rPr lang="en" sz="1800">
                <a:solidFill>
                  <a:srgbClr val="000000"/>
                </a:solidFill>
              </a:rPr>
              <a:t>станавливает лимиты на чтение и запись с блочных устройств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cpu,cpuacct </a:t>
            </a:r>
            <a:r>
              <a:rPr lang="en" sz="1800"/>
              <a:t>—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/>
              <a:t>к</a:t>
            </a:r>
            <a:r>
              <a:rPr lang="en" sz="1800">
                <a:solidFill>
                  <a:srgbClr val="000000"/>
                </a:solidFill>
              </a:rPr>
              <a:t>онтрол</a:t>
            </a:r>
            <a:r>
              <a:rPr lang="en" sz="1800"/>
              <a:t>ь</a:t>
            </a:r>
            <a:r>
              <a:rPr lang="en" sz="1800">
                <a:solidFill>
                  <a:srgbClr val="000000"/>
                </a:solidFill>
              </a:rPr>
              <a:t> доступа к CPU и</a:t>
            </a:r>
            <a:r>
              <a:rPr lang="en" sz="1800"/>
              <a:t> </a:t>
            </a:r>
            <a:r>
              <a:rPr lang="en" sz="1800">
                <a:solidFill>
                  <a:srgbClr val="000000"/>
                </a:solidFill>
              </a:rPr>
              <a:t>отчёт о его использовании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cpuset </a:t>
            </a:r>
            <a:r>
              <a:rPr lang="en" sz="1800"/>
              <a:t>— р</a:t>
            </a:r>
            <a:r>
              <a:rPr lang="en" sz="1800">
                <a:solidFill>
                  <a:srgbClr val="000000"/>
                </a:solidFill>
              </a:rPr>
              <a:t>аспределяет задачи в рамках контрольной группы между процессорными ядрами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devices </a:t>
            </a:r>
            <a:r>
              <a:rPr lang="en" sz="1800"/>
              <a:t>— р</a:t>
            </a:r>
            <a:r>
              <a:rPr lang="en" sz="1800">
                <a:solidFill>
                  <a:srgbClr val="000000"/>
                </a:solidFill>
              </a:rPr>
              <a:t>азрешает или блокирует доступ к устройствам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freezer </a:t>
            </a:r>
            <a:r>
              <a:rPr lang="en" sz="1800"/>
              <a:t>— п</a:t>
            </a:r>
            <a:r>
              <a:rPr lang="en" sz="1800">
                <a:solidFill>
                  <a:srgbClr val="000000"/>
                </a:solidFill>
              </a:rPr>
              <a:t>риостанавливает и возобновляет выполнение задач в рамках контрольной группы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memory </a:t>
            </a:r>
            <a:r>
              <a:rPr lang="en" sz="1800"/>
              <a:t>— у</a:t>
            </a:r>
            <a:r>
              <a:rPr lang="en" sz="1800">
                <a:solidFill>
                  <a:srgbClr val="000000"/>
                </a:solidFill>
              </a:rPr>
              <a:t>правляет выделением памяти для групп процессов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net_prio </a:t>
            </a:r>
            <a:r>
              <a:rPr lang="en" sz="1800"/>
              <a:t>— д</a:t>
            </a:r>
            <a:r>
              <a:rPr lang="en" sz="1800">
                <a:solidFill>
                  <a:srgbClr val="000000"/>
                </a:solidFill>
              </a:rPr>
              <a:t>инамическ</a:t>
            </a:r>
            <a:r>
              <a:rPr lang="en" sz="1800"/>
              <a:t>ая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/>
              <a:t>установка</a:t>
            </a:r>
            <a:r>
              <a:rPr lang="en" sz="1800">
                <a:solidFill>
                  <a:srgbClr val="000000"/>
                </a:solidFill>
              </a:rPr>
              <a:t> приоритетов по трафику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pids </a:t>
            </a:r>
            <a:r>
              <a:rPr lang="en" sz="1800"/>
              <a:t>— о</a:t>
            </a:r>
            <a:r>
              <a:rPr lang="en" sz="1800">
                <a:solidFill>
                  <a:srgbClr val="000000"/>
                </a:solidFill>
              </a:rPr>
              <a:t>граничени</a:t>
            </a:r>
            <a:r>
              <a:rPr lang="en" sz="1800"/>
              <a:t>е</a:t>
            </a:r>
            <a:r>
              <a:rPr lang="en" sz="1800">
                <a:solidFill>
                  <a:srgbClr val="000000"/>
                </a:solidFill>
              </a:rPr>
              <a:t> количества процессов в рамках контрольной группы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Контроллеры</a:t>
            </a:r>
            <a:r>
              <a:rPr lang="en" sz="2500">
                <a:solidFill>
                  <a:srgbClr val="000000"/>
                </a:solidFill>
              </a:rPr>
              <a:t> cgroups v</a:t>
            </a:r>
            <a:r>
              <a:rPr lang="en" sz="2500"/>
              <a:t>2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18" name="Google Shape;118;p23"/>
          <p:cNvSpPr txBox="1"/>
          <p:nvPr/>
        </p:nvSpPr>
        <p:spPr>
          <a:xfrm>
            <a:off x="311700" y="542875"/>
            <a:ext cx="85206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/sys/fs/cgroup: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/>
              <a:t>cgroup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/>
              <a:t>—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/>
              <a:t>управление настройкой cgroup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cpu </a:t>
            </a:r>
            <a:r>
              <a:rPr lang="en" sz="1800"/>
              <a:t>—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/>
              <a:t>к</a:t>
            </a:r>
            <a:r>
              <a:rPr lang="en" sz="1800">
                <a:solidFill>
                  <a:srgbClr val="000000"/>
                </a:solidFill>
              </a:rPr>
              <a:t>онтрол</a:t>
            </a:r>
            <a:r>
              <a:rPr lang="en" sz="1800"/>
              <a:t>ь</a:t>
            </a:r>
            <a:r>
              <a:rPr lang="en" sz="1800">
                <a:solidFill>
                  <a:srgbClr val="000000"/>
                </a:solidFill>
              </a:rPr>
              <a:t> доступа к CPU и</a:t>
            </a:r>
            <a:r>
              <a:rPr lang="en" sz="1800"/>
              <a:t> </a:t>
            </a:r>
            <a:r>
              <a:rPr lang="en" sz="1800">
                <a:solidFill>
                  <a:srgbClr val="000000"/>
                </a:solidFill>
              </a:rPr>
              <a:t>отчёт о его использовании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cpuset </a:t>
            </a:r>
            <a:r>
              <a:rPr lang="en" sz="1800"/>
              <a:t>— р</a:t>
            </a:r>
            <a:r>
              <a:rPr lang="en" sz="1800">
                <a:solidFill>
                  <a:srgbClr val="000000"/>
                </a:solidFill>
              </a:rPr>
              <a:t>аспределяет задачи в рамках контрольной группы между процессорными ядрами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/>
              <a:t>hugetlb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/>
              <a:t>— поддержка больших страниц памяти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/>
              <a:t>io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/>
              <a:t>— работа с устройствами ввода-вывода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memory </a:t>
            </a:r>
            <a:r>
              <a:rPr lang="en" sz="1800"/>
              <a:t>— у</a:t>
            </a:r>
            <a:r>
              <a:rPr lang="en" sz="1800">
                <a:solidFill>
                  <a:srgbClr val="000000"/>
                </a:solidFill>
              </a:rPr>
              <a:t>правляет выделением памяти для групп процессов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/>
              <a:t>rdma</a:t>
            </a: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/>
              <a:t>— поддержка Remote Direct Memory Access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pids </a:t>
            </a:r>
            <a:r>
              <a:rPr lang="en" sz="1800"/>
              <a:t>— о</a:t>
            </a:r>
            <a:r>
              <a:rPr lang="en" sz="1800">
                <a:solidFill>
                  <a:srgbClr val="000000"/>
                </a:solidFill>
              </a:rPr>
              <a:t>граничени</a:t>
            </a:r>
            <a:r>
              <a:rPr lang="en" sz="1800"/>
              <a:t>е</a:t>
            </a:r>
            <a:r>
              <a:rPr lang="en" sz="1800">
                <a:solidFill>
                  <a:srgbClr val="000000"/>
                </a:solidFill>
              </a:rPr>
              <a:t> количества процессов в рамках контрольной группы</a:t>
            </a:r>
            <a:endParaRPr sz="1800"/>
          </a:p>
        </p:txBody>
      </p:sp>
      <p:sp>
        <p:nvSpPr>
          <p:cNvPr id="119" name="Google Shape;119;p23"/>
          <p:cNvSpPr txBox="1"/>
          <p:nvPr/>
        </p:nvSpPr>
        <p:spPr>
          <a:xfrm>
            <a:off x="534475" y="4136625"/>
            <a:ext cx="386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Для всего остального есть eBPF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Работа с </a:t>
            </a:r>
            <a:r>
              <a:rPr lang="en" sz="2500">
                <a:solidFill>
                  <a:srgbClr val="000000"/>
                </a:solidFill>
              </a:rPr>
              <a:t>cgroups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25" name="Google Shape;125;p24"/>
          <p:cNvSpPr txBox="1"/>
          <p:nvPr/>
        </p:nvSpPr>
        <p:spPr>
          <a:xfrm>
            <a:off x="311700" y="560525"/>
            <a:ext cx="4383300" cy="3786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Создание группы: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cgcreate -g cpu:devops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mkdir /sys/fs/cgroup/cpu/devops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Запуск в группе: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cgexec -g cpu:devops </a:t>
            </a:r>
            <a:r>
              <a:rPr lang="en" sz="1800">
                <a:solidFill>
                  <a:srgbClr val="0B5394"/>
                </a:solidFill>
              </a:rPr>
              <a:t>stress -c 2</a:t>
            </a:r>
            <a:endParaRPr sz="18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Добавление в группу: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echo 26932 &gt; cpu/devops/tasks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cgclassify -g cpu:devops --sticky 26932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Удаление группы: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cgdelete -g cpu:devops</a:t>
            </a:r>
            <a:endParaRPr sz="1800"/>
          </a:p>
        </p:txBody>
      </p:sp>
      <p:sp>
        <p:nvSpPr>
          <p:cNvPr id="126" name="Google Shape;126;p24"/>
          <p:cNvSpPr txBox="1"/>
          <p:nvPr/>
        </p:nvSpPr>
        <p:spPr>
          <a:xfrm>
            <a:off x="5828575" y="560525"/>
            <a:ext cx="30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$ sudo apt install cgroup-tools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127" name="Google Shape;127;p24"/>
          <p:cNvSpPr txBox="1"/>
          <p:nvPr/>
        </p:nvSpPr>
        <p:spPr>
          <a:xfrm>
            <a:off x="5667325" y="1945925"/>
            <a:ext cx="3326100" cy="2401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Проверка наличия cgroups: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ps -o cgroup 26932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Мониторинг: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systemd-cgtop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systemd-cgls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cat cpu/devops/tasks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cat /proc/26932/cgroup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Completely Fair Scheduler*</a:t>
            </a:r>
            <a:endParaRPr/>
          </a:p>
        </p:txBody>
      </p:sp>
      <p:sp>
        <p:nvSpPr>
          <p:cNvPr id="133" name="Google Shape;133;p25"/>
          <p:cNvSpPr txBox="1"/>
          <p:nvPr/>
        </p:nvSpPr>
        <p:spPr>
          <a:xfrm>
            <a:off x="311700" y="789125"/>
            <a:ext cx="8520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Чтение параметра: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# cat cpu,cpuacct/devops/cpu.cfs_period_us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Запись параметра: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# echo 100000 &gt; cpu,cpuacct/devops/cpu.cfs_quota_us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или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# cgset -r cpu.cfs_quota_us=100000 devops</a:t>
            </a:r>
            <a:endParaRPr sz="1800"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238" y="2913125"/>
            <a:ext cx="5785526" cy="16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Completely Fair Scheduler*</a:t>
            </a: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70023"/>
            <a:ext cx="5178382" cy="150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7308" y="3002851"/>
            <a:ext cx="5720842" cy="150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311700" y="638925"/>
            <a:ext cx="264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Плохая ситуация:</a:t>
            </a:r>
            <a:endParaRPr sz="2000"/>
          </a:p>
        </p:txBody>
      </p:sp>
      <p:sp>
        <p:nvSpPr>
          <p:cNvPr id="143" name="Google Shape;143;p26"/>
          <p:cNvSpPr txBox="1"/>
          <p:nvPr/>
        </p:nvSpPr>
        <p:spPr>
          <a:xfrm>
            <a:off x="3397850" y="2571750"/>
            <a:ext cx="321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Очень плохая ситуация: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Практика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725100"/>
            <a:ext cx="8520600" cy="4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Создадим groups (в каталоге /sys/fs/cgroup)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mkdir {low,high}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Список всех cgroups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systemd-cgls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Ограничим использование CPU (только на 2 ядрах)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</a:t>
            </a:r>
            <a:r>
              <a:rPr lang="en" sz="1400">
                <a:solidFill>
                  <a:schemeClr val="dk1"/>
                </a:solidFill>
              </a:rPr>
              <a:t>echo "0,1" &gt; {low,high}/cpuset.cpus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Поместим текущий процесс в group low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echo $$ &gt; low/cgroup.procs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Утилизируем весь CPU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stress -c 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Проверим какие процессы ограничены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cat low/cgroup.procs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shares и quota/period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725100"/>
            <a:ext cx="8520600" cy="3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Ограничим %CPU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# echo "100000 100000" &gt; low/cpu.max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top для cgroups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</a:t>
            </a:r>
            <a:r>
              <a:rPr lang="en" sz="1400">
                <a:solidFill>
                  <a:schemeClr val="dk1"/>
                </a:solidFill>
              </a:rPr>
              <a:t>systemd-cgtop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Проверим статистику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cat low/cpu.stat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Зададим вес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echo 200 &gt; high/cpu.weight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Статистика по процессу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cat /proc/$?/status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cpuset в реальной жизни</a:t>
            </a:r>
            <a:endParaRPr sz="2500">
              <a:solidFill>
                <a:srgbClr val="000000"/>
              </a:solidFill>
            </a:endParaRPr>
          </a:p>
        </p:txBody>
      </p:sp>
      <p:pic>
        <p:nvPicPr>
          <p:cNvPr id="161" name="Google Shape;1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493" y="878950"/>
            <a:ext cx="4709606" cy="289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9"/>
          <p:cNvSpPr txBox="1"/>
          <p:nvPr/>
        </p:nvSpPr>
        <p:spPr>
          <a:xfrm>
            <a:off x="5474900" y="3776475"/>
            <a:ext cx="261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Как спастись от троттлинга</a:t>
            </a:r>
            <a:endParaRPr/>
          </a:p>
        </p:txBody>
      </p:sp>
      <p:pic>
        <p:nvPicPr>
          <p:cNvPr descr="HighLoad++ 2017&#10;&#10;Тезисы:&#10;http://www.highload.ru/2017/abstracts/2899.html&#10;&#10;На каждой конференции мы слушаем интереснейшие доклады про CI/CD, service discovery, docker, kubernetes и т.д. Практически все эти доклады рассказывают нам о &quot;разработческой&quot; стороне проблемы: как собрать образ контейнера, быстро его протестировать и задеплоить, как контейнеры друг о друге узнают, как добавится новый upstream в конфиг nginx и т.д.&#10;&#10;Но никто нам не рассказал, как потом с этим &quot;облачным&quot; счастьем жить (тем более под нагрузкой). &#10;...&#10;--------&#10;Нашли ошибку в видео? Пишите нам на support@ontico.ru" id="163" name="Google Shape;163;p29" title="Эксплуатация container-based-инфраструктур / Николай Сивко (okmeter.io)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562" y="878946"/>
            <a:ext cx="3863375" cy="289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/>
        </p:nvSpPr>
        <p:spPr>
          <a:xfrm>
            <a:off x="311700" y="3938325"/>
            <a:ext cx="417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Эксплуатация container-based-инфраструктур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Оцените лекцию</a:t>
            </a:r>
            <a:endParaRPr sz="2500"/>
          </a:p>
        </p:txBody>
      </p:sp>
      <p:pic>
        <p:nvPicPr>
          <p:cNvPr id="170" name="Google Shape;17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572700"/>
            <a:ext cx="4159422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829" y="725100"/>
            <a:ext cx="4159425" cy="415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