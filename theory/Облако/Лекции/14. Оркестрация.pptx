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tyvik.ru/posts/circleci/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post/261171/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https://tyvik.ru/posts/circleci/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7bfaea40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7bfaea40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dc6298073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dc6298073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691eca4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691eca4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dd19abdd9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dd19abdd9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d7bfaea400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d7bfaea40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https://habr.com/ru/post/710414/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d7bfaea400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d7bfaea40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691eca44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691eca44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dc6298073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dc6298073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5691eca44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5691eca44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dd19abdd9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dd19abdd9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https://habr.com/ru/post/261171/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https://www.redhat.com/architect/12-factor-app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https://habr.com/ru/company/wunderfund/blog/699170/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691eca44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691eca44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691eca44a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691eca44a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5691eca44a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5691eca44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691eca44a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5691eca44a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691eca44a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5691eca44a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691eca44a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691eca44a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691eca44a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5691eca44a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5691eca44a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5691eca44a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691eca44a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5691eca44a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5691eca44a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5691eca44a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691eca44a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691eca44a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5691eca44a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5691eca44a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10.png"/><Relationship Id="rId7" Type="http://schemas.openxmlformats.org/officeDocument/2006/relationships/image" Target="../media/image16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irflow.apache.org/docs/apache-airflow/3.0.0/docker-compose.ya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12factor.net/ru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Оркестрация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Apache Airflow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125" y="846425"/>
            <a:ext cx="7143750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r>
              <a:rPr lang="en"/>
              <a:t>ocker-compose.yaml</a:t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311700" y="572700"/>
            <a:ext cx="84330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services: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00FF"/>
                </a:solidFill>
              </a:rPr>
              <a:t>  web</a:t>
            </a:r>
            <a:r>
              <a:rPr lang="en" sz="1500"/>
              <a:t>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build: 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ports: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  - "5000:5000"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volumes: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  - .:/code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  - logs:/var/log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links: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  - redis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command: ["/usr/local/bin/python", "/usr/local/bin/gunicorn", "backend.wsgi:application"]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00FF"/>
                </a:solidFill>
              </a:rPr>
              <a:t>  redis</a:t>
            </a:r>
            <a:r>
              <a:rPr lang="en" sz="1500"/>
              <a:t>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  image: redis:latest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volumes: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logs: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networks: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  mynet: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Оркестраторы</a:t>
            </a:r>
            <a:endParaRPr/>
          </a:p>
        </p:txBody>
      </p:sp>
      <p:pic>
        <p:nvPicPr>
          <p:cNvPr id="73" name="Google Shape;73;p16" title="pngaaa.com-48520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984900"/>
            <a:ext cx="1582100" cy="200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 title="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840175"/>
            <a:ext cx="2193875" cy="182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 title="nomad-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47528" y="297251"/>
            <a:ext cx="2063770" cy="2419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title="Kubernetes_logo_without_workmark.svg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39900" y="434545"/>
            <a:ext cx="1780225" cy="173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rancher-logo-stacked-colo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05574" y="3126945"/>
            <a:ext cx="3747676" cy="1903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 title="k3s-logo-larg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24525" y="2716600"/>
            <a:ext cx="3747675" cy="1703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061" y="64725"/>
            <a:ext cx="8913875" cy="5014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Синтаксис YAML (YAML Ain't Markup Language)</a:t>
            </a:r>
            <a:endParaRPr/>
          </a:p>
        </p:txBody>
      </p:sp>
      <p:sp>
        <p:nvSpPr>
          <p:cNvPr id="89" name="Google Shape;89;p18"/>
          <p:cNvSpPr txBox="1"/>
          <p:nvPr/>
        </p:nvSpPr>
        <p:spPr>
          <a:xfrm>
            <a:off x="855400" y="4481250"/>
            <a:ext cx="3178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0" name="Google Shape;90;p18"/>
          <p:cNvSpPr txBox="1"/>
          <p:nvPr/>
        </p:nvSpPr>
        <p:spPr>
          <a:xfrm>
            <a:off x="311700" y="572700"/>
            <a:ext cx="36783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doe: "a deer, a female deer"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birthday: 2011-11-15 02:31:55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age: !!str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pi: 3.14159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xmas: True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link: null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french-hens: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calling-birds: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- louie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- fred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another-list: ["one", "two"]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xmas-fifth-day: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calling-birds: four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partridges: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- id</a:t>
            </a:r>
            <a:r>
              <a:rPr lang="en"/>
              <a:t>: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location: "a pear tree"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- id: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location: "another side"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turtle-doves: two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 comment</a:t>
            </a:r>
            <a:endParaRPr/>
          </a:p>
        </p:txBody>
      </p:sp>
      <p:sp>
        <p:nvSpPr>
          <p:cNvPr id="91" name="Google Shape;91;p18"/>
          <p:cNvSpPr txBox="1"/>
          <p:nvPr/>
        </p:nvSpPr>
        <p:spPr>
          <a:xfrm>
            <a:off x="4538700" y="546375"/>
            <a:ext cx="42936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"doe": "a deer, a female deer",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"birthday": &lt;невыразимо&gt;,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"age": "10",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"pi": 3.14159,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"xmas": true,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"link": null,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"french-hens": 3,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"calling-birds": ["louie", "fred"],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"</a:t>
            </a:r>
            <a:r>
              <a:rPr lang="en">
                <a:solidFill>
                  <a:schemeClr val="dk1"/>
                </a:solidFill>
              </a:rPr>
              <a:t>another-list": ["one", "two"],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"xmas-fifth-day":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"calling-birds": "four",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"partridges": 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{"id": 1, "location": "a pear tree"},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{"id": 2, "location": "another side"}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"turtle-doves": "two"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Подключение блоков через &amp;</a:t>
            </a:r>
            <a:endParaRPr/>
          </a:p>
        </p:txBody>
      </p:sp>
      <p:sp>
        <p:nvSpPr>
          <p:cNvPr id="97" name="Google Shape;97;p19"/>
          <p:cNvSpPr txBox="1"/>
          <p:nvPr/>
        </p:nvSpPr>
        <p:spPr>
          <a:xfrm>
            <a:off x="311700" y="572700"/>
            <a:ext cx="8520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aliases:  #последовательность настроек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- &amp;myAlias1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datakey: dataval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moredata: morevals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- &amp;myAlias2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datakey: dataval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moredata: morevals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config: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- *myAlias1  # *myAlias1 после парсинга будет заменен на [{"datakey": "dataval 1", "moredata": "morevals 1"}]</a:t>
            </a:r>
            <a:endParaRPr/>
          </a:p>
        </p:txBody>
      </p:sp>
      <p:sp>
        <p:nvSpPr>
          <p:cNvPr id="98" name="Google Shape;98;p19"/>
          <p:cNvSpPr txBox="1"/>
          <p:nvPr/>
        </p:nvSpPr>
        <p:spPr>
          <a:xfrm>
            <a:off x="311700" y="3504425"/>
            <a:ext cx="7146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"config": </a:t>
            </a:r>
            <a:r>
              <a:rPr lang="en"/>
              <a:t>[{"datakey": "dataval 1", "moredata": "morevals 1"}]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Airflow docker-compose</a:t>
            </a:r>
            <a:endParaRPr/>
          </a:p>
        </p:txBody>
      </p:sp>
      <p:sp>
        <p:nvSpPr>
          <p:cNvPr id="104" name="Google Shape;104;p20"/>
          <p:cNvSpPr txBox="1"/>
          <p:nvPr/>
        </p:nvSpPr>
        <p:spPr>
          <a:xfrm>
            <a:off x="304800" y="685800"/>
            <a:ext cx="51444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webserver: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image: webserver:latest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build: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context: 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restart: always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depends_on: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- postgres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environment: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- PYTHONPATH=/usr/local/airflow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volumes: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- ./airflow/dags:/usr/local/airflow/dags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ports: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- "8080:8080"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command: webserver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healthcheck: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test: ["CMD-SHELL", "[ -f /run/airflow-webserver.pid ]"]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interval: 30s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timeout: 30s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retries: 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5582600" y="1335475"/>
            <a:ext cx="289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https://airflow.apache.org/docs/apache-airflow/3.0.0/docker-compose.yaml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compose CLI</a:t>
            </a:r>
            <a:endParaRPr/>
          </a:p>
        </p:txBody>
      </p:sp>
      <p:sp>
        <p:nvSpPr>
          <p:cNvPr id="111" name="Google Shape;111;p21"/>
          <p:cNvSpPr txBox="1"/>
          <p:nvPr/>
        </p:nvSpPr>
        <p:spPr>
          <a:xfrm>
            <a:off x="311700" y="572700"/>
            <a:ext cx="85206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build    Build or rebuild services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images - список образов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logs - просмотр логов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port - просмотр биндинга портов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ps - список контейнеров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run - запуск команды в отдельном контейнере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kill - убить все контейнеры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start - запустить сервис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stop - остановить сервис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restart - перезапустить сервис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up - создать контейнер и запустить сервис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down - остановить сервис и удалить контейнер</a:t>
            </a:r>
            <a:endParaRPr sz="1600"/>
          </a:p>
        </p:txBody>
      </p:sp>
      <p:sp>
        <p:nvSpPr>
          <p:cNvPr id="112" name="Google Shape;112;p21"/>
          <p:cNvSpPr txBox="1"/>
          <p:nvPr/>
        </p:nvSpPr>
        <p:spPr>
          <a:xfrm>
            <a:off x="6008100" y="3822350"/>
            <a:ext cx="2824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docker-compose up -d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docker-compose logs -f redis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docker-compose stop redis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docker-compose ps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/>
        </p:nvSpPr>
        <p:spPr>
          <a:xfrm>
            <a:off x="591500" y="1392625"/>
            <a:ext cx="1839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SOLID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3176275" y="2011750"/>
            <a:ext cx="153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KISS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120" name="Google Shape;120;p22"/>
          <p:cNvSpPr txBox="1"/>
          <p:nvPr/>
        </p:nvSpPr>
        <p:spPr>
          <a:xfrm>
            <a:off x="1439400" y="3535750"/>
            <a:ext cx="1323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DRY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121" name="Google Shape;121;p22"/>
          <p:cNvSpPr txBox="1"/>
          <p:nvPr/>
        </p:nvSpPr>
        <p:spPr>
          <a:xfrm>
            <a:off x="5525450" y="3583375"/>
            <a:ext cx="2105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YAGNI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5457450" y="1449775"/>
            <a:ext cx="2173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GRASP</a:t>
            </a:r>
            <a:endParaRPr sz="4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12-факторное приложение</a:t>
            </a:r>
            <a:endParaRPr/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11700" y="496500"/>
            <a:ext cx="85206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Кодовая база. </a:t>
            </a:r>
            <a:r>
              <a:rPr lang="en">
                <a:solidFill>
                  <a:schemeClr val="dk1"/>
                </a:solidFill>
              </a:rPr>
              <a:t>Одна кодовая база в cvs – множество развёртываний (одну и ту же ветку можно раскатить на любое окружение)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Зависимости. </a:t>
            </a:r>
            <a:r>
              <a:rPr lang="en">
                <a:solidFill>
                  <a:schemeClr val="dk1"/>
                </a:solidFill>
              </a:rPr>
              <a:t>Явно объявляйте и изолируйте зависимости (requirements.txt)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Конфигурация. </a:t>
            </a:r>
            <a:r>
              <a:rPr lang="en">
                <a:solidFill>
                  <a:schemeClr val="dk1"/>
                </a:solidFill>
              </a:rPr>
              <a:t>Сохраняйте конфигурацию в среде выполнения (логины/пароли)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Сторонние службы. </a:t>
            </a:r>
            <a:r>
              <a:rPr lang="en">
                <a:solidFill>
                  <a:schemeClr val="dk1"/>
                </a:solidFill>
              </a:rPr>
              <a:t>Считайте сторонние службы подключаемыми ресурсами (не зашивать в коде путь до базы данных)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Сборка, релиз, выполнение. </a:t>
            </a:r>
            <a:r>
              <a:rPr lang="en">
                <a:solidFill>
                  <a:schemeClr val="dk1"/>
                </a:solidFill>
              </a:rPr>
              <a:t>Строго разделяйте стадии сборки и выполнения (настройте CI/CD!)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Процессы.</a:t>
            </a:r>
            <a:r>
              <a:rPr lang="en">
                <a:solidFill>
                  <a:schemeClr val="dk1"/>
                </a:solidFill>
              </a:rPr>
              <a:t> Запускайте приложение без сохранения внутреннего состояния (не храните данные в docker-контейнере)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Привязка портов. </a:t>
            </a:r>
            <a:r>
              <a:rPr lang="en">
                <a:solidFill>
                  <a:schemeClr val="dk1"/>
                </a:solidFill>
              </a:rPr>
              <a:t>Экспортируйте сервисы через привязку портов (общение только по сети)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Параллелизм. </a:t>
            </a:r>
            <a:r>
              <a:rPr lang="en">
                <a:solidFill>
                  <a:schemeClr val="dk1"/>
                </a:solidFill>
              </a:rPr>
              <a:t>Масштабируйте приложение с помощью процессов (возможность горизонтального масштабирования)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Утилизируемость. </a:t>
            </a:r>
            <a:r>
              <a:rPr lang="en">
                <a:solidFill>
                  <a:schemeClr val="dk1"/>
                </a:solidFill>
              </a:rPr>
              <a:t>Максимизируйте надёжность с помощью быстрого запуска и корректного завершения работы (приложения могут умирать, это нормально)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Паритет разработки/работы приложения.</a:t>
            </a:r>
            <a:r>
              <a:rPr lang="en">
                <a:solidFill>
                  <a:schemeClr val="dk1"/>
                </a:solidFill>
              </a:rPr>
              <a:t> Держите окружения разработки, staging и production максимально похожими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Журналирование. </a:t>
            </a:r>
            <a:r>
              <a:rPr lang="en">
                <a:solidFill>
                  <a:schemeClr val="dk1"/>
                </a:solidFill>
              </a:rPr>
              <a:t>Рассматривайте журнал как поток событий (логи в stdout)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Задачи администрирования. </a:t>
            </a:r>
            <a:r>
              <a:rPr lang="en">
                <a:solidFill>
                  <a:schemeClr val="dk1"/>
                </a:solidFill>
              </a:rPr>
              <a:t>Выполняйте задачи администрирования/управления с помощью разовых процессов (management команды не исключение)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9" name="Google Shape;129;p23"/>
          <p:cNvSpPr txBox="1"/>
          <p:nvPr/>
        </p:nvSpPr>
        <p:spPr>
          <a:xfrm>
            <a:off x="3276600" y="4631125"/>
            <a:ext cx="259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https://12factor.net/ru/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lang="en"/>
              <a:t>Кодовая база</a:t>
            </a:r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Одна кодовая база в cvs – множество развёртываний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(одну и ту же ветку можно раскатить на любое окружение)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36" name="Google Shape;136;p24" title="codeba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6150" y="572700"/>
            <a:ext cx="4651689" cy="369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2. </a:t>
            </a:r>
            <a:r>
              <a:rPr lang="en"/>
              <a:t>Зависимости</a:t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Явно объявляйте и изолируйте зависимости (requirements.txt)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43" name="Google Shape;143;p25" title="dependenci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9888" y="806063"/>
            <a:ext cx="6464213" cy="353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Конфигурация</a:t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Сохраняйте конфигурацию в среде выполнения (логины/пароли)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50" name="Google Shape;150;p26" title="confi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5100"/>
            <a:ext cx="8839201" cy="3093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Сторонние службы</a:t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Считайте сторонние службы подключаемыми ресурсами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57" name="Google Shape;157;p27" title="backingsvc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9627" y="572701"/>
            <a:ext cx="5604735" cy="376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Сборка, релиз, выполнение</a:t>
            </a:r>
            <a:endParaRPr/>
          </a:p>
        </p:txBody>
      </p:sp>
      <p:sp>
        <p:nvSpPr>
          <p:cNvPr id="163" name="Google Shape;163;p28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Строго разделяйте стадии сборки и выполнения (настройте CI/CD!)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64" name="Google Shape;164;p28" title="buildreleaseru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651" y="653663"/>
            <a:ext cx="7846702" cy="383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Процессы</a:t>
            </a:r>
            <a:endParaRPr/>
          </a:p>
        </p:txBody>
      </p:sp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Запускайте приложение без сохранения внутреннего состояния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(не храните данные в docker-контейнере)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71" name="Google Shape;171;p29" title="proce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3263" y="572700"/>
            <a:ext cx="5957466" cy="3769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Привязка портов</a:t>
            </a:r>
            <a:endParaRPr/>
          </a:p>
        </p:txBody>
      </p:sp>
      <p:sp>
        <p:nvSpPr>
          <p:cNvPr id="177" name="Google Shape;177;p30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Экспортируйте сервисы через привязку портов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(общение только по сети)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78" name="Google Shape;178;p30" title="portbinding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5100"/>
            <a:ext cx="8839201" cy="2569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Параллелизм</a:t>
            </a:r>
            <a:endParaRPr/>
          </a:p>
        </p:txBody>
      </p:sp>
      <p:sp>
        <p:nvSpPr>
          <p:cNvPr id="184" name="Google Shape;184;p31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Масштабируйте приложение с помощью процессов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(возможность горизонтального масштабирования)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85" name="Google Shape;185;p31" title="concurranc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5100"/>
            <a:ext cx="8839201" cy="3355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Утилизируемость</a:t>
            </a:r>
            <a:endParaRPr/>
          </a:p>
        </p:txBody>
      </p:sp>
      <p:sp>
        <p:nvSpPr>
          <p:cNvPr id="191" name="Google Shape;191;p32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Максимизируйте надёжность с помощью быстрого запуска и корректного завершения работы (приложения могут умирать, это нормально)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92" name="Google Shape;192;p32"/>
          <p:cNvSpPr txBox="1"/>
          <p:nvPr/>
        </p:nvSpPr>
        <p:spPr>
          <a:xfrm>
            <a:off x="1293600" y="572700"/>
            <a:ext cx="65568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const shutdown = async (signal) =&gt; {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logger.info(`Disconnecting message broker at ${new Date()}`);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messageBroker.disconnect();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logger.info(`Disconnecting database at ${new Date()}`);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database.disconnect();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let shutdownMessage;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if (!signal) {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    shutdownMessage = (`MyCool service shutting down at ${new Date()}`);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} else {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    shutdownMessage = (`Signal ${signal} : MyCool service shutting down at ${new Date()}`);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}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const obj = {status: "SHUTDOWN", shutdownMessage, pid: process.pid};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await server.close(() =&gt; {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    console.log(obj);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    process.exit(0);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});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};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Паритет разработки/работы приложения</a:t>
            </a:r>
            <a:endParaRPr/>
          </a:p>
        </p:txBody>
      </p:sp>
      <p:sp>
        <p:nvSpPr>
          <p:cNvPr id="198" name="Google Shape;198;p33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Держите окружения разработки, staging и production максимально похожими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99" name="Google Shape;199;p33" title="dev-prodparit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8813" y="572700"/>
            <a:ext cx="4426372" cy="383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Журналирование</a:t>
            </a:r>
            <a:endParaRPr/>
          </a:p>
        </p:txBody>
      </p:sp>
      <p:sp>
        <p:nvSpPr>
          <p:cNvPr id="205" name="Google Shape;205;p34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Рассматривайте журнал как поток событий (логи в stdout)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06" name="Google Shape;206;p34" title="log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5100"/>
            <a:ext cx="8839201" cy="3110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Задачи администрирования</a:t>
            </a:r>
            <a:endParaRPr/>
          </a:p>
        </p:txBody>
      </p:sp>
      <p:sp>
        <p:nvSpPr>
          <p:cNvPr id="212" name="Google Shape;212;p35"/>
          <p:cNvSpPr txBox="1"/>
          <p:nvPr>
            <p:ph idx="1" type="body"/>
          </p:nvPr>
        </p:nvSpPr>
        <p:spPr>
          <a:xfrm>
            <a:off x="311700" y="44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Выполняйте задачи администрирования/управления с помощью разовых процессов (management команды не исключение)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13" name="Google Shape;213;p35" title="admin-process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0900" y="653663"/>
            <a:ext cx="6202194" cy="383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