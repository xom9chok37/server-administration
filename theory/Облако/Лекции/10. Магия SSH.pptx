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9249EC-8F30-42E1-AD70-31179A4399D6}">
  <a:tblStyle styleId="{AC9249EC-8F30-42E1-AD70-31179A4399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32988/" TargetMode="External"/><Relationship Id="rId3" Type="http://schemas.openxmlformats.org/officeDocument/2006/relationships/hyperlink" Target="https://habr.com/ru/company/vdsina/blog/503148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https://habr.com/ru/company/ruvds/blog/532988/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https://habr.com/ru/company/vdsina/blog/503148/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584a0d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584a0d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5912b1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45912b1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45912b1e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45912b1e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45912b1e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45912b1e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45912b1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45912b1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3b5435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3b5435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3b5435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3b5435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@startuml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 Client as "SSH Client"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 Server as "SSH Server"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Установка TCP-соединения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&lt;-&gt; Server: SYN - SYN-ACK - 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Проверка совместимости протоколов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Server: SSH-2.0-OpenSSH_X.X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 Client: SSH-2.0-OpenSSH_Y.Y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over Client, Server: Проверка совместимости версий протокола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Поиск общих алгоритмов (KEXINIT)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&lt;-&gt; Server: SSH_MSG_KEXINIT\n(Списки: KEX, HostKey, Cipher, MAC, Compression)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over Client, Server: Выбирается первый совпадающий алгоритм из каждого списка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Обмен ключами и вычисление сессионных ключей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-&gt;&gt; Server: Эфемерный публичный ключ (KEX_ECDH_INIT)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-&gt;&gt; Client: Эфемерный публичный ключ + Подпись сервера (KEX_ECDH_REPLY)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Client: Вычисление shared_secret\nГенерация 6 сессионных ключей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 Server: Вычисление shared_secret\nГенерация 6 сессионных ключей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Client: Проверка подписи сервера хост-ключом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over Client, Server: С этого момента ВЕСЬ трафик шифруется сессионными ключами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Верификация подписи сервера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Client : Сверка отпечатка с ~/.ssh/known_hosts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 Ключ совпадает или новый (accept-new)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Client -&gt; Server: Продолжение соединения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 Ключ изменился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Client --&gt; Server: WARNING: REMOTE HOST IDENTIFICATION HAS CHANGED!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Авторизация пользователя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Server : SSH_MSG_USERAUTH_REQUEST (publickey/password/...)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 Client : SSH_MSG_USERAUTH_PK_OK /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Server : Подпись challenge приватным ключом / Пароль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 Client : SSH_MSG_USERAUTH_SUCCESS / FAILURE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over Client, Server : Методы пробуются последовательно:\nnone → publickey → keyboard-interactive → password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 Запуск защищённой сессии 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Server: SSH_MSG_CHANNEL_OPEN (session)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-&gt; Client: SSH_MSG_CHANNEL_OPEN_CONFIRMATION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-&gt; Server: SSH_MSG_CHANNEL_REQUEST (shell / exec / subsystem)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&lt;-&gt; Server: Передача зашифрованных данных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@enduml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45912b1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45912b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45912b1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45912b1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45912b1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45912b1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Подключиться к бд GeoPuzzle с локального ноута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45912b1e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45912b1e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45912b1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45912b1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45912b1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45912b1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45912b1e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45912b1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habr.com/ru/articles/122445/" TargetMode="External"/><Relationship Id="rId4" Type="http://schemas.openxmlformats.org/officeDocument/2006/relationships/hyperlink" Target="https://habr.com/ru/companies/ruvds/articles/676596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abr.com/ru/articles/33590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vas3k.blog/blog/end_to_end_encryption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hyperlink" Target="https://habr.com/ru/articles/747080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abr.com/ru/companies/ruvds/articles/520752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habr.com/ru/companies/flant/articles/691388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sh.com/academy/ssh/config?spm=a2ty_o01.29997173.0.0.c65b5171j41w3V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jtesta/ssh-audit" TargetMode="External"/><Relationship Id="rId4" Type="http://schemas.openxmlformats.org/officeDocument/2006/relationships/hyperlink" Target="https://habr.com/ru/articles/1032648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habr.com/ru/articles/516488/" TargetMode="External"/><Relationship Id="rId4" Type="http://schemas.openxmlformats.org/officeDocument/2006/relationships/hyperlink" Target="https://habr.com/ru/articles/126996/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Магия SSH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по ssh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572700"/>
            <a:ext cx="720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FF0000"/>
                </a:solidFill>
              </a:rPr>
              <a:t>ssh</a:t>
            </a:r>
            <a:r>
              <a:rPr lang="en" sz="1800"/>
              <a:t> </a:t>
            </a: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/>
              <a:t> </a:t>
            </a: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/>
              <a:t>@</a:t>
            </a:r>
            <a:r>
              <a:rPr lang="en" sz="1800">
                <a:solidFill>
                  <a:srgbClr val="0000FF"/>
                </a:solidFill>
              </a:rPr>
              <a:t>geopuzzle.org </a:t>
            </a:r>
            <a:r>
              <a:rPr lang="en" sz="1800">
                <a:solidFill>
                  <a:srgbClr val="9900FF"/>
                </a:solidFill>
              </a:rPr>
              <a:t>ls -la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s</a:t>
            </a:r>
            <a:r>
              <a:rPr lang="en" sz="1800">
                <a:solidFill>
                  <a:srgbClr val="FF0000"/>
                </a:solidFill>
              </a:rPr>
              <a:t>sh</a:t>
            </a:r>
            <a:r>
              <a:rPr lang="en" sz="1800">
                <a:solidFill>
                  <a:schemeClr val="dk1"/>
                </a:solidFill>
              </a:rPr>
              <a:t> - команда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>
                <a:solidFill>
                  <a:schemeClr val="dk1"/>
                </a:solidFill>
              </a:rPr>
              <a:t> - аргументы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>
                <a:solidFill>
                  <a:schemeClr val="dk1"/>
                </a:solidFill>
              </a:rPr>
              <a:t> - имя пользователя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geopuzzle.org</a:t>
            </a:r>
            <a:r>
              <a:rPr lang="en" sz="1800">
                <a:solidFill>
                  <a:schemeClr val="dk1"/>
                </a:solidFill>
              </a:rPr>
              <a:t> - имя компьютера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9900FF"/>
                </a:solidFill>
              </a:rPr>
              <a:t>ls -la</a:t>
            </a:r>
            <a:r>
              <a:rPr lang="en" sz="1800">
                <a:solidFill>
                  <a:schemeClr val="dk1"/>
                </a:solidFill>
              </a:rPr>
              <a:t> - команда для выполнения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4533900"/>
            <a:ext cx="697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Памятка пользователям ssh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Магия ssh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~/.ssh/config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572700"/>
            <a:ext cx="7208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Host home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HostName example.com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User tyvik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Port 4567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LogLevel INFO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ServerAliveInterval 120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ForwardAgent yes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ForwardX11 yes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IdentityFile ~/.ssh/id_rsa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Открытый и закрытый ключ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725100"/>
            <a:ext cx="8520600" cy="738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key.pub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ssh-rsa AAAAB3NzaC1yc2EAAAAD … TsRX0vE= tyvik@TyVik-XPS</a:t>
            </a:r>
            <a:endParaRPr sz="1800"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2039825"/>
            <a:ext cx="8520600" cy="1847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-----BEGIN OPENSSH PRIVATE KEY-----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b3BlbnNzaC1rZXktdjEAAAAABG5vbmUAAAAEbm9uZQAAAAAAAAABAAAAHJ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bZYIsW15ijERkAAAAPdHl2aWtAVHlWaWstWFBTAQIDBA==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-----END OPENSSH PRIVATE KEY-----</a:t>
            </a:r>
            <a:endParaRPr sz="1800"/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4323250"/>
            <a:ext cx="5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ssh-copy-id -i ~/.ssh/key.pub user@host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ssh клиента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572700"/>
            <a:ext cx="72102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tyvik@TyVik-XPS:~/test/ssh$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ssh-keygen -t rsa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Generating public/private rsa key pair.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file in which to save the key (/home/tyvik/.ssh/id_rsa):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passphrase (empty for no passphrase):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same passphrase again: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identification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public key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key.pub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 fingerprint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SHA256:uKp5kovlfp0UZasbwapcjtPhvEZblKvlJvAo/VOhjGY tyvik@TyVik-XPS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key's randomart image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+---[RSA 3072]----+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o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. + .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B..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o +.*S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E B O.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=.# @.+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|.+X.#.*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|.o*X+=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+----[SHA256]-----+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Современная криптография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DSA - только подпись, зависит от хеш-функции SHA-*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DH - позволяет передать симметричный ключ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RSA - шифрование и подпись</a:t>
            </a:r>
            <a:endParaRPr sz="1800"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7101775" y="254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{AC9249EC-8F30-42E1-AD70-31179A4399D6}</a:tableStyleId>
              </a:tblPr>
              <a:tblGrid>
                <a:gridCol w="805800"/>
                <a:gridCol w="805800"/>
              </a:tblGrid>
              <a:tr h="25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RSA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Elliptic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1024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160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2048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224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3072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256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7680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384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15360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512</a:t>
                      </a:r>
                      <a:endParaRPr sz="15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8"/>
          <p:cNvSpPr txBox="1"/>
          <p:nvPr/>
        </p:nvSpPr>
        <p:spPr>
          <a:xfrm>
            <a:off x="405302" y="4774200"/>
            <a:ext cx="597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Доступно о криптографии на эллиптических кривых</a:t>
            </a:r>
            <a:endParaRPr sz="1200"/>
          </a:p>
        </p:txBody>
      </p:sp>
      <p:sp>
        <p:nvSpPr>
          <p:cNvPr id="91" name="Google Shape;91;p18"/>
          <p:cNvSpPr txBox="1"/>
          <p:nvPr/>
        </p:nvSpPr>
        <p:spPr>
          <a:xfrm>
            <a:off x="7220688" y="2083650"/>
            <a:ext cx="16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Длина ключа</a:t>
            </a:r>
            <a:endParaRPr sz="1800"/>
          </a:p>
        </p:txBody>
      </p:sp>
      <p:sp>
        <p:nvSpPr>
          <p:cNvPr id="92" name="Google Shape;92;p18"/>
          <p:cNvSpPr txBox="1"/>
          <p:nvPr/>
        </p:nvSpPr>
        <p:spPr>
          <a:xfrm>
            <a:off x="4572000" y="572700"/>
            <a:ext cx="426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ECDH - Диффи-Хелман на эллиптических кривых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ECDSA - верификация на эллиптических кривых</a:t>
            </a:r>
            <a:endParaRPr sz="1800"/>
          </a:p>
        </p:txBody>
      </p:sp>
      <p:sp>
        <p:nvSpPr>
          <p:cNvPr id="93" name="Google Shape;93;p18"/>
          <p:cNvSpPr txBox="1"/>
          <p:nvPr/>
        </p:nvSpPr>
        <p:spPr>
          <a:xfrm>
            <a:off x="405300" y="2946600"/>
            <a:ext cx="48417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Алгоритмы для получения сессионного ключа: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383A42"/>
                </a:solidFill>
                <a:highlight>
                  <a:srgbClr val="FBFDFF"/>
                </a:highlight>
              </a:rPr>
              <a:t>$ ssh -Q kex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Симметричные ключи для шифрования канала:</a:t>
            </a:r>
            <a:endParaRPr sz="1500"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383A42"/>
                </a:solidFill>
                <a:highlight>
                  <a:srgbClr val="FBFDFF"/>
                </a:highlight>
              </a:rPr>
              <a:t>$ ssh -Q cipher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Ключи для авторизации у клиента:</a:t>
            </a:r>
            <a:endParaRPr sz="1500"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83A42"/>
                </a:solidFill>
                <a:highlight>
                  <a:srgbClr val="FBFDFF"/>
                </a:highlight>
              </a:rPr>
              <a:t>$ ssh -Q key-cert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Диффи-Хеллман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4115390" cy="457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4427100" y="4774200"/>
            <a:ext cx="39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End-to-end Шифрование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по ssh</a:t>
            </a:r>
            <a:endParaRPr/>
          </a:p>
        </p:txBody>
      </p:sp>
      <p:pic>
        <p:nvPicPr>
          <p:cNvPr id="106" name="Google Shape;106;p20" title="ssh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375" y="572700"/>
            <a:ext cx="3781812" cy="455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sh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75" y="572700"/>
            <a:ext cx="4982324" cy="455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44150" y="4167325"/>
            <a:ext cx="8855700" cy="53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5"/>
              </a:rPr>
              <a:t>SSH с высоты птичьего полёта, или разгребаем кучи ключей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scp </a:t>
            </a: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/>
              <a:t>:</a:t>
            </a:r>
            <a:r>
              <a:rPr lang="en" sz="1800">
                <a:solidFill>
                  <a:srgbClr val="0B5394"/>
                </a:solidFill>
              </a:rPr>
              <a:t>/home/user/dst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>
                <a:solidFill>
                  <a:schemeClr val="dk1"/>
                </a:solidFill>
              </a:rPr>
              <a:t> - локальный файл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>
                <a:solidFill>
                  <a:schemeClr val="dk1"/>
                </a:solidFill>
              </a:rPr>
              <a:t> - удалённый компьютер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B5394"/>
                </a:solidFill>
              </a:rPr>
              <a:t>/home/user/dst</a:t>
            </a:r>
            <a:r>
              <a:rPr lang="en" sz="1800">
                <a:solidFill>
                  <a:schemeClr val="dk1"/>
                </a:solidFill>
              </a:rPr>
              <a:t> - путь до нового файла на удалённом компьютере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11700" y="324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tar czf - /home/user/file</a:t>
            </a:r>
            <a:r>
              <a:rPr lang="en" sz="1800"/>
              <a:t> | </a:t>
            </a:r>
            <a:r>
              <a:rPr lang="en" sz="1800">
                <a:solidFill>
                  <a:srgbClr val="38761D"/>
                </a:solidFill>
              </a:rPr>
              <a:t>ssh user@host</a:t>
            </a:r>
            <a:r>
              <a:rPr lang="en" sz="1800"/>
              <a:t> </a:t>
            </a:r>
            <a:r>
              <a:rPr lang="en" sz="1800">
                <a:solidFill>
                  <a:srgbClr val="0B5394"/>
                </a:solidFill>
              </a:rPr>
              <a:t>tar -xvzf -C /home/user/dst</a:t>
            </a:r>
            <a:endParaRPr sz="18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sshfs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311700" y="572700"/>
            <a:ext cx="7208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sshfs -d numicoins:/home/tyvik/ /mnt/sshfs</a:t>
            </a: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$ fusermount -u /mnt/sshfs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11700" y="4774200"/>
            <a:ext cx="520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Кунг-фу стиля Linux: удобная работа с файлами по SSH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Проброс туннеля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051" y="2621300"/>
            <a:ext cx="4591950" cy="25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311700" y="572700"/>
            <a:ext cx="720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-f -N -L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: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user@52.250.250.25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- локальный порт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- адрес удалённой машины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user@52.250.250.25</a:t>
            </a:r>
            <a:r>
              <a:rPr lang="en" sz="1800"/>
              <a:t> - доступ к бастион-хосту</a:t>
            </a:r>
            <a:endParaRPr sz="1800"/>
          </a:p>
        </p:txBody>
      </p:sp>
      <p:sp>
        <p:nvSpPr>
          <p:cNvPr id="130" name="Google Shape;130;p23"/>
          <p:cNvSpPr txBox="1"/>
          <p:nvPr/>
        </p:nvSpPr>
        <p:spPr>
          <a:xfrm>
            <a:off x="311700" y="2365650"/>
            <a:ext cx="45231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Host dbinstance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Hostname </a:t>
            </a:r>
            <a:r>
              <a:rPr lang="en" sz="1800">
                <a:solidFill>
                  <a:srgbClr val="FF0000"/>
                </a:solidFill>
              </a:rPr>
              <a:t>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LocalForward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311700" y="4774200"/>
            <a:ext cx="580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Наглядное руководство по SSH-туннелям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Запуск графических приложений</a:t>
            </a:r>
            <a:endParaRPr/>
          </a:p>
        </p:txBody>
      </p:sp>
      <p:sp>
        <p:nvSpPr>
          <p:cNvPr id="137" name="Google Shape;137;p24"/>
          <p:cNvSpPr txBox="1"/>
          <p:nvPr/>
        </p:nvSpPr>
        <p:spPr>
          <a:xfrm>
            <a:off x="311700" y="572700"/>
            <a:ext cx="720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сервере: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echo "X11Forwarding yes" &gt;&gt; /etc/ssh/sshd_conf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клиенте: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-YC server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me@server $ doublecmd</a:t>
            </a:r>
            <a:endParaRPr sz="1800"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210" y="2571750"/>
            <a:ext cx="626679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сервера ssh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311700" y="572700"/>
            <a:ext cx="720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/etc/ssh/sshd_config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Port 22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PermitRootLogin no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PasswordAuthentication no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PubkeyAuthentication yes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AllowUsers user1, user2</a:t>
            </a:r>
            <a:endParaRPr sz="1800"/>
          </a:p>
        </p:txBody>
      </p:sp>
      <p:sp>
        <p:nvSpPr>
          <p:cNvPr id="145" name="Google Shape;145;p25"/>
          <p:cNvSpPr txBox="1"/>
          <p:nvPr/>
        </p:nvSpPr>
        <p:spPr>
          <a:xfrm>
            <a:off x="311700" y="4774200"/>
            <a:ext cx="580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SSH academy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Методы защиты ssh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311700" y="572700"/>
            <a:ext cx="7208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авторизация по ключу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отключение входа root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fail2ban / PerSourcePenalties (встроен)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обязательное обновление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использование google-authenticator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смена дефолтного порта (?)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honeypot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ограничение по IP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port-knocking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ssh-audit</a:t>
            </a:r>
            <a:endParaRPr sz="1800"/>
          </a:p>
        </p:txBody>
      </p:sp>
      <p:sp>
        <p:nvSpPr>
          <p:cNvPr id="152" name="Google Shape;152;p26"/>
          <p:cNvSpPr txBox="1"/>
          <p:nvPr/>
        </p:nvSpPr>
        <p:spPr>
          <a:xfrm>
            <a:off x="311700" y="4774200"/>
            <a:ext cx="75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Fail2Ban больше не нужен? Разбираем PerSourcePenalties в OpenSSH на Ubuntu 26.04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tmux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311700" y="4533900"/>
            <a:ext cx="720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Ты еще не используешь tmux на полную! (Наверное)</a:t>
            </a:r>
            <a:endParaRPr sz="1200"/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Краткая шпаргалка по tmux (менеджеру терминалов)</a:t>
            </a:r>
            <a:endParaRPr sz="1200"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591150"/>
            <a:ext cx="6374368" cy="396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