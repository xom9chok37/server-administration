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FA6E2C-8086-44C3-B86A-C39E6122F2A4}">
  <a:tblStyle styleId="{58FA6E2C-8086-44C3-B86A-C39E6122F2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outu.be/xIyKUMpRTRE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vents.static.linuxfound.org/sites/events/files/slides/cgroup_and_namespaces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https://habr.com/ru/post/659049/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https://youtu.be/xIyKUMpRTRE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ec952733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ec952733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ec952733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ec952733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ec95273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ec95273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24ec5fe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24ec5f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cbe15306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cbe15306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cec952733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cec952733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0d8295bd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0d8295bd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https://medium.com/@alexander.bazhenov/%D0%B2%D0%B8%D1%80%D1%82%D1%83%D0%B0%D0%BB%D0%B8%D0%B7%D0%B0%D1%86%D0%B8%D1%8F-%D0%B2-linux-%D1%87%D0%B0%D1%81%D1%82%D1%8C-1-kernel-based-virtual-machine-kvm-55f989880dbf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bf7186c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bf7186c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0d8295bd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0d8295b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запустить virt-manager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25f8e41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25f8e41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cbe15306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cbe15306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cbe1530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cbe1530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2cbe153060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2cbe153060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24ec5fe2b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24ec5fe2b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ec952733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ec952733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24ec5fe2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24ec5fe2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2cbe153060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2cbe15306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2cbe15306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2cbe15306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2cbe15306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2cbe15306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24ec5fe2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24ec5fe2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25e8742c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25e8742c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cbe1530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2cbe1530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358dc07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358dc07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https://events.static.linuxfound.org/sites/events/files/slides/cgroup_and_namespaces.pdf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habr.com/ru/companies/timeweb/articles/526818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habr.com/ru/articles/541288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p8952/bocker/blob/master/bocker" TargetMode="External"/><Relationship Id="rId4" Type="http://schemas.openxmlformats.org/officeDocument/2006/relationships/hyperlink" Target="https://app.codecrafters.io/courses/docker/overview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github.com/docker/engine.gi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hub.docker.com/" TargetMode="External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hyperlink" Target="https://habr.com/ru/articles/707858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Виртуализация и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контейнеризация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575" y="560525"/>
            <a:ext cx="6528840" cy="42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88" y="381787"/>
            <a:ext cx="8367626" cy="43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Трансляция</a:t>
            </a:r>
            <a:endParaRPr/>
          </a:p>
        </p:txBody>
      </p:sp>
      <p:pic>
        <p:nvPicPr>
          <p:cNvPr id="71" name="Google Shape;71;p16" title="mxto0os6crxuvpv9jauths-ut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66675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 title="e6893ec66343eb7a2cf87d07ed5a749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9850" y="3250400"/>
            <a:ext cx="2524150" cy="18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Виды виртуализации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динамическая трансляция - перехватывает все команды и подменяет на безопасные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паравиртуализация - запуск специально подготовленного образа с модифицированным ядром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аппаратная виртуализация - динамическая трансляция на уровне железа (Intel VT-x, AMD-V). Необходима для KVM.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2303963" y="2602600"/>
            <a:ext cx="4536075" cy="22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8500" l="0" r="0" t="0"/>
          <a:stretch/>
        </p:blipFill>
        <p:spPr>
          <a:xfrm>
            <a:off x="2303963" y="2602600"/>
            <a:ext cx="4536075" cy="22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Виртуализация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5146500" y="789125"/>
            <a:ext cx="44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Минусы: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долгий запуск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оверхед ресурсов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сложность в настройке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интроспекция</a:t>
            </a:r>
            <a:endParaRPr sz="1600"/>
          </a:p>
        </p:txBody>
      </p:sp>
      <p:sp>
        <p:nvSpPr>
          <p:cNvPr id="87" name="Google Shape;87;p18"/>
          <p:cNvSpPr txBox="1"/>
          <p:nvPr/>
        </p:nvSpPr>
        <p:spPr>
          <a:xfrm>
            <a:off x="518400" y="789125"/>
            <a:ext cx="445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Плюсы: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максимальная изоляция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безопасность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честное распределение ресурсов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доступность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Виртуализация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User-mode Linux - паравиртуализация (локальная)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VMware - проприетарная, дорогая (предприятия)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XEN - паравиртуализация (SaaS)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Hyper-V - проприетарная, бесплатная (Windows)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KVM - виртуальная машина на основе ядра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9" title="Priv_ring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950" y="2312400"/>
            <a:ext cx="3930050" cy="283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 (Kernel-based Virtual Machine)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1550" y="560525"/>
            <a:ext cx="5940907" cy="45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 (Kernel-based Virtual Machine)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311700" y="560525"/>
            <a:ext cx="85206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754F"/>
                </a:solidFill>
              </a:rPr>
              <a:t>with</a:t>
            </a:r>
            <a:r>
              <a:rPr lang="en" sz="1300">
                <a:solidFill>
                  <a:srgbClr val="998418"/>
                </a:solidFill>
              </a:rPr>
              <a:t> open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chemeClr val="dk1"/>
                </a:solidFill>
              </a:rPr>
              <a:t>'</a:t>
            </a:r>
            <a:r>
              <a:rPr lang="en" sz="1300">
                <a:solidFill>
                  <a:srgbClr val="B56959"/>
                </a:solidFill>
              </a:rPr>
              <a:t>/dev/kvm</a:t>
            </a:r>
            <a:r>
              <a:rPr lang="en" sz="1300">
                <a:solidFill>
                  <a:schemeClr val="dk1"/>
                </a:solidFill>
              </a:rPr>
              <a:t>'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chemeClr val="dk1"/>
                </a:solidFill>
              </a:rPr>
              <a:t> '</a:t>
            </a:r>
            <a:r>
              <a:rPr lang="en" sz="1300">
                <a:solidFill>
                  <a:srgbClr val="B56959"/>
                </a:solidFill>
              </a:rPr>
              <a:t>wb+</a:t>
            </a:r>
            <a:r>
              <a:rPr lang="en" sz="1300">
                <a:solidFill>
                  <a:schemeClr val="dk1"/>
                </a:solidFill>
              </a:rPr>
              <a:t>'</a:t>
            </a:r>
            <a:r>
              <a:rPr lang="en" sz="1300">
                <a:solidFill>
                  <a:srgbClr val="999999"/>
                </a:solidFill>
              </a:rPr>
              <a:t>)</a:t>
            </a:r>
            <a:r>
              <a:rPr lang="en" sz="1300">
                <a:solidFill>
                  <a:srgbClr val="1E754F"/>
                </a:solidFill>
              </a:rPr>
              <a:t> as</a:t>
            </a:r>
            <a:r>
              <a:rPr lang="en" sz="1300">
                <a:solidFill>
                  <a:srgbClr val="393A34"/>
                </a:solidFill>
              </a:rPr>
              <a:t> kvm_fd</a:t>
            </a:r>
            <a:r>
              <a:rPr lang="en" sz="1300">
                <a:solidFill>
                  <a:srgbClr val="999999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0ADA0"/>
                </a:solidFill>
              </a:rPr>
              <a:t>    # KVM layer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version 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 ioctl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393A34"/>
                </a:solidFill>
              </a:rPr>
              <a:t>kvm_fd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KVM_GET_API_VERSION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2F798A"/>
                </a:solidFill>
              </a:rPr>
              <a:t> 0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1E754F"/>
                </a:solidFill>
              </a:rPr>
              <a:t>    if</a:t>
            </a:r>
            <a:r>
              <a:rPr lang="en" sz="1300">
                <a:solidFill>
                  <a:srgbClr val="393A34"/>
                </a:solidFill>
              </a:rPr>
              <a:t> version </a:t>
            </a:r>
            <a:r>
              <a:rPr lang="en" sz="1300">
                <a:solidFill>
                  <a:srgbClr val="AB5959"/>
                </a:solidFill>
              </a:rPr>
              <a:t>!=</a:t>
            </a:r>
            <a:r>
              <a:rPr lang="en" sz="1300">
                <a:solidFill>
                  <a:srgbClr val="2F798A"/>
                </a:solidFill>
              </a:rPr>
              <a:t> 12</a:t>
            </a:r>
            <a:r>
              <a:rPr lang="en" sz="1300">
                <a:solidFill>
                  <a:srgbClr val="999999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98418"/>
                </a:solidFill>
              </a:rPr>
              <a:t>        print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AB5959"/>
                </a:solidFill>
              </a:rPr>
              <a:t>f</a:t>
            </a:r>
            <a:r>
              <a:rPr lang="en" sz="1300">
                <a:solidFill>
                  <a:srgbClr val="B56959"/>
                </a:solidFill>
              </a:rPr>
              <a:t>'Unsupported version: </a:t>
            </a:r>
            <a:r>
              <a:rPr lang="en" sz="1300">
                <a:solidFill>
                  <a:srgbClr val="A65E2B"/>
                </a:solidFill>
              </a:rPr>
              <a:t>{</a:t>
            </a:r>
            <a:r>
              <a:rPr lang="en" sz="1300">
                <a:solidFill>
                  <a:srgbClr val="393A34"/>
                </a:solidFill>
              </a:rPr>
              <a:t>version</a:t>
            </a:r>
            <a:r>
              <a:rPr lang="en" sz="1300">
                <a:solidFill>
                  <a:srgbClr val="A65E2B"/>
                </a:solidFill>
              </a:rPr>
              <a:t>}</a:t>
            </a:r>
            <a:r>
              <a:rPr lang="en" sz="1300">
                <a:solidFill>
                  <a:srgbClr val="B56959"/>
                </a:solidFill>
              </a:rPr>
              <a:t>'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    sys</a:t>
            </a:r>
            <a:r>
              <a:rPr lang="en" sz="1300">
                <a:solidFill>
                  <a:srgbClr val="999999"/>
                </a:solidFill>
              </a:rPr>
              <a:t>.</a:t>
            </a:r>
            <a:r>
              <a:rPr lang="en" sz="1300">
                <a:solidFill>
                  <a:srgbClr val="393A34"/>
                </a:solidFill>
              </a:rPr>
              <a:t>exit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2F798A"/>
                </a:solidFill>
              </a:rPr>
              <a:t>1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0ADA0"/>
                </a:solidFill>
              </a:rPr>
              <a:t>    # Create VM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vm_fd 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 ioctl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393A34"/>
                </a:solidFill>
              </a:rPr>
              <a:t>kvm_fd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KVM_CREATE_VM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2F798A"/>
                </a:solidFill>
              </a:rPr>
              <a:t> 0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0ADA0"/>
                </a:solidFill>
              </a:rPr>
              <a:t>    # Create VM Memory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mem 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 mmap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AB5959"/>
                </a:solidFill>
              </a:rPr>
              <a:t>-</a:t>
            </a:r>
            <a:r>
              <a:rPr lang="en" sz="1300">
                <a:solidFill>
                  <a:srgbClr val="2F798A"/>
                </a:solidFill>
              </a:rPr>
              <a:t>1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RAM_SIZE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MAP_PRIVATE</a:t>
            </a:r>
            <a:r>
              <a:rPr lang="en" sz="1300">
                <a:solidFill>
                  <a:srgbClr val="AB5959"/>
                </a:solidFill>
              </a:rPr>
              <a:t> |</a:t>
            </a:r>
            <a:r>
              <a:rPr lang="en" sz="1300">
                <a:solidFill>
                  <a:srgbClr val="A65E2B"/>
                </a:solidFill>
              </a:rPr>
              <a:t> MAP_ANONYMOUS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PROT_READ</a:t>
            </a:r>
            <a:r>
              <a:rPr lang="en" sz="1300">
                <a:solidFill>
                  <a:srgbClr val="AB5959"/>
                </a:solidFill>
              </a:rPr>
              <a:t> |</a:t>
            </a:r>
            <a:r>
              <a:rPr lang="en" sz="1300">
                <a:solidFill>
                  <a:srgbClr val="A65E2B"/>
                </a:solidFill>
              </a:rPr>
              <a:t> PROT_WRITE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pmem 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 ctypes</a:t>
            </a:r>
            <a:r>
              <a:rPr lang="en" sz="1300">
                <a:solidFill>
                  <a:srgbClr val="999999"/>
                </a:solidFill>
              </a:rPr>
              <a:t>.</a:t>
            </a:r>
            <a:r>
              <a:rPr lang="en" sz="1300">
                <a:solidFill>
                  <a:srgbClr val="393A34"/>
                </a:solidFill>
              </a:rPr>
              <a:t>c_uint</a:t>
            </a:r>
            <a:r>
              <a:rPr lang="en" sz="1300">
                <a:solidFill>
                  <a:srgbClr val="999999"/>
                </a:solidFill>
              </a:rPr>
              <a:t>.</a:t>
            </a:r>
            <a:r>
              <a:rPr lang="en" sz="1300">
                <a:solidFill>
                  <a:srgbClr val="393A34"/>
                </a:solidFill>
              </a:rPr>
              <a:t>from_buffer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393A34"/>
                </a:solidFill>
              </a:rPr>
              <a:t>mem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mem_region 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 UserspaceMemoryRegion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B07D48"/>
                </a:solidFill>
              </a:rPr>
              <a:t>slot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2F798A"/>
                </a:solidFill>
              </a:rPr>
              <a:t>0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B07D48"/>
                </a:solidFill>
              </a:rPr>
              <a:t> flags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2F798A"/>
                </a:solidFill>
              </a:rPr>
              <a:t>0</a:t>
            </a:r>
            <a:r>
              <a:rPr lang="en" sz="1300">
                <a:solidFill>
                  <a:srgbClr val="999999"/>
                </a:solidFill>
              </a:rPr>
              <a:t>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07D48"/>
                </a:solidFill>
              </a:rPr>
              <a:t>                                       guest_phys_addr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2F798A"/>
                </a:solidFill>
              </a:rPr>
              <a:t>0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B07D48"/>
                </a:solidFill>
              </a:rPr>
              <a:t> memory_size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A65E2B"/>
                </a:solidFill>
              </a:rPr>
              <a:t>RAM_SIZE</a:t>
            </a:r>
            <a:r>
              <a:rPr lang="en" sz="1300">
                <a:solidFill>
                  <a:srgbClr val="999999"/>
                </a:solidFill>
              </a:rPr>
              <a:t>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07D48"/>
                </a:solidFill>
              </a:rPr>
              <a:t>                                       userspace_addr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ctypes</a:t>
            </a:r>
            <a:r>
              <a:rPr lang="en" sz="1300">
                <a:solidFill>
                  <a:srgbClr val="999999"/>
                </a:solidFill>
              </a:rPr>
              <a:t>.</a:t>
            </a:r>
            <a:r>
              <a:rPr lang="en" sz="1300">
                <a:solidFill>
                  <a:srgbClr val="393A34"/>
                </a:solidFill>
              </a:rPr>
              <a:t>addressof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393A34"/>
                </a:solidFill>
              </a:rPr>
              <a:t>pmem</a:t>
            </a:r>
            <a:r>
              <a:rPr lang="en" sz="1300">
                <a:solidFill>
                  <a:srgbClr val="999999"/>
                </a:solidFill>
              </a:rPr>
              <a:t>))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93A34"/>
                </a:solidFill>
              </a:rPr>
              <a:t>    ioctl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393A34"/>
                </a:solidFill>
              </a:rPr>
              <a:t>vm_fd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KVM_SET_USER_MEMORY_REGION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393A34"/>
                </a:solidFill>
              </a:rPr>
              <a:t> mem_region</a:t>
            </a:r>
            <a:r>
              <a:rPr lang="en" sz="1300">
                <a:solidFill>
                  <a:srgbClr val="999999"/>
                </a:solidFill>
              </a:rPr>
              <a:t>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A0ADA0"/>
                </a:solidFill>
              </a:rPr>
              <a:t>    # Create VCPU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393A34"/>
                </a:solidFill>
              </a:rPr>
              <a:t>    vcpu_fd </a:t>
            </a:r>
            <a:r>
              <a:rPr lang="en" sz="1300">
                <a:solidFill>
                  <a:srgbClr val="999999"/>
                </a:solidFill>
              </a:rPr>
              <a:t>=</a:t>
            </a:r>
            <a:r>
              <a:rPr lang="en" sz="1300">
                <a:solidFill>
                  <a:srgbClr val="393A34"/>
                </a:solidFill>
              </a:rPr>
              <a:t> ioctl</a:t>
            </a:r>
            <a:r>
              <a:rPr lang="en" sz="1300">
                <a:solidFill>
                  <a:srgbClr val="999999"/>
                </a:solidFill>
              </a:rPr>
              <a:t>(</a:t>
            </a:r>
            <a:r>
              <a:rPr lang="en" sz="1300">
                <a:solidFill>
                  <a:srgbClr val="393A34"/>
                </a:solidFill>
              </a:rPr>
              <a:t>vm_fd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A65E2B"/>
                </a:solidFill>
              </a:rPr>
              <a:t> KVM_CREATE_VCPU</a:t>
            </a:r>
            <a:r>
              <a:rPr lang="en" sz="1300">
                <a:solidFill>
                  <a:srgbClr val="999999"/>
                </a:solidFill>
              </a:rPr>
              <a:t>,</a:t>
            </a:r>
            <a:r>
              <a:rPr lang="en" sz="1300">
                <a:solidFill>
                  <a:srgbClr val="2F798A"/>
                </a:solidFill>
              </a:rPr>
              <a:t> 0</a:t>
            </a:r>
            <a:r>
              <a:rPr lang="en" sz="1300">
                <a:solidFill>
                  <a:srgbClr val="999999"/>
                </a:solidFill>
              </a:rPr>
              <a:t>)</a:t>
            </a:r>
            <a:r>
              <a:rPr i="1" lang="en" sz="1300">
                <a:solidFill>
                  <a:srgbClr val="B31D28"/>
                </a:solidFill>
              </a:rPr>
              <a:t>;</a:t>
            </a:r>
            <a:endParaRPr i="1" sz="1300">
              <a:solidFill>
                <a:srgbClr val="B31D2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311700" y="4774200"/>
            <a:ext cx="75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Хост KVM в паре строчек кода. Примеры на C++ и на Python от эксперта Timeweb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libvirt</a:t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711" y="621425"/>
            <a:ext cx="6262576" cy="352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/>
        </p:nvSpPr>
        <p:spPr>
          <a:xfrm>
            <a:off x="311700" y="42647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# virt-install --name mkdev-vm-0 --location ~/Downloads/CentOS.iso --memory=1024 --vcpus=1 --disk size=8</a:t>
            </a:r>
            <a:endParaRPr b="1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Proxmox</a:t>
            </a:r>
            <a:endParaRPr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750" y="572700"/>
            <a:ext cx="8130509" cy="457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Контейнеризация</a:t>
            </a:r>
            <a:endParaRPr sz="2500"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35"/>
            <a:ext cx="5298051" cy="3899777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/>
        </p:nvSpPr>
        <p:spPr>
          <a:xfrm>
            <a:off x="6240900" y="940363"/>
            <a:ext cx="2591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Контейнеризация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Плюсы: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быстрый запуск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интроспекция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меньший оверхед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простота настройки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Минусы: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изоляция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безопасность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/>
          <p:nvPr/>
        </p:nvSpPr>
        <p:spPr>
          <a:xfrm>
            <a:off x="237425" y="639975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История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237425" y="2957950"/>
            <a:ext cx="6241500" cy="1509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/>
          <p:nvPr/>
        </p:nvSpPr>
        <p:spPr>
          <a:xfrm>
            <a:off x="350950" y="32843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chroot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1979</a:t>
            </a:r>
            <a:endParaRPr/>
          </a:p>
        </p:txBody>
      </p:sp>
      <p:sp>
        <p:nvSpPr>
          <p:cNvPr id="136" name="Google Shape;136;p25"/>
          <p:cNvSpPr txBox="1"/>
          <p:nvPr/>
        </p:nvSpPr>
        <p:spPr>
          <a:xfrm>
            <a:off x="823025" y="639975"/>
            <a:ext cx="260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Виртуализация</a:t>
            </a:r>
            <a:endParaRPr sz="1800"/>
          </a:p>
        </p:txBody>
      </p:sp>
      <p:sp>
        <p:nvSpPr>
          <p:cNvPr id="137" name="Google Shape;137;p25"/>
          <p:cNvSpPr txBox="1"/>
          <p:nvPr/>
        </p:nvSpPr>
        <p:spPr>
          <a:xfrm>
            <a:off x="823025" y="3998000"/>
            <a:ext cx="284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Контейнеризация</a:t>
            </a:r>
            <a:endParaRPr sz="1800"/>
          </a:p>
        </p:txBody>
      </p:sp>
      <p:sp>
        <p:nvSpPr>
          <p:cNvPr id="138" name="Google Shape;138;p25"/>
          <p:cNvSpPr/>
          <p:nvPr/>
        </p:nvSpPr>
        <p:spPr>
          <a:xfrm>
            <a:off x="2003975" y="32843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jails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2000</a:t>
            </a:r>
            <a:endParaRPr/>
          </a:p>
        </p:txBody>
      </p:sp>
      <p:sp>
        <p:nvSpPr>
          <p:cNvPr id="139" name="Google Shape;139;p25"/>
          <p:cNvSpPr/>
          <p:nvPr/>
        </p:nvSpPr>
        <p:spPr>
          <a:xfrm>
            <a:off x="3657000" y="32843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OpenVZ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2005</a:t>
            </a:r>
            <a:endParaRPr/>
          </a:p>
        </p:txBody>
      </p:sp>
      <p:sp>
        <p:nvSpPr>
          <p:cNvPr id="140" name="Google Shape;140;p25"/>
          <p:cNvSpPr/>
          <p:nvPr/>
        </p:nvSpPr>
        <p:spPr>
          <a:xfrm>
            <a:off x="5310025" y="32843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LXC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2008</a:t>
            </a:r>
            <a:endParaRPr/>
          </a:p>
        </p:txBody>
      </p:sp>
      <p:sp>
        <p:nvSpPr>
          <p:cNvPr id="141" name="Google Shape;141;p25"/>
          <p:cNvSpPr/>
          <p:nvPr/>
        </p:nvSpPr>
        <p:spPr>
          <a:xfrm>
            <a:off x="7169200" y="2256275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2013</a:t>
            </a:r>
            <a:endParaRPr/>
          </a:p>
        </p:txBody>
      </p:sp>
      <p:sp>
        <p:nvSpPr>
          <p:cNvPr id="142" name="Google Shape;142;p25"/>
          <p:cNvSpPr/>
          <p:nvPr/>
        </p:nvSpPr>
        <p:spPr>
          <a:xfrm>
            <a:off x="350950" y="12483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VMware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1999</a:t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3517575" y="1071000"/>
            <a:ext cx="1161900" cy="8808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KVM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VirtualBox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2007</a:t>
            </a:r>
            <a:endParaRPr/>
          </a:p>
        </p:txBody>
      </p:sp>
      <p:sp>
        <p:nvSpPr>
          <p:cNvPr id="144" name="Google Shape;144;p25"/>
          <p:cNvSpPr/>
          <p:nvPr/>
        </p:nvSpPr>
        <p:spPr>
          <a:xfrm>
            <a:off x="1864513" y="1143900"/>
            <a:ext cx="1161900" cy="7350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Intel VT-x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AMD-V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2006</a:t>
            </a:r>
            <a:endParaRPr/>
          </a:p>
        </p:txBody>
      </p:sp>
      <p:sp>
        <p:nvSpPr>
          <p:cNvPr id="145" name="Google Shape;145;p25"/>
          <p:cNvSpPr/>
          <p:nvPr/>
        </p:nvSpPr>
        <p:spPr>
          <a:xfrm>
            <a:off x="5310025" y="1248300"/>
            <a:ext cx="1022400" cy="5262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Hyper-V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2008</a:t>
            </a:r>
            <a:endParaRPr/>
          </a:p>
        </p:txBody>
      </p:sp>
      <p:cxnSp>
        <p:nvCxnSpPr>
          <p:cNvPr id="146" name="Google Shape;146;p25"/>
          <p:cNvCxnSpPr>
            <a:stCxn id="138" idx="3"/>
            <a:endCxn id="139" idx="1"/>
          </p:cNvCxnSpPr>
          <p:nvPr/>
        </p:nvCxnSpPr>
        <p:spPr>
          <a:xfrm>
            <a:off x="3026375" y="35474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5"/>
          <p:cNvCxnSpPr>
            <a:stCxn id="135" idx="3"/>
            <a:endCxn id="138" idx="1"/>
          </p:cNvCxnSpPr>
          <p:nvPr/>
        </p:nvCxnSpPr>
        <p:spPr>
          <a:xfrm>
            <a:off x="1373350" y="35474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5"/>
          <p:cNvCxnSpPr>
            <a:stCxn id="139" idx="3"/>
            <a:endCxn id="140" idx="1"/>
          </p:cNvCxnSpPr>
          <p:nvPr/>
        </p:nvCxnSpPr>
        <p:spPr>
          <a:xfrm>
            <a:off x="4679400" y="3547475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5"/>
          <p:cNvCxnSpPr>
            <a:stCxn id="140" idx="3"/>
            <a:endCxn id="141" idx="2"/>
          </p:cNvCxnSpPr>
          <p:nvPr/>
        </p:nvCxnSpPr>
        <p:spPr>
          <a:xfrm flipH="1" rot="10800000">
            <a:off x="6332425" y="2782475"/>
            <a:ext cx="1347900" cy="76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5"/>
          <p:cNvCxnSpPr>
            <a:stCxn id="142" idx="3"/>
            <a:endCxn id="144" idx="1"/>
          </p:cNvCxnSpPr>
          <p:nvPr/>
        </p:nvCxnSpPr>
        <p:spPr>
          <a:xfrm>
            <a:off x="1373350" y="15114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5"/>
          <p:cNvCxnSpPr>
            <a:stCxn id="144" idx="3"/>
            <a:endCxn id="143" idx="1"/>
          </p:cNvCxnSpPr>
          <p:nvPr/>
        </p:nvCxnSpPr>
        <p:spPr>
          <a:xfrm>
            <a:off x="3026413" y="1511400"/>
            <a:ext cx="491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5"/>
          <p:cNvCxnSpPr>
            <a:stCxn id="143" idx="3"/>
            <a:endCxn id="145" idx="1"/>
          </p:cNvCxnSpPr>
          <p:nvPr/>
        </p:nvCxnSpPr>
        <p:spPr>
          <a:xfrm>
            <a:off x="4679475" y="1511400"/>
            <a:ext cx="6306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5"/>
          <p:cNvCxnSpPr>
            <a:stCxn id="145" idx="3"/>
            <a:endCxn id="141" idx="0"/>
          </p:cNvCxnSpPr>
          <p:nvPr/>
        </p:nvCxnSpPr>
        <p:spPr>
          <a:xfrm>
            <a:off x="6332425" y="1511400"/>
            <a:ext cx="1347900" cy="744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5"/>
          <p:cNvCxnSpPr>
            <a:stCxn id="141" idx="3"/>
          </p:cNvCxnSpPr>
          <p:nvPr/>
        </p:nvCxnSpPr>
        <p:spPr>
          <a:xfrm>
            <a:off x="8191600" y="2519375"/>
            <a:ext cx="697500" cy="12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5"/>
          <p:cNvSpPr txBox="1"/>
          <p:nvPr/>
        </p:nvSpPr>
        <p:spPr>
          <a:xfrm>
            <a:off x="237425" y="4774200"/>
            <a:ext cx="542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Недостающее введение в контейнеризацию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Docker</a:t>
            </a:r>
            <a:endParaRPr sz="2500">
              <a:solidFill>
                <a:srgbClr val="000000"/>
              </a:solidFill>
            </a:endParaRPr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887" y="501189"/>
            <a:ext cx="7342225" cy="368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/>
        </p:nvSpPr>
        <p:spPr>
          <a:xfrm>
            <a:off x="2305200" y="4312400"/>
            <a:ext cx="4533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image/container == file/process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bocker</a:t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311700" y="4774200"/>
            <a:ext cx="228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Build your own Docker</a:t>
            </a:r>
            <a:endParaRPr sz="1200"/>
          </a:p>
        </p:txBody>
      </p:sp>
      <p:sp>
        <p:nvSpPr>
          <p:cNvPr id="169" name="Google Shape;169;p27"/>
          <p:cNvSpPr txBox="1"/>
          <p:nvPr/>
        </p:nvSpPr>
        <p:spPr>
          <a:xfrm>
            <a:off x="1715775" y="1123525"/>
            <a:ext cx="401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27"/>
          <p:cNvSpPr txBox="1"/>
          <p:nvPr/>
        </p:nvSpPr>
        <p:spPr>
          <a:xfrm>
            <a:off x="311700" y="669475"/>
            <a:ext cx="8687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bocker_images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() { </a:t>
            </a:r>
            <a:r>
              <a:rPr lang="en" sz="1700">
                <a:solidFill>
                  <a:srgbClr val="697070"/>
                </a:solidFill>
                <a:latin typeface="Courier New"/>
                <a:ea typeface="Courier New"/>
                <a:cs typeface="Courier New"/>
                <a:sym typeface="Courier New"/>
              </a:rPr>
              <a:t>#HELP List images:\nBOCKER images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-e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"IMAGE_ID\t\tSOURCE"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img 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$btrfs_path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/img_*; 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	img=$(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basename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" sz="1700">
                <a:solidFill>
                  <a:srgbClr val="397300"/>
                </a:solidFill>
                <a:latin typeface="Courier New"/>
                <a:ea typeface="Courier New"/>
                <a:cs typeface="Courier New"/>
                <a:sym typeface="Courier New"/>
              </a:rPr>
              <a:t>echo</a:t>
            </a: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 -e 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\t\t$(cat "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$btrfs_path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700">
                <a:solidFill>
                  <a:srgbClr val="AB5656"/>
                </a:solidFill>
                <a:latin typeface="Courier New"/>
                <a:ea typeface="Courier New"/>
                <a:cs typeface="Courier New"/>
                <a:sym typeface="Courier New"/>
              </a:rPr>
              <a:t>$img</a:t>
            </a:r>
            <a:r>
              <a:rPr lang="en" sz="1700">
                <a:solidFill>
                  <a:srgbClr val="880000"/>
                </a:solidFill>
                <a:latin typeface="Courier New"/>
                <a:ea typeface="Courier New"/>
                <a:cs typeface="Courier New"/>
                <a:sym typeface="Courier New"/>
              </a:rPr>
              <a:t>/img.source")"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700">
                <a:solidFill>
                  <a:srgbClr val="444444"/>
                </a:solidFill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endParaRPr sz="1700">
              <a:solidFill>
                <a:srgbClr val="444444"/>
              </a:solidFill>
              <a:highlight>
                <a:srgbClr val="F3F3F3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44444"/>
                </a:solidFill>
                <a:highlight>
                  <a:srgbClr val="F3F3F3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engine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080250"/>
            <a:ext cx="4825650" cy="24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8"/>
          <p:cNvSpPr txBox="1"/>
          <p:nvPr/>
        </p:nvSpPr>
        <p:spPr>
          <a:xfrm>
            <a:off x="311700" y="560525"/>
            <a:ext cx="852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cgroups - управление ресурсами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namespaces - изоляция числовых идентификаторов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Layer FS - эмуляция ФС</a:t>
            </a:r>
            <a:endParaRPr sz="2200"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651" y="2017113"/>
            <a:ext cx="3701849" cy="2572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8638425" y="0"/>
            <a:ext cx="505500" cy="418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/>
        </p:nvSpPr>
        <p:spPr>
          <a:xfrm>
            <a:off x="311700" y="496500"/>
            <a:ext cx="852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 clone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https://github.com/docker/engine.git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git checkout a27b4b8cb8e838d03a99b6d2b30f76bdaf2f9e5d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cat lxc-template.go</a:t>
            </a:r>
            <a:endParaRPr sz="1600"/>
          </a:p>
        </p:txBody>
      </p:sp>
      <p:sp>
        <p:nvSpPr>
          <p:cNvPr id="185" name="Google Shape;185;p29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Docker: начало</a:t>
            </a:r>
            <a:endParaRPr sz="2500">
              <a:solidFill>
                <a:srgbClr val="000000"/>
              </a:solidFill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0" y="1334700"/>
            <a:ext cx="457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/>
              <a:t>filesystem.go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func (fs *Filesystem) Mount() error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fs.createMountPoints();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rwBranch := fmt.Sprintf("%v=rw", fs.RWPath)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roBranches := ""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for _, layer := range fs.Layers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roBranches += fmt.Sprintf("%v=ro:", layer)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branches := fmt.Sprintf(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      "br:%v:%v", rwBranch, roBranches)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	cmd := exec.Command(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               "mount", "-t", "aufs", "-o", branches, "none", fs.RootFS)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cmd.Run();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return nil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  <p:sp>
        <p:nvSpPr>
          <p:cNvPr id="187" name="Google Shape;187;p29"/>
          <p:cNvSpPr txBox="1"/>
          <p:nvPr/>
        </p:nvSpPr>
        <p:spPr>
          <a:xfrm>
            <a:off x="4572000" y="1268625"/>
            <a:ext cx="4572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/>
              <a:t>container.go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func (container *Container) Start() error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container.Filesystem.Mount();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params = append(params, container.Args...)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 = exec.Command("/usr/bin/lxc-start", params...)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container.cmd.Stdout = container.stdout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container.cmd.Stderr = container.stderr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if err := container.cmd.Start(); err != nil {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	return err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}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container.State.setRunning(container.cmd.Process.Pid)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/>
              <a:t>	go container.monitor()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           …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}</a:t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Установка Docker</a:t>
            </a:r>
            <a:endParaRPr/>
          </a:p>
        </p:txBody>
      </p:sp>
      <p:sp>
        <p:nvSpPr>
          <p:cNvPr id="193" name="Google Shape;193;p30"/>
          <p:cNvSpPr txBox="1"/>
          <p:nvPr/>
        </p:nvSpPr>
        <p:spPr>
          <a:xfrm>
            <a:off x="311700" y="57270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apt install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groupadd docker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sudo usermod -aG docker user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exit</a:t>
            </a:r>
            <a:endParaRPr sz="1800"/>
          </a:p>
        </p:txBody>
      </p:sp>
      <p:sp>
        <p:nvSpPr>
          <p:cNvPr id="194" name="Google Shape;194;p30"/>
          <p:cNvSpPr txBox="1"/>
          <p:nvPr/>
        </p:nvSpPr>
        <p:spPr>
          <a:xfrm>
            <a:off x="311700" y="2615500"/>
            <a:ext cx="85206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docker run hello-world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Unable to find image 'hello-world:latest' locally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latest: Pulling from library/hello-world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2db29710123e: Pull complete 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Digest: sha256:ffb13da98453e0f04d33a6eee5bb8e46ee50d08ebe17735fc0779d0349e889e9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Status: Downloaded newer image for hello-world:latest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Hello from Docker!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Docker hub 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https://hub.docker.com/</a:t>
            </a:r>
            <a:r>
              <a:rPr lang="en"/>
              <a:t>)</a:t>
            </a:r>
            <a:endParaRPr/>
          </a:p>
        </p:txBody>
      </p:sp>
      <p:sp>
        <p:nvSpPr>
          <p:cNvPr id="200" name="Google Shape;200;p31"/>
          <p:cNvSpPr txBox="1"/>
          <p:nvPr/>
        </p:nvSpPr>
        <p:spPr>
          <a:xfrm>
            <a:off x="311700" y="572700"/>
            <a:ext cx="7744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login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search python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pull python:slim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push python:slim</a:t>
            </a:r>
            <a:endParaRPr sz="1800"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901" y="1560575"/>
            <a:ext cx="4959398" cy="33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Стандартные теги</a:t>
            </a:r>
            <a:endParaRPr/>
          </a:p>
        </p:txBody>
      </p:sp>
      <p:sp>
        <p:nvSpPr>
          <p:cNvPr id="207" name="Google Shape;207;p32"/>
          <p:cNvSpPr txBox="1"/>
          <p:nvPr/>
        </p:nvSpPr>
        <p:spPr>
          <a:xfrm>
            <a:off x="311700" y="1057925"/>
            <a:ext cx="85206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slim/slim-(bookworm|bullseye) - только runtime (версия debian)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(</a:t>
            </a:r>
            <a:r>
              <a:rPr lang="en" sz="1900">
                <a:solidFill>
                  <a:schemeClr val="dk1"/>
                </a:solidFill>
              </a:rPr>
              <a:t>bookworm|bullseye</a:t>
            </a:r>
            <a:r>
              <a:rPr lang="en" sz="1900"/>
              <a:t>) - полный образ debian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alpine - основан на Alpine linux</a:t>
            </a:r>
            <a:endParaRPr sz="1900"/>
          </a:p>
        </p:txBody>
      </p:sp>
      <p:sp>
        <p:nvSpPr>
          <p:cNvPr id="208" name="Google Shape;208;p32"/>
          <p:cNvSpPr txBox="1"/>
          <p:nvPr/>
        </p:nvSpPr>
        <p:spPr>
          <a:xfrm>
            <a:off x="311700" y="572700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docker pull </a:t>
            </a:r>
            <a:r>
              <a:rPr lang="en" sz="1800">
                <a:solidFill>
                  <a:srgbClr val="FF9900"/>
                </a:solidFill>
              </a:rPr>
              <a:t>python</a:t>
            </a:r>
            <a:r>
              <a:rPr lang="en" sz="1800"/>
              <a:t>:</a:t>
            </a:r>
            <a:r>
              <a:rPr lang="en" sz="1800">
                <a:solidFill>
                  <a:srgbClr val="FF0000"/>
                </a:solidFill>
              </a:rPr>
              <a:t>3.9.5</a:t>
            </a:r>
            <a:r>
              <a:rPr lang="en" sz="1800"/>
              <a:t>-</a:t>
            </a:r>
            <a:r>
              <a:rPr lang="en" sz="1800">
                <a:solidFill>
                  <a:srgbClr val="0000FF"/>
                </a:solidFill>
              </a:rPr>
              <a:t>slim-bookworm</a:t>
            </a:r>
            <a:endParaRPr sz="1800">
              <a:solidFill>
                <a:srgbClr val="0000FF"/>
              </a:solidFill>
            </a:endParaRPr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038" y="2793900"/>
            <a:ext cx="8569925" cy="16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</a:t>
            </a:r>
            <a:endParaRPr/>
          </a:p>
        </p:txBody>
      </p:sp>
      <p:sp>
        <p:nvSpPr>
          <p:cNvPr id="215" name="Google Shape;215;p33"/>
          <p:cNvSpPr txBox="1"/>
          <p:nvPr/>
        </p:nvSpPr>
        <p:spPr>
          <a:xfrm>
            <a:off x="311800" y="48745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</a:rPr>
              <a:t>"Small. Simple. Secure. Alpine Linux is a security-oriented, lightweight Linux distribution based on musl libc and busybox."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6" name="Google Shape;216;p33" title="6bd64d65fccc3eb7ce4b331e748d71d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325" y="856750"/>
            <a:ext cx="3440099" cy="3932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7" name="Google Shape;217;p33"/>
          <p:cNvGraphicFramePr/>
          <p:nvPr/>
        </p:nvGraphicFramePr>
        <p:xfrm>
          <a:off x="4442950" y="1483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{58FA6E2C-8086-44C3-B86A-C39E6122F2A4}</a:tableStyleId>
              </a:tblPr>
              <a:tblGrid>
                <a:gridCol w="1545150"/>
                <a:gridCol w="1381175"/>
                <a:gridCol w="1463125"/>
              </a:tblGrid>
              <a:tr h="36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alpine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debian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размер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минимальный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нормальный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пакетный менеджер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компилятор 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musl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glibc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количество библиотек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нормально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максимально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61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когда выбрать?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используете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расширяете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33"/>
          <p:cNvSpPr txBox="1"/>
          <p:nvPr/>
        </p:nvSpPr>
        <p:spPr>
          <a:xfrm>
            <a:off x="311800" y="4789225"/>
            <a:ext cx="492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У вас нет причин использовать alpine для python-проектов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Преимущества Docker</a:t>
            </a:r>
            <a:endParaRPr/>
          </a:p>
        </p:txBody>
      </p:sp>
      <p:sp>
        <p:nvSpPr>
          <p:cNvPr id="224" name="Google Shape;224;p34"/>
          <p:cNvSpPr txBox="1"/>
          <p:nvPr/>
        </p:nvSpPr>
        <p:spPr>
          <a:xfrm>
            <a:off x="311700" y="560525"/>
            <a:ext cx="67374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Упрощение конфигурирования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Поддержка CI/CD пайплайнов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Изоляция приложений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Утилизация ресурсов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Отладка приложения в контейнере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Ускорение разработки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Переносимость приложений между окружениями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Поддержка автоматической сборки приложения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Встроенное версионирование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Репозиторий образов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Огромное количество утилит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Оркестрация всех контейнеров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Сопутствующие сервисы</a:t>
            </a:r>
            <a:endParaRPr/>
          </a:p>
        </p:txBody>
      </p:sp>
      <p:sp>
        <p:nvSpPr>
          <p:cNvPr id="230" name="Google Shape;230;p35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мониторинг (statsd, prom)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алертинг (yelp, opsgenie)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дашборд с графиками (Grafana)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отлов ошибок (Sentry)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логирование (ELK)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профилирование (DataDog)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CI/CD (GitLab, CircleCI)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хранение секретов (Vault)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трейсинг (OpenTracing, jaeger)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оркестрация (Docker Swarm, Kubernetes, Nomad)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IaC (Terraform, Ansible, Chef, Puppet)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311700" y="542875"/>
            <a:ext cx="8520600" cy="42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