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33BA0EC-7E2E-4C59-AF3F-BE8BB1219E68}">
  <a:tblStyle styleId="{733BA0EC-7E2E-4C59-AF3F-BE8BB1219E6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slide" Target="slides/slide26.xml"/><Relationship Id="rId10" Type="http://schemas.openxmlformats.org/officeDocument/2006/relationships/slide" Target="slides/slide3.xml"/><Relationship Id="rId32" Type="http://schemas.openxmlformats.org/officeDocument/2006/relationships/slide" Target="slides/slide25.xml"/><Relationship Id="rId13" Type="http://schemas.openxmlformats.org/officeDocument/2006/relationships/slide" Target="slides/slide6.xml"/><Relationship Id="rId35" Type="http://schemas.openxmlformats.org/officeDocument/2006/relationships/slide" Target="slides/slide28.xml"/><Relationship Id="rId12" Type="http://schemas.openxmlformats.org/officeDocument/2006/relationships/slide" Target="slides/slide5.xml"/><Relationship Id="rId34" Type="http://schemas.openxmlformats.org/officeDocument/2006/relationships/slide" Target="slides/slide27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schemas.openxmlformats.org/officeDocument/2006/relationships/slide" Target="slides/slide29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github.com/jlevy/the-art-of-command-line/blob/master/README-ru.md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b6afee4ead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b6afee4ead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https://github.com/jlevy/the-art-of-command-line/blob/master/README-ru.md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Различие в подходе GUI и CLI.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https://habr.com/ru/company/ruvds/blog/589245/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aa2af720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aa2af720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Разница между терминалом и шеллом. Команда tty.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be412aef7a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be412aef7a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2a07fb5fe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2a07fb5f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b8b682116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b8b682116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b7dc8d7f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b7dc8d7f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Одна утилита, но делает это хорошо.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1595cbc53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11595cbc53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a07fb5fe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2a07fb5fe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a07fb5fe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2a07fb5fe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a07fb5fe0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2a07fb5fe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be412aef7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be412aef7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2a07fb5fe0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2a07fb5fe0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2a07fb5fe0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2a07fb5fe0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 без аргументов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2a07fb5fe0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2a07fb5fe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b6afee4ea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b6afee4ea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aa2af72061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aa2af72061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echo $PATH | sed -e "s/:/\n/g"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вывод LC_TIME="ru_RU.UTF8" date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a2af72061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a2af7206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aa3c917df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aa3c917df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a3c917df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a3c917df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1aed39ec0_1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f1aed39ec0_1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1f1aed39ec0_1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1f1aed39ec0_1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5cb7a676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5cb7a676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2ba218144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2ba218144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2ba218144ee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2ba218144ee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Gzip работает над потоком байт, tar сохраняет права доступа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Gzip - де-факто стандарт в интернете</a:t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ba218144ee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2ba218144ee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https://habr.com/ru/company/skillfactory/blog/656423/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5cb7a67637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5cb7a67637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1f1aed39ec0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1f1aed39ec0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34cbae43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34cbae43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9fa5b5f4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b9fa5b5f4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habr.com/ru/articles/537156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habr.com/ru/articles/157283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ohmyz.sh/" TargetMode="External"/><Relationship Id="rId4" Type="http://schemas.openxmlformats.org/officeDocument/2006/relationships/hyperlink" Target="https://www.educba.com/zsh-vs-bash/" TargetMode="External"/><Relationship Id="rId5" Type="http://schemas.openxmlformats.org/officeDocument/2006/relationships/hyperlink" Target="https://habr.com/ru/articles/326580/" TargetMode="External"/><Relationship Id="rId6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hyperlink" Target="https://cheatography.com/davechild/cheat-sheets/linux-command-line/" TargetMode="External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catonmat.net/ftp/bash-redirections-cheat-sheet.pdf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hyperlink" Target="https://habr.com/ru/articles/452410/" TargetMode="External"/><Relationship Id="rId5" Type="http://schemas.openxmlformats.org/officeDocument/2006/relationships/hyperlink" Target="https://blog.flowblok.id.au/2013-02/shell-startup-scripts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regexcrossword.com/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hyperlink" Target="https://habr.com/ru/companies/alfa/articles/885408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s://habr.com/ru/companies/skillfactory/articles/656423/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habr.com/ru/articles/553000/" TargetMode="External"/><Relationship Id="rId4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hyperlink" Target="https://habr.com/ru/articles/867114/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hyperlink" Target="https://github.com/nvbn/thefuck" TargetMode="Externa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0" y="625750"/>
            <a:ext cx="8520600" cy="952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Терминал</a:t>
            </a:r>
            <a:endParaRPr/>
          </a:p>
        </p:txBody>
      </p:sp>
      <p:pic>
        <p:nvPicPr>
          <p:cNvPr id="100" name="Google Shape;10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2575" y="1629500"/>
            <a:ext cx="4118842" cy="3260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Terminal</a:t>
            </a:r>
            <a:endParaRPr/>
          </a:p>
        </p:txBody>
      </p:sp>
      <p:pic>
        <p:nvPicPr>
          <p:cNvPr id="106" name="Google Shape;10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875" y="2156925"/>
            <a:ext cx="3538250" cy="2797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099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45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91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3775" y="712925"/>
            <a:ext cx="1024225" cy="8372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26"/>
          <p:cNvCxnSpPr>
            <a:stCxn id="107" idx="2"/>
            <a:endCxn id="106" idx="0"/>
          </p:cNvCxnSpPr>
          <p:nvPr/>
        </p:nvCxnSpPr>
        <p:spPr>
          <a:xfrm flipH="1" rot="-5400000">
            <a:off x="2893687" y="478600"/>
            <a:ext cx="606600" cy="27498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26"/>
          <p:cNvCxnSpPr>
            <a:stCxn id="108" idx="2"/>
            <a:endCxn id="106" idx="0"/>
          </p:cNvCxnSpPr>
          <p:nvPr/>
        </p:nvCxnSpPr>
        <p:spPr>
          <a:xfrm flipH="1" rot="-5400000">
            <a:off x="3741087" y="1325800"/>
            <a:ext cx="606600" cy="10554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" name="Google Shape;113;p26"/>
          <p:cNvCxnSpPr>
            <a:stCxn id="109" idx="2"/>
            <a:endCxn id="106" idx="0"/>
          </p:cNvCxnSpPr>
          <p:nvPr/>
        </p:nvCxnSpPr>
        <p:spPr>
          <a:xfrm rot="5400000">
            <a:off x="4588337" y="1533850"/>
            <a:ext cx="606600" cy="6393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26"/>
          <p:cNvCxnSpPr>
            <a:stCxn id="110" idx="2"/>
            <a:endCxn id="106" idx="0"/>
          </p:cNvCxnSpPr>
          <p:nvPr/>
        </p:nvCxnSpPr>
        <p:spPr>
          <a:xfrm rot="5400000">
            <a:off x="5435587" y="686500"/>
            <a:ext cx="606600" cy="2334000"/>
          </a:xfrm>
          <a:prstGeom prst="curvedConnector3">
            <a:avLst>
              <a:gd fmla="val 5001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Shell</a:t>
            </a:r>
            <a:endParaRPr/>
          </a:p>
        </p:txBody>
      </p:sp>
      <p:sp>
        <p:nvSpPr>
          <p:cNvPr id="120" name="Google Shape;120;p27"/>
          <p:cNvSpPr txBox="1"/>
          <p:nvPr/>
        </p:nvSpPr>
        <p:spPr>
          <a:xfrm>
            <a:off x="311700" y="789125"/>
            <a:ext cx="85206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sh - оригинальный Bourne shell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ksh - Korn shell (AIX, HP-UX)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fish - friendly interactive shell (не POSIX)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bash - Bourne again shell (linux)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zsh - Z shell (macOS)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ash - Almquist shell (alpine, busybox)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21" name="Google Shape;121;p27"/>
          <p:cNvSpPr txBox="1"/>
          <p:nvPr/>
        </p:nvSpPr>
        <p:spPr>
          <a:xfrm>
            <a:off x="311700" y="4774200"/>
            <a:ext cx="614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Давайте напишем командную оболочку Linux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Разница между оболочками</a:t>
            </a:r>
            <a:endParaRPr/>
          </a:p>
        </p:txBody>
      </p:sp>
      <p:graphicFrame>
        <p:nvGraphicFramePr>
          <p:cNvPr id="127" name="Google Shape;127;p28"/>
          <p:cNvGraphicFramePr/>
          <p:nvPr/>
        </p:nvGraphicFramePr>
        <p:xfrm>
          <a:off x="311700" y="7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{733BA0EC-7E2E-4C59-AF3F-BE8BB1219E68}</a:tableStyleId>
              </a:tblPr>
              <a:tblGrid>
                <a:gridCol w="2514300"/>
                <a:gridCol w="1788700"/>
                <a:gridCol w="1959375"/>
                <a:gridCol w="2258225"/>
              </a:tblGrid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sh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bash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zsh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псевдонимы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-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395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история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-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613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редактирование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rlwrap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6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автодополнение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-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минимальное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плагины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62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фоновые задачи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-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</a:tr>
              <a:tr h="479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кастомизация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-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сложно</a:t>
                      </a:r>
                      <a:endParaRPr sz="20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/>
                        <a:t>+</a:t>
                      </a:r>
                      <a:endParaRPr sz="20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8" name="Google Shape;128;p28"/>
          <p:cNvSpPr txBox="1"/>
          <p:nvPr/>
        </p:nvSpPr>
        <p:spPr>
          <a:xfrm>
            <a:off x="311700" y="4774200"/>
            <a:ext cx="8197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О разных командных оболочках Linux и Unix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zsh</a:t>
            </a:r>
            <a:endParaRPr/>
          </a:p>
        </p:txBody>
      </p:sp>
      <p:sp>
        <p:nvSpPr>
          <p:cNvPr id="134" name="Google Shape;134;p29"/>
          <p:cNvSpPr txBox="1"/>
          <p:nvPr/>
        </p:nvSpPr>
        <p:spPr>
          <a:xfrm>
            <a:off x="311700" y="4404600"/>
            <a:ext cx="852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Oh My Zsh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Zsh vs Bash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Переход с bash на zsh</a:t>
            </a:r>
            <a:endParaRPr sz="1200"/>
          </a:p>
        </p:txBody>
      </p:sp>
      <p:pic>
        <p:nvPicPr>
          <p:cNvPr id="135" name="Google Shape;135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0852" y="633788"/>
            <a:ext cx="7202300" cy="3697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Ключи и аргументы</a:t>
            </a:r>
            <a:endParaRPr/>
          </a:p>
        </p:txBody>
      </p:sp>
      <p:sp>
        <p:nvSpPr>
          <p:cNvPr id="141" name="Google Shape;141;p30"/>
          <p:cNvSpPr txBox="1"/>
          <p:nvPr/>
        </p:nvSpPr>
        <p:spPr>
          <a:xfrm>
            <a:off x="311700" y="560525"/>
            <a:ext cx="85206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-liaT 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короткая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-lia -T 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короткая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ls </a:t>
            </a:r>
            <a:r>
              <a:rPr lang="en" sz="2400">
                <a:solidFill>
                  <a:srgbClr val="3D85C6"/>
                </a:solidFill>
              </a:rPr>
              <a:t>-l</a:t>
            </a:r>
            <a:r>
              <a:rPr lang="en" sz="2400"/>
              <a:t> </a:t>
            </a:r>
            <a:r>
              <a:rPr lang="en" sz="2400">
                <a:solidFill>
                  <a:srgbClr val="E69138"/>
                </a:solidFill>
              </a:rPr>
              <a:t>--all --inode --tabsize=3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/etc</a:t>
            </a:r>
            <a:r>
              <a:rPr lang="en" sz="2400"/>
              <a:t> - полная запись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find </a:t>
            </a:r>
            <a:r>
              <a:rPr lang="en" sz="2400">
                <a:solidFill>
                  <a:srgbClr val="3D85C6"/>
                </a:solidFill>
              </a:rPr>
              <a:t>-name "*.pl"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.</a:t>
            </a:r>
            <a:r>
              <a:rPr lang="en" sz="2400"/>
              <a:t> | xargs </a:t>
            </a:r>
            <a:r>
              <a:rPr lang="en" sz="2400">
                <a:solidFill>
                  <a:srgbClr val="E69138"/>
                </a:solidFill>
              </a:rPr>
              <a:t>--verbose</a:t>
            </a:r>
            <a:r>
              <a:rPr lang="en" sz="2400"/>
              <a:t> </a:t>
            </a:r>
            <a:r>
              <a:rPr lang="en" sz="2400">
                <a:solidFill>
                  <a:srgbClr val="6AA84F"/>
                </a:solidFill>
              </a:rPr>
              <a:t>tar</a:t>
            </a:r>
            <a:r>
              <a:rPr lang="en" sz="2400"/>
              <a:t> </a:t>
            </a:r>
            <a:r>
              <a:rPr lang="en" sz="2400">
                <a:solidFill>
                  <a:srgbClr val="3D85C6"/>
                </a:solidFill>
              </a:rPr>
              <a:t>-zcf pl.tar.gz</a:t>
            </a:r>
            <a:endParaRPr sz="2400">
              <a:solidFill>
                <a:srgbClr val="3D85C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-"/>
            </a:pPr>
            <a:r>
              <a:rPr lang="en" sz="2400"/>
              <a:t>к</a:t>
            </a:r>
            <a:r>
              <a:rPr lang="en" sz="2400"/>
              <a:t>оманда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2400"/>
              <a:buChar char="-"/>
            </a:pPr>
            <a:r>
              <a:rPr lang="en" sz="2400">
                <a:solidFill>
                  <a:srgbClr val="3D85C6"/>
                </a:solidFill>
              </a:rPr>
              <a:t>с</a:t>
            </a:r>
            <a:r>
              <a:rPr lang="en" sz="2400">
                <a:solidFill>
                  <a:srgbClr val="3D85C6"/>
                </a:solidFill>
              </a:rPr>
              <a:t>окращённые </a:t>
            </a:r>
            <a:r>
              <a:rPr lang="en" sz="2400">
                <a:solidFill>
                  <a:srgbClr val="3D85C6"/>
                </a:solidFill>
              </a:rPr>
              <a:t>ключи (флаги, опции)</a:t>
            </a:r>
            <a:endParaRPr sz="2400">
              <a:solidFill>
                <a:srgbClr val="3D85C6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400"/>
              <a:buChar char="-"/>
            </a:pPr>
            <a:r>
              <a:rPr lang="en" sz="2400">
                <a:solidFill>
                  <a:srgbClr val="FF9900"/>
                </a:solidFill>
              </a:rPr>
              <a:t>полные ключи</a:t>
            </a:r>
            <a:endParaRPr sz="2400">
              <a:solidFill>
                <a:srgbClr val="FF99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Char char="-"/>
            </a:pPr>
            <a:r>
              <a:rPr lang="en" sz="2400">
                <a:solidFill>
                  <a:srgbClr val="6AA84F"/>
                </a:solidFill>
              </a:rPr>
              <a:t>аргументы</a:t>
            </a:r>
            <a:endParaRPr sz="2400">
              <a:solidFill>
                <a:srgbClr val="6AA84F"/>
              </a:solidFill>
            </a:endParaRPr>
          </a:p>
        </p:txBody>
      </p:sp>
      <p:sp>
        <p:nvSpPr>
          <p:cNvPr id="142" name="Google Shape;142;p30"/>
          <p:cNvSpPr txBox="1"/>
          <p:nvPr/>
        </p:nvSpPr>
        <p:spPr>
          <a:xfrm>
            <a:off x="311700" y="4244500"/>
            <a:ext cx="8520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$ find . -name "*.pl" | xargs --verbose tar -zcf pl.tar.gz</a:t>
            </a:r>
            <a:endParaRPr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1"/>
                </a:solidFill>
              </a:rPr>
              <a:t>$ find examples/ -name "*.sh" -printf "%f\n"| xargs -t -L1 -I {} cp examples/{} 1/{}.bak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Ключи и аргументы</a:t>
            </a:r>
            <a:endParaRPr/>
          </a:p>
        </p:txBody>
      </p:sp>
      <p:pic>
        <p:nvPicPr>
          <p:cNvPr id="148" name="Google Shape;14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560525"/>
            <a:ext cx="5851440" cy="4278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Навигация по каталогам</a:t>
            </a:r>
            <a:endParaRPr/>
          </a:p>
        </p:txBody>
      </p:sp>
      <p:sp>
        <p:nvSpPr>
          <p:cNvPr id="154" name="Google Shape;154;p32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Текущий каталог (</a:t>
            </a:r>
            <a:r>
              <a:rPr b="1" lang="en" sz="1500"/>
              <a:t>p</a:t>
            </a:r>
            <a:r>
              <a:rPr lang="en" sz="1500"/>
              <a:t>resent </a:t>
            </a:r>
            <a:r>
              <a:rPr b="1" lang="en" sz="1500"/>
              <a:t>w</a:t>
            </a:r>
            <a:r>
              <a:rPr lang="en" sz="1500"/>
              <a:t>orking </a:t>
            </a:r>
            <a:r>
              <a:rPr b="1" lang="en" sz="1500"/>
              <a:t>d</a:t>
            </a:r>
            <a:r>
              <a:rPr lang="en" sz="1500"/>
              <a:t>irectory):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pwd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Сменить каталог (</a:t>
            </a:r>
            <a:r>
              <a:rPr b="1" lang="en" sz="1500"/>
              <a:t>c</a:t>
            </a:r>
            <a:r>
              <a:rPr lang="en" sz="1500"/>
              <a:t>hange </a:t>
            </a:r>
            <a:r>
              <a:rPr b="1" lang="en" sz="1500"/>
              <a:t>d</a:t>
            </a:r>
            <a:r>
              <a:rPr lang="en" sz="1500"/>
              <a:t>irectory):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/var/log  </a:t>
            </a:r>
            <a:r>
              <a:rPr lang="en" sz="1500">
                <a:solidFill>
                  <a:srgbClr val="999999"/>
                </a:solidFill>
              </a:rPr>
              <a:t># абсолютный путь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home     </a:t>
            </a:r>
            <a:r>
              <a:rPr lang="en" sz="1500">
                <a:solidFill>
                  <a:srgbClr val="999999"/>
                </a:solidFill>
              </a:rPr>
              <a:t># относительный путь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..            </a:t>
            </a:r>
            <a:r>
              <a:rPr lang="en" sz="1500">
                <a:solidFill>
                  <a:srgbClr val="999999"/>
                </a:solidFill>
              </a:rPr>
              <a:t># выйти на каталог выше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cd -             </a:t>
            </a:r>
            <a:r>
              <a:rPr lang="en" sz="1500">
                <a:solidFill>
                  <a:srgbClr val="999999"/>
                </a:solidFill>
              </a:rPr>
              <a:t># вернуться в предыдущий каталог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Содержимое каталога (</a:t>
            </a:r>
            <a:r>
              <a:rPr b="1" lang="en" sz="1500"/>
              <a:t>l</a:t>
            </a:r>
            <a:r>
              <a:rPr lang="en" sz="1500"/>
              <a:t>i</a:t>
            </a:r>
            <a:r>
              <a:rPr b="1" lang="en" sz="1500"/>
              <a:t>s</a:t>
            </a:r>
            <a:r>
              <a:rPr lang="en" sz="1500"/>
              <a:t>t):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ls       </a:t>
            </a:r>
            <a:r>
              <a:rPr lang="en" sz="1500">
                <a:solidFill>
                  <a:srgbClr val="999999"/>
                </a:solidFill>
              </a:rPr>
              <a:t># списком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ls -la  </a:t>
            </a:r>
            <a:r>
              <a:rPr lang="en" sz="1500">
                <a:solidFill>
                  <a:srgbClr val="999999"/>
                </a:solidFill>
              </a:rPr>
              <a:t># с дополнительной информацией</a:t>
            </a:r>
            <a:endParaRPr sz="15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Создать каталог (</a:t>
            </a:r>
            <a:r>
              <a:rPr b="1" lang="en" sz="1500"/>
              <a:t>m</a:t>
            </a:r>
            <a:r>
              <a:rPr lang="en" sz="1500"/>
              <a:t>a</a:t>
            </a:r>
            <a:r>
              <a:rPr b="1" lang="en" sz="1500"/>
              <a:t>k</a:t>
            </a:r>
            <a:r>
              <a:rPr lang="en" sz="1500"/>
              <a:t>e </a:t>
            </a:r>
            <a:r>
              <a:rPr b="1" lang="en" sz="1500"/>
              <a:t>dir</a:t>
            </a:r>
            <a:r>
              <a:rPr lang="en" sz="1500"/>
              <a:t>ectory):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mkdir newdirectory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Удалить каталог (</a:t>
            </a:r>
            <a:r>
              <a:rPr b="1" lang="en" sz="1500">
                <a:solidFill>
                  <a:schemeClr val="dk1"/>
                </a:solidFill>
              </a:rPr>
              <a:t>r</a:t>
            </a:r>
            <a:r>
              <a:rPr lang="en" sz="1500">
                <a:solidFill>
                  <a:schemeClr val="dk1"/>
                </a:solidFill>
              </a:rPr>
              <a:t>e</a:t>
            </a:r>
            <a:r>
              <a:rPr b="1" lang="en" sz="1500">
                <a:solidFill>
                  <a:schemeClr val="dk1"/>
                </a:solidFill>
              </a:rPr>
              <a:t>m</a:t>
            </a:r>
            <a:r>
              <a:rPr lang="en" sz="1500">
                <a:solidFill>
                  <a:schemeClr val="dk1"/>
                </a:solidFill>
              </a:rPr>
              <a:t>ove </a:t>
            </a:r>
            <a:r>
              <a:rPr b="1" lang="en" sz="1500">
                <a:solidFill>
                  <a:schemeClr val="dk1"/>
                </a:solidFill>
              </a:rPr>
              <a:t>dir</a:t>
            </a:r>
            <a:r>
              <a:rPr lang="en" sz="1500">
                <a:solidFill>
                  <a:schemeClr val="dk1"/>
                </a:solidFill>
              </a:rPr>
              <a:t>ectory):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chemeClr val="dk1"/>
                </a:solidFill>
              </a:rPr>
              <a:t>$ rmdir newdirectory</a:t>
            </a:r>
            <a:endParaRPr sz="15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Работа с файлами</a:t>
            </a:r>
            <a:endParaRPr/>
          </a:p>
        </p:txBody>
      </p:sp>
      <p:sp>
        <p:nvSpPr>
          <p:cNvPr id="160" name="Google Shape;160;p33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Создать файл: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touch newfile.txt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Копировать файл (</a:t>
            </a:r>
            <a:r>
              <a:rPr b="1" lang="en" sz="1800"/>
              <a:t>c</a:t>
            </a:r>
            <a:r>
              <a:rPr lang="en" sz="1800"/>
              <a:t>o</a:t>
            </a:r>
            <a:r>
              <a:rPr b="1" lang="en" sz="1800"/>
              <a:t>p</a:t>
            </a:r>
            <a:r>
              <a:rPr lang="en" sz="1800"/>
              <a:t>y):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cp /etc/passwd /var/log  </a:t>
            </a:r>
            <a:r>
              <a:rPr lang="en">
                <a:solidFill>
                  <a:srgbClr val="B7B7B7"/>
                </a:solidFill>
              </a:rPr>
              <a:t># копирует файл /etc/passwd в каталог /var/log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Переместить файл (</a:t>
            </a:r>
            <a:r>
              <a:rPr b="1" lang="en" sz="1800">
                <a:solidFill>
                  <a:schemeClr val="dk1"/>
                </a:solidFill>
              </a:rPr>
              <a:t>m</a:t>
            </a:r>
            <a:r>
              <a:rPr lang="en" sz="1800">
                <a:solidFill>
                  <a:schemeClr val="dk1"/>
                </a:solidFill>
              </a:rPr>
              <a:t>o</a:t>
            </a:r>
            <a:r>
              <a:rPr b="1" lang="en" sz="1800">
                <a:solidFill>
                  <a:schemeClr val="dk1"/>
                </a:solidFill>
              </a:rPr>
              <a:t>v</a:t>
            </a:r>
            <a:r>
              <a:rPr lang="en" sz="1800">
                <a:solidFill>
                  <a:schemeClr val="dk1"/>
                </a:solidFill>
              </a:rPr>
              <a:t>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mv /etc/passwd /var/log  </a:t>
            </a:r>
            <a:r>
              <a:rPr lang="en">
                <a:solidFill>
                  <a:srgbClr val="B7B7B7"/>
                </a:solidFill>
              </a:rPr>
              <a:t># перемещает файл /etc/passwd в каталог /var/log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Удалить файл (</a:t>
            </a:r>
            <a:r>
              <a:rPr b="1" lang="en" sz="1800">
                <a:solidFill>
                  <a:schemeClr val="dk1"/>
                </a:solidFill>
              </a:rPr>
              <a:t>r</a:t>
            </a:r>
            <a:r>
              <a:rPr lang="en" sz="1800">
                <a:solidFill>
                  <a:schemeClr val="dk1"/>
                </a:solidFill>
              </a:rPr>
              <a:t>e</a:t>
            </a:r>
            <a:r>
              <a:rPr b="1" lang="en" sz="1800">
                <a:solidFill>
                  <a:schemeClr val="dk1"/>
                </a:solidFill>
              </a:rPr>
              <a:t>m</a:t>
            </a:r>
            <a:r>
              <a:rPr lang="en" sz="1800">
                <a:solidFill>
                  <a:schemeClr val="dk1"/>
                </a:solidFill>
              </a:rPr>
              <a:t>ove):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rm /etc/passwd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Создать ссылку (</a:t>
            </a:r>
            <a:r>
              <a:rPr b="1" lang="en" sz="1800">
                <a:solidFill>
                  <a:schemeClr val="dk1"/>
                </a:solidFill>
              </a:rPr>
              <a:t>l</a:t>
            </a:r>
            <a:r>
              <a:rPr lang="en" sz="1800">
                <a:solidFill>
                  <a:schemeClr val="dk1"/>
                </a:solidFill>
              </a:rPr>
              <a:t>i</a:t>
            </a:r>
            <a:r>
              <a:rPr b="1" lang="en" sz="1800">
                <a:solidFill>
                  <a:schemeClr val="dk1"/>
                </a:solidFill>
              </a:rPr>
              <a:t>n</a:t>
            </a:r>
            <a:r>
              <a:rPr lang="en" sz="1800">
                <a:solidFill>
                  <a:schemeClr val="dk1"/>
                </a:solidFill>
              </a:rPr>
              <a:t>k):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ln passwd /etc/passwd  </a:t>
            </a:r>
            <a:r>
              <a:rPr lang="en">
                <a:solidFill>
                  <a:srgbClr val="B7B7B7"/>
                </a:solidFill>
              </a:rPr>
              <a:t># создаёт симлинк в каталоге /etc/ на файл passwd в текущем каталоге</a:t>
            </a:r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Содержимое файлов</a:t>
            </a:r>
            <a:endParaRPr/>
          </a:p>
        </p:txBody>
      </p:sp>
      <p:sp>
        <p:nvSpPr>
          <p:cNvPr id="166" name="Google Shape;166;p34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Вывести всё содержимое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Подогнать содержимое файла под экран: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more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less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Прочитать начало или конец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head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tail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Редактирование файла: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nano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vim ./filename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Help</a:t>
            </a:r>
            <a:endParaRPr/>
          </a:p>
        </p:txBody>
      </p:sp>
      <p:sp>
        <p:nvSpPr>
          <p:cNvPr id="172" name="Google Shape;172;p35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man ls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tldr ls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--help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ls &lt;tab&gt;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pic>
        <p:nvPicPr>
          <p:cNvPr id="173" name="Google Shape;17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2882350"/>
            <a:ext cx="3990150" cy="146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5"/>
          <p:cNvSpPr txBox="1"/>
          <p:nvPr/>
        </p:nvSpPr>
        <p:spPr>
          <a:xfrm>
            <a:off x="311700" y="4774200"/>
            <a:ext cx="5742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Linux Command Line Cheat Sheet</a:t>
            </a:r>
            <a:endParaRPr sz="1200"/>
          </a:p>
        </p:txBody>
      </p:sp>
      <p:pic>
        <p:nvPicPr>
          <p:cNvPr id="175" name="Google Shape;175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11475" y="560525"/>
            <a:ext cx="4420826" cy="321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Операторы</a:t>
            </a:r>
            <a:endParaRPr/>
          </a:p>
        </p:txBody>
      </p:sp>
      <p:sp>
        <p:nvSpPr>
          <p:cNvPr id="181" name="Google Shape;181;p36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Оператор 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ls -la; pwd;  </a:t>
            </a:r>
            <a:r>
              <a:rPr lang="en" sz="1600">
                <a:solidFill>
                  <a:srgbClr val="999999"/>
                </a:solidFill>
              </a:rPr>
              <a:t># сначала выполнится ls -la, а после её завершения pwd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&amp;&amp;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sleep 1 &amp;&amp; echo $PATH  </a:t>
            </a:r>
            <a:r>
              <a:rPr lang="en" sz="1600">
                <a:solidFill>
                  <a:srgbClr val="999999"/>
                </a:solidFill>
              </a:rPr>
              <a:t># вторая команда будет выполнена только после успешного завершения первой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Оператор ||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sleep 1 || echo $PATH  </a:t>
            </a:r>
            <a:r>
              <a:rPr lang="en" sz="1600">
                <a:solidFill>
                  <a:srgbClr val="999999"/>
                </a:solidFill>
              </a:rPr>
              <a:t># вторая команда будет выполнена только после НЕуспешного завершения первой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&amp;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cd /home &amp; pwd &amp;  </a:t>
            </a:r>
            <a:r>
              <a:rPr lang="en" sz="1600">
                <a:solidFill>
                  <a:srgbClr val="999999"/>
                </a:solidFill>
              </a:rPr>
              <a:t># команды выполнятся параллельно каждая в своём процессе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Оператор |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$ ls -la | grep txt  </a:t>
            </a:r>
            <a:r>
              <a:rPr lang="en" sz="1600">
                <a:solidFill>
                  <a:srgbClr val="999999"/>
                </a:solidFill>
              </a:rPr>
              <a:t># перенаправить вывод ls -la в ввод grep txt</a:t>
            </a:r>
            <a:endParaRPr sz="16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Потоки ввода-вывода</a:t>
            </a:r>
            <a:endParaRPr/>
          </a:p>
        </p:txBody>
      </p:sp>
      <p:sp>
        <p:nvSpPr>
          <p:cNvPr id="187" name="Google Shape;187;p37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0. /dev/stdin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1. /dev/stdout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2. /dev/stderr</a:t>
            </a:r>
            <a:endParaRPr sz="2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ls -l 1&gt; dir.txt  </a:t>
            </a:r>
            <a:r>
              <a:rPr lang="en" sz="1800">
                <a:solidFill>
                  <a:srgbClr val="999999"/>
                </a:solidFill>
              </a:rPr>
              <a:t># полный формат</a:t>
            </a:r>
            <a:endParaRPr sz="1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ls -l 2&gt;&amp;1 &gt; dir.txt  </a:t>
            </a:r>
            <a:r>
              <a:rPr lang="en" sz="1800">
                <a:solidFill>
                  <a:srgbClr val="999999"/>
                </a:solidFill>
              </a:rPr>
              <a:t># объединить stderr с stdout</a:t>
            </a:r>
            <a:endParaRPr sz="1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ls -l &gt; dir.txt  </a:t>
            </a:r>
            <a:r>
              <a:rPr lang="en" sz="1800">
                <a:solidFill>
                  <a:srgbClr val="999999"/>
                </a:solidFill>
              </a:rPr>
              <a:t># запишет вывод ls в файл dir.txt</a:t>
            </a:r>
            <a:endParaRPr sz="1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ls -l &gt;&gt; dir.txt  </a:t>
            </a:r>
            <a:r>
              <a:rPr lang="en" sz="1800">
                <a:solidFill>
                  <a:srgbClr val="999999"/>
                </a:solidFill>
              </a:rPr>
              <a:t># добавит вывод ls в файл dir.txt</a:t>
            </a:r>
            <a:endParaRPr sz="1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wc -w &lt; dir.txt  </a:t>
            </a:r>
            <a:r>
              <a:rPr lang="en" sz="1800">
                <a:solidFill>
                  <a:srgbClr val="999999"/>
                </a:solidFill>
              </a:rPr>
              <a:t># получить на вход wc данные из файла dir.txt</a:t>
            </a:r>
            <a:endParaRPr sz="1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$ wc -w &lt;&lt;EOF …  </a:t>
            </a:r>
            <a:r>
              <a:rPr lang="en" sz="1800">
                <a:solidFill>
                  <a:srgbClr val="999999"/>
                </a:solidFill>
              </a:rPr>
              <a:t># получить на вход wc многострочный текст</a:t>
            </a:r>
            <a:endParaRPr sz="1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</a:rPr>
              <a:t>$ wc -w &lt;&lt;&lt; "dir.txt"  </a:t>
            </a:r>
            <a:r>
              <a:rPr lang="en" sz="1800">
                <a:solidFill>
                  <a:srgbClr val="999999"/>
                </a:solidFill>
              </a:rPr>
              <a:t># получить на вход wc строку "dir.txt"</a:t>
            </a:r>
            <a:endParaRPr sz="1800">
              <a:solidFill>
                <a:srgbClr val="99999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Пример: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echo 'export PS1="\u$"' &gt;&gt; ~/.bashrc &amp;&amp; source ~/.bashrc</a:t>
            </a:r>
            <a:endParaRPr sz="1800"/>
          </a:p>
        </p:txBody>
      </p:sp>
      <p:pic>
        <p:nvPicPr>
          <p:cNvPr id="188" name="Google Shape;18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300" y="560513"/>
            <a:ext cx="6096000" cy="122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 |</a:t>
            </a:r>
            <a:endParaRPr/>
          </a:p>
        </p:txBody>
      </p:sp>
      <p:sp>
        <p:nvSpPr>
          <p:cNvPr id="194" name="Google Shape;194;p38"/>
          <p:cNvSpPr txBox="1"/>
          <p:nvPr/>
        </p:nvSpPr>
        <p:spPr>
          <a:xfrm>
            <a:off x="311700" y="2236925"/>
            <a:ext cx="8520600" cy="43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$ cat os.txt | grep linux | wc -l</a:t>
            </a:r>
            <a:endParaRPr sz="2400"/>
          </a:p>
        </p:txBody>
      </p:sp>
      <p:sp>
        <p:nvSpPr>
          <p:cNvPr id="195" name="Google Shape;195;p38"/>
          <p:cNvSpPr txBox="1"/>
          <p:nvPr/>
        </p:nvSpPr>
        <p:spPr>
          <a:xfrm>
            <a:off x="311625" y="3306900"/>
            <a:ext cx="1749900" cy="1477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 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Debian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Windows 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Mint</a:t>
            </a:r>
            <a:endParaRPr/>
          </a:p>
        </p:txBody>
      </p:sp>
      <p:sp>
        <p:nvSpPr>
          <p:cNvPr id="196" name="Google Shape;196;p38"/>
          <p:cNvSpPr txBox="1"/>
          <p:nvPr/>
        </p:nvSpPr>
        <p:spPr>
          <a:xfrm>
            <a:off x="3697025" y="3306900"/>
            <a:ext cx="1749900" cy="10467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Ubuntu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Debian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Alpine linux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Linux Mint</a:t>
            </a:r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7082431" y="3306900"/>
            <a:ext cx="1749900" cy="400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cxnSp>
        <p:nvCxnSpPr>
          <p:cNvPr id="198" name="Google Shape;198;p38"/>
          <p:cNvCxnSpPr>
            <a:endCxn id="196" idx="1"/>
          </p:cNvCxnSpPr>
          <p:nvPr/>
        </p:nvCxnSpPr>
        <p:spPr>
          <a:xfrm flipH="1" rot="10800000">
            <a:off x="2038025" y="3830250"/>
            <a:ext cx="1659000" cy="2178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38"/>
          <p:cNvCxnSpPr>
            <a:stCxn id="196" idx="3"/>
            <a:endCxn id="197" idx="1"/>
          </p:cNvCxnSpPr>
          <p:nvPr/>
        </p:nvCxnSpPr>
        <p:spPr>
          <a:xfrm flipH="1" rot="10800000">
            <a:off x="5446925" y="3507150"/>
            <a:ext cx="1635600" cy="3231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38"/>
          <p:cNvSpPr txBox="1"/>
          <p:nvPr/>
        </p:nvSpPr>
        <p:spPr>
          <a:xfrm>
            <a:off x="311700" y="2833500"/>
            <a:ext cx="174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cat os.txt</a:t>
            </a:r>
            <a:endParaRPr sz="1600"/>
          </a:p>
        </p:txBody>
      </p:sp>
      <p:sp>
        <p:nvSpPr>
          <p:cNvPr id="201" name="Google Shape;201;p38"/>
          <p:cNvSpPr txBox="1"/>
          <p:nvPr/>
        </p:nvSpPr>
        <p:spPr>
          <a:xfrm>
            <a:off x="3697025" y="2833500"/>
            <a:ext cx="1749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grep linux</a:t>
            </a:r>
            <a:endParaRPr sz="1600"/>
          </a:p>
        </p:txBody>
      </p:sp>
      <p:sp>
        <p:nvSpPr>
          <p:cNvPr id="202" name="Google Shape;202;p38"/>
          <p:cNvSpPr txBox="1"/>
          <p:nvPr/>
        </p:nvSpPr>
        <p:spPr>
          <a:xfrm>
            <a:off x="7082350" y="2848950"/>
            <a:ext cx="1749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wc -l</a:t>
            </a:r>
            <a:endParaRPr/>
          </a:p>
        </p:txBody>
      </p:sp>
      <p:sp>
        <p:nvSpPr>
          <p:cNvPr id="203" name="Google Shape;203;p38"/>
          <p:cNvSpPr txBox="1"/>
          <p:nvPr/>
        </p:nvSpPr>
        <p:spPr>
          <a:xfrm>
            <a:off x="311675" y="606325"/>
            <a:ext cx="2424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Заменяет:</a:t>
            </a:r>
            <a:endParaRPr b="1"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$ cat os.txt &gt; tmpfile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/>
              <a:t>$ wc -l &lt; tmpfile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$ rm tmpfile</a:t>
            </a:r>
            <a:endParaRPr sz="1900"/>
          </a:p>
        </p:txBody>
      </p:sp>
      <p:pic>
        <p:nvPicPr>
          <p:cNvPr id="204" name="Google Shape;204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275" y="560525"/>
            <a:ext cx="6096000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Перенаправление</a:t>
            </a:r>
            <a:endParaRPr/>
          </a:p>
        </p:txBody>
      </p:sp>
      <p:sp>
        <p:nvSpPr>
          <p:cNvPr id="210" name="Google Shape;210;p39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TCP-сокет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cat &lt; /dev/tcp/geopuzzle.org/22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SSH-2.0-OpenSSH_9.0p1 Ubuntu-1ubuntu8.5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exec 5&lt;&gt;/dev/tcp/ya.ru/80 &amp;&amp; echo -e "GET / HTTP/1.1\nhost: ya.ru\n\n" &gt;&amp;5 &amp;&amp; cat &lt;&amp;5 | head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Объединение вывода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{ ls dir1; ls dir2; } | wc -l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Подмена процессов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diff &lt;(ls dir1) &lt;(ls dir2)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&lt; test1.txt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---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&gt; test2.txt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11" name="Google Shape;211;p39"/>
          <p:cNvSpPr txBox="1"/>
          <p:nvPr/>
        </p:nvSpPr>
        <p:spPr>
          <a:xfrm>
            <a:off x="311700" y="4774200"/>
            <a:ext cx="52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Bash Redirections Cheat Sheet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Переменные окружения</a:t>
            </a:r>
            <a:endParaRPr/>
          </a:p>
        </p:txBody>
      </p:sp>
      <p:sp>
        <p:nvSpPr>
          <p:cNvPr id="217" name="Google Shape;217;p40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Shell variables vs environment variables: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Переменная оболочки - определяется в текущем процессе и не наследуется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Переменная окружения - наследуется при вызовах, необходимо экспортировать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Правила определения: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KEY=value (Только в верхнем регистре, вокруг = нет пробелов)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KEY=”Hello world” (Если есть пробелы, то должны быть кавычки)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KEY=value1:value2 (Значения разделяются двоеточием)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Вывести все переменные: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env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Вывести значение: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echo $TEST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echo “${TEST} world”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Установить значение переменной окружения: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500">
                <a:highlight>
                  <a:srgbClr val="FFFF00"/>
                </a:highlight>
              </a:rPr>
              <a:t>$ export TEST=value</a:t>
            </a:r>
            <a:endParaRPr i="1" sz="15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Хранение переменных окружения</a:t>
            </a:r>
            <a:endParaRPr/>
          </a:p>
        </p:txBody>
      </p:sp>
      <p:sp>
        <p:nvSpPr>
          <p:cNvPr id="223" name="Google Shape;223;p41"/>
          <p:cNvSpPr txBox="1"/>
          <p:nvPr/>
        </p:nvSpPr>
        <p:spPr>
          <a:xfrm>
            <a:off x="311700" y="712925"/>
            <a:ext cx="5334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Определение переменных окружения: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/etc/environment – системные переменные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/etc/profile – системные переменные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/etc/bash.bashrc – системные при инициализации терминала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~/.bashrc – каждый раз при инициализации терминала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~/.bash_profile или ~/.profile – каждый раз при логине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Перечитать из файла: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$ source .bashrc</a:t>
            </a:r>
            <a:endParaRPr sz="1500"/>
          </a:p>
        </p:txBody>
      </p:sp>
      <p:pic>
        <p:nvPicPr>
          <p:cNvPr id="224" name="Google Shape;2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9828" y="560525"/>
            <a:ext cx="3122471" cy="4213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1"/>
          <p:cNvSpPr txBox="1"/>
          <p:nvPr/>
        </p:nvSpPr>
        <p:spPr>
          <a:xfrm>
            <a:off x="311700" y="4589400"/>
            <a:ext cx="278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Запуск Bash в деталях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Shell startup scripts</a:t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4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231" name="Google Shape;231;p42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История команд</a:t>
            </a:r>
            <a:endParaRPr b="1"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</a:t>
            </a:r>
            <a:r>
              <a:rPr lang="en" sz="2000"/>
              <a:t>~/.bash_history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Поиск по истории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Ctrl+R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$ </a:t>
            </a:r>
            <a:r>
              <a:rPr lang="en" sz="2000"/>
              <a:t>h</a:t>
            </a:r>
            <a:r>
              <a:rPr lang="en" sz="2000"/>
              <a:t>istory | grep “...”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Выполнить команду</a:t>
            </a:r>
            <a:endParaRPr b="1"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$ </a:t>
            </a:r>
            <a:r>
              <a:rPr lang="en" sz="2000"/>
              <a:t>!! - предыдущую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$ !123 - с номером 123</a:t>
            </a:r>
            <a:endParaRPr sz="2000"/>
          </a:p>
        </p:txBody>
      </p:sp>
      <p:pic>
        <p:nvPicPr>
          <p:cNvPr id="232" name="Google Shape;232;p42" title="0522c8612d076c0a1d3235916d9ec2fedfbc9428e2dd98924aacf946c2223be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200" y="0"/>
            <a:ext cx="47708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Aliases</a:t>
            </a:r>
            <a:endParaRPr/>
          </a:p>
        </p:txBody>
      </p:sp>
      <p:sp>
        <p:nvSpPr>
          <p:cNvPr id="238" name="Google Shape;238;p43"/>
          <p:cNvSpPr txBox="1"/>
          <p:nvPr/>
        </p:nvSpPr>
        <p:spPr>
          <a:xfrm>
            <a:off x="311700" y="560525"/>
            <a:ext cx="8520600" cy="429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la='ls -A'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ll='ls -alF'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ls='ls --color=auto'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sl="ls"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apt='sudo apt'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alias gerp=grep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type ll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ll is aliased to `ls -alF'</a:t>
            </a:r>
            <a:endParaRPr sz="20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Date</a:t>
            </a:r>
            <a:endParaRPr sz="2820"/>
          </a:p>
        </p:txBody>
      </p:sp>
      <p:sp>
        <p:nvSpPr>
          <p:cNvPr id="244" name="Google Shape;244;p44"/>
          <p:cNvSpPr txBox="1"/>
          <p:nvPr>
            <p:ph idx="1" type="body"/>
          </p:nvPr>
        </p:nvSpPr>
        <p:spPr>
          <a:xfrm>
            <a:off x="311700" y="695275"/>
            <a:ext cx="8520600" cy="4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LC_TIME="ru_RU.UTF8" date                                                                                                                                          Чт 12 фев 2026 22:28:47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date -d "last monday"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Mon 22 Feb 2021 12:00:00 AM 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date -d "last monday" +%F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2021-02-22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date -d "last monday" +%Z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MSK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$ date "+%M:%S"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33:06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5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Поиск строк (grep)</a:t>
            </a:r>
            <a:endParaRPr sz="2820"/>
          </a:p>
        </p:txBody>
      </p:sp>
      <p:sp>
        <p:nvSpPr>
          <p:cNvPr id="250" name="Google Shape;250;p45"/>
          <p:cNvSpPr txBox="1"/>
          <p:nvPr/>
        </p:nvSpPr>
        <p:spPr>
          <a:xfrm>
            <a:off x="311700" y="560525"/>
            <a:ext cx="4683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$ ls -la / | grep 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22 root root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 3 root root      4096 Nov 20  2019 mnt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drwx------  17 root root      4096 Nov 29 11:55 root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12 root root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13 root root      4096 Dec 14 12:38 var</a:t>
            </a:r>
            <a:endParaRPr sz="1600"/>
          </a:p>
        </p:txBody>
      </p:sp>
      <p:sp>
        <p:nvSpPr>
          <p:cNvPr id="251" name="Google Shape;251;p45"/>
          <p:cNvSpPr txBox="1"/>
          <p:nvPr/>
        </p:nvSpPr>
        <p:spPr>
          <a:xfrm>
            <a:off x="311700" y="2571750"/>
            <a:ext cx="421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$ ls -la / | grep -E " \w{3}$"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 2     12288 Jan 27 12:19 bin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22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183     12288 Feb  7 08:42 etc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drwxr-xr-x  12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13      4096 Dec 14 12:38 var</a:t>
            </a:r>
            <a:endParaRPr sz="1600"/>
          </a:p>
        </p:txBody>
      </p:sp>
      <p:sp>
        <p:nvSpPr>
          <p:cNvPr id="252" name="Google Shape;252;p45"/>
          <p:cNvSpPr txBox="1"/>
          <p:nvPr/>
        </p:nvSpPr>
        <p:spPr>
          <a:xfrm>
            <a:off x="4572000" y="2571750"/>
            <a:ext cx="42168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ls -la / | egrep " \w{3}$"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 2     12288 Jan 27 12:19 bin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22      4700 Feb  6 18:51 dev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183     12288 Feb  7 08:42 etc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12      4096 Nov 20  2019 usr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drwxr-xr-x  13      4096 Dec 14 12:38 var</a:t>
            </a:r>
            <a:endParaRPr sz="1600"/>
          </a:p>
        </p:txBody>
      </p:sp>
      <p:sp>
        <p:nvSpPr>
          <p:cNvPr id="253" name="Google Shape;253;p45"/>
          <p:cNvSpPr txBox="1"/>
          <p:nvPr/>
        </p:nvSpPr>
        <p:spPr>
          <a:xfrm>
            <a:off x="5847475" y="560525"/>
            <a:ext cx="2991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grep ivpn .bash_history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ivpn connect -city Paris</a:t>
            </a:r>
            <a:endParaRPr sz="1600"/>
          </a:p>
        </p:txBody>
      </p:sp>
      <p:sp>
        <p:nvSpPr>
          <p:cNvPr id="254" name="Google Shape;254;p45"/>
          <p:cNvSpPr txBox="1"/>
          <p:nvPr/>
        </p:nvSpPr>
        <p:spPr>
          <a:xfrm>
            <a:off x="311700" y="4774200"/>
            <a:ext cx="5396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https://regexcrossword.com/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6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Поиск</a:t>
            </a:r>
            <a:endParaRPr sz="2820"/>
          </a:p>
        </p:txBody>
      </p:sp>
      <p:sp>
        <p:nvSpPr>
          <p:cNvPr id="260" name="Google Shape;260;p46"/>
          <p:cNvSpPr txBox="1"/>
          <p:nvPr>
            <p:ph idx="1" type="body"/>
          </p:nvPr>
        </p:nvSpPr>
        <p:spPr>
          <a:xfrm>
            <a:off x="311700" y="695275"/>
            <a:ext cx="85206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lang="en">
                <a:solidFill>
                  <a:schemeClr val="dk1"/>
                </a:solidFill>
              </a:rPr>
              <a:t>find /home -atime 10 -maxdepth 1 -name “*.txt”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atime - время доступа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name - имя файла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maxdepth - глубина поиска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7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Vim</a:t>
            </a:r>
            <a:endParaRPr sz="2820"/>
          </a:p>
        </p:txBody>
      </p:sp>
      <p:pic>
        <p:nvPicPr>
          <p:cNvPr id="266" name="Google Shape;2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7350" y="560525"/>
            <a:ext cx="8269298" cy="2909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7"/>
          <p:cNvSpPr txBox="1"/>
          <p:nvPr/>
        </p:nvSpPr>
        <p:spPr>
          <a:xfrm>
            <a:off x="4511400" y="3678775"/>
            <a:ext cx="432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:wq - выход с сохранением</a:t>
            </a:r>
            <a:endParaRPr sz="2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:q! - выход без сохранения</a:t>
            </a:r>
            <a:endParaRPr sz="2600"/>
          </a:p>
        </p:txBody>
      </p:sp>
      <p:pic>
        <p:nvPicPr>
          <p:cNvPr id="268" name="Google Shape;268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217250"/>
            <a:ext cx="3268908" cy="14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47"/>
          <p:cNvSpPr txBox="1"/>
          <p:nvPr/>
        </p:nvSpPr>
        <p:spPr>
          <a:xfrm>
            <a:off x="311700" y="4774200"/>
            <a:ext cx="52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5"/>
              </a:rPr>
              <a:t>Рассказ об истоках и эволюции редакторов Vi и Vim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8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Архивация</a:t>
            </a:r>
            <a:endParaRPr sz="2820"/>
          </a:p>
        </p:txBody>
      </p:sp>
      <p:sp>
        <p:nvSpPr>
          <p:cNvPr id="275" name="Google Shape;275;p48"/>
          <p:cNvSpPr txBox="1"/>
          <p:nvPr>
            <p:ph idx="1" type="body"/>
          </p:nvPr>
        </p:nvSpPr>
        <p:spPr>
          <a:xfrm>
            <a:off x="311700" y="695275"/>
            <a:ext cx="42603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 - без сжатия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.tar.gz, .tar.gzip - gzip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">
                <a:solidFill>
                  <a:schemeClr val="dk1"/>
                </a:solidFill>
              </a:rPr>
              <a:t>.tar.bz2, .tar.bzip2 - bzip2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276" name="Google Shape;27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95344"/>
            <a:ext cx="4572000" cy="118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8"/>
          <p:cNvSpPr txBox="1"/>
          <p:nvPr/>
        </p:nvSpPr>
        <p:spPr>
          <a:xfrm>
            <a:off x="398950" y="2179925"/>
            <a:ext cx="24123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$ </a:t>
            </a:r>
            <a:r>
              <a:rPr lang="en" sz="1600">
                <a:solidFill>
                  <a:srgbClr val="BF9000"/>
                </a:solidFill>
              </a:rPr>
              <a:t>tar</a:t>
            </a:r>
            <a:r>
              <a:rPr lang="en" sz="1600"/>
              <a:t> </a:t>
            </a:r>
            <a:r>
              <a:rPr lang="en" sz="1600">
                <a:solidFill>
                  <a:srgbClr val="38761D"/>
                </a:solidFill>
              </a:rPr>
              <a:t>zcvf dst.tar.gz</a:t>
            </a:r>
            <a:r>
              <a:rPr lang="en" sz="1600"/>
              <a:t> </a:t>
            </a:r>
            <a:r>
              <a:rPr lang="en" sz="1600">
                <a:solidFill>
                  <a:srgbClr val="1155CC"/>
                </a:solidFill>
              </a:rPr>
              <a:t>src/</a:t>
            </a:r>
            <a:endParaRPr sz="1600">
              <a:solidFill>
                <a:srgbClr val="1155CC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z</a:t>
            </a:r>
            <a:r>
              <a:rPr lang="en" sz="1600"/>
              <a:t> - gzip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c</a:t>
            </a:r>
            <a:r>
              <a:rPr lang="en" sz="1600"/>
              <a:t> - create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v</a:t>
            </a:r>
            <a:r>
              <a:rPr lang="en" sz="1600"/>
              <a:t> - verbose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f</a:t>
            </a:r>
            <a:r>
              <a:rPr lang="en" sz="1600"/>
              <a:t> - filename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600"/>
              <a:t>x</a:t>
            </a:r>
            <a:r>
              <a:rPr lang="en" sz="1600"/>
              <a:t> - extract</a:t>
            </a:r>
            <a:endParaRPr sz="1600"/>
          </a:p>
        </p:txBody>
      </p:sp>
      <p:sp>
        <p:nvSpPr>
          <p:cNvPr id="278" name="Google Shape;278;p48"/>
          <p:cNvSpPr txBox="1"/>
          <p:nvPr/>
        </p:nvSpPr>
        <p:spPr>
          <a:xfrm>
            <a:off x="2811175" y="3094325"/>
            <a:ext cx="61803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Создание дампа: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BF9000"/>
                </a:solidFill>
              </a:rPr>
              <a:t>pg_dump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$pg_dbname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--host=$host</a:t>
            </a:r>
            <a:r>
              <a:rPr lang="en" sz="1800"/>
              <a:t> | </a:t>
            </a:r>
            <a:r>
              <a:rPr lang="en" sz="1800">
                <a:solidFill>
                  <a:srgbClr val="BF9000"/>
                </a:solidFill>
              </a:rPr>
              <a:t>gzip</a:t>
            </a:r>
            <a:r>
              <a:rPr lang="en" sz="1800"/>
              <a:t> &gt; dump.sql.gz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Восстановление дампа: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>
                <a:solidFill>
                  <a:srgbClr val="BF9000"/>
                </a:solidFill>
              </a:rPr>
              <a:t>gzip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-dc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dump.sql.gz</a:t>
            </a:r>
            <a:r>
              <a:rPr lang="en" sz="1800"/>
              <a:t> | </a:t>
            </a:r>
            <a:r>
              <a:rPr lang="en" sz="1800">
                <a:solidFill>
                  <a:srgbClr val="BF9000"/>
                </a:solidFill>
              </a:rPr>
              <a:t>psql</a:t>
            </a:r>
            <a:r>
              <a:rPr lang="en" sz="1800"/>
              <a:t> </a:t>
            </a:r>
            <a:r>
              <a:rPr lang="en" sz="1800">
                <a:solidFill>
                  <a:srgbClr val="38761D"/>
                </a:solidFill>
              </a:rPr>
              <a:t>--host=$host</a:t>
            </a:r>
            <a:r>
              <a:rPr lang="en" sz="1800"/>
              <a:t> </a:t>
            </a:r>
            <a:r>
              <a:rPr lang="en" sz="1800">
                <a:solidFill>
                  <a:srgbClr val="1155CC"/>
                </a:solidFill>
              </a:rPr>
              <a:t>$pg_dbname</a:t>
            </a:r>
            <a:endParaRPr sz="1800">
              <a:solidFill>
                <a:srgbClr val="1155CC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9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Планировщик cron</a:t>
            </a:r>
            <a:endParaRPr sz="2820"/>
          </a:p>
        </p:txBody>
      </p:sp>
      <p:sp>
        <p:nvSpPr>
          <p:cNvPr id="284" name="Google Shape;284;p49"/>
          <p:cNvSpPr txBox="1"/>
          <p:nvPr/>
        </p:nvSpPr>
        <p:spPr>
          <a:xfrm>
            <a:off x="311700" y="721200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$ crontab -e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F0000"/>
                </a:solidFill>
              </a:rPr>
              <a:t>10-15</a:t>
            </a:r>
            <a:r>
              <a:rPr lang="en" sz="2000"/>
              <a:t> </a:t>
            </a:r>
            <a:r>
              <a:rPr lang="en" sz="2000">
                <a:solidFill>
                  <a:srgbClr val="F6B26B"/>
                </a:solidFill>
              </a:rPr>
              <a:t>*</a:t>
            </a:r>
            <a:r>
              <a:rPr lang="en" sz="2000"/>
              <a:t> </a:t>
            </a:r>
            <a:r>
              <a:rPr lang="en" sz="2000">
                <a:solidFill>
                  <a:srgbClr val="6AA84F"/>
                </a:solidFill>
              </a:rPr>
              <a:t>2-31/2</a:t>
            </a:r>
            <a:r>
              <a:rPr lang="en" sz="2000"/>
              <a:t> </a:t>
            </a:r>
            <a:r>
              <a:rPr lang="en" sz="2000">
                <a:solidFill>
                  <a:srgbClr val="1155CC"/>
                </a:solidFill>
              </a:rPr>
              <a:t>Jun,Aug</a:t>
            </a:r>
            <a:r>
              <a:rPr lang="en" sz="2000"/>
              <a:t> </a:t>
            </a:r>
            <a:r>
              <a:rPr lang="en" sz="2000">
                <a:solidFill>
                  <a:srgbClr val="674EA7"/>
                </a:solidFill>
              </a:rPr>
              <a:t>*</a:t>
            </a:r>
            <a:r>
              <a:rPr lang="en" sz="2000"/>
              <a:t> /home/student/bin/script3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-"/>
            </a:pPr>
            <a:r>
              <a:rPr lang="en" sz="2000">
                <a:solidFill>
                  <a:srgbClr val="FF0000"/>
                </a:solidFill>
              </a:rPr>
              <a:t>минуты</a:t>
            </a:r>
            <a:endParaRPr sz="2000">
              <a:solidFill>
                <a:srgbClr val="FF00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000"/>
              <a:buChar char="-"/>
            </a:pPr>
            <a:r>
              <a:rPr lang="en" sz="2000">
                <a:solidFill>
                  <a:srgbClr val="FF9900"/>
                </a:solidFill>
              </a:rPr>
              <a:t>часы</a:t>
            </a:r>
            <a:endParaRPr sz="2000">
              <a:solidFill>
                <a:srgbClr val="FF9900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000"/>
              <a:buChar char="-"/>
            </a:pPr>
            <a:r>
              <a:rPr lang="en" sz="2000">
                <a:solidFill>
                  <a:srgbClr val="6AA84F"/>
                </a:solidFill>
              </a:rPr>
              <a:t>дни</a:t>
            </a:r>
            <a:endParaRPr sz="2000">
              <a:solidFill>
                <a:srgbClr val="6AA84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2000"/>
              <a:buChar char="-"/>
            </a:pPr>
            <a:r>
              <a:rPr lang="en" sz="2000">
                <a:solidFill>
                  <a:srgbClr val="3C78D8"/>
                </a:solidFill>
              </a:rPr>
              <a:t>месяц</a:t>
            </a:r>
            <a:endParaRPr sz="2000">
              <a:solidFill>
                <a:srgbClr val="3C78D8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2000"/>
              <a:buChar char="-"/>
            </a:pPr>
            <a:r>
              <a:rPr lang="en" sz="2000">
                <a:solidFill>
                  <a:srgbClr val="674EA7"/>
                </a:solidFill>
              </a:rPr>
              <a:t>день недели</a:t>
            </a:r>
            <a:endParaRPr sz="2000">
              <a:solidFill>
                <a:srgbClr val="674EA7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" sz="2000"/>
              <a:t>команда</a:t>
            </a:r>
            <a:endParaRPr sz="2000"/>
          </a:p>
        </p:txBody>
      </p:sp>
      <p:sp>
        <p:nvSpPr>
          <p:cNvPr id="285" name="Google Shape;285;p49"/>
          <p:cNvSpPr txBox="1"/>
          <p:nvPr/>
        </p:nvSpPr>
        <p:spPr>
          <a:xfrm>
            <a:off x="311700" y="4774200"/>
            <a:ext cx="5243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Cron — лучшие практики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xargs </a:t>
            </a:r>
            <a:endParaRPr/>
          </a:p>
        </p:txBody>
      </p:sp>
      <p:sp>
        <p:nvSpPr>
          <p:cNvPr id="291" name="Google Shape;291;p50"/>
          <p:cNvSpPr txBox="1"/>
          <p:nvPr>
            <p:ph idx="1" type="body"/>
          </p:nvPr>
        </p:nvSpPr>
        <p:spPr>
          <a:xfrm>
            <a:off x="311700" y="695275"/>
            <a:ext cx="8520600" cy="158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$ </a:t>
            </a:r>
            <a:r>
              <a:rPr lang="en">
                <a:solidFill>
                  <a:srgbClr val="FF9900"/>
                </a:solidFill>
              </a:rPr>
              <a:t>find . -name "*.pl"</a:t>
            </a:r>
            <a:r>
              <a:rPr lang="en">
                <a:solidFill>
                  <a:schemeClr val="dk1"/>
                </a:solidFill>
              </a:rPr>
              <a:t> | xargs </a:t>
            </a:r>
            <a:r>
              <a:rPr lang="en">
                <a:solidFill>
                  <a:srgbClr val="00FF00"/>
                </a:solidFill>
              </a:rPr>
              <a:t>--verbose</a:t>
            </a:r>
            <a:r>
              <a:rPr lang="en">
                <a:solidFill>
                  <a:schemeClr val="dk1"/>
                </a:solidFill>
              </a:rPr>
              <a:t> </a:t>
            </a:r>
            <a:r>
              <a:rPr lang="en">
                <a:solidFill>
                  <a:srgbClr val="0000FF"/>
                </a:solidFill>
              </a:rPr>
              <a:t>tar -zcf pl.tar.gz</a:t>
            </a:r>
            <a:endParaRPr>
              <a:solidFill>
                <a:srgbClr val="0000FF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FF9900"/>
              </a:buClr>
              <a:buSzPts val="1800"/>
              <a:buChar char="●"/>
            </a:pPr>
            <a:r>
              <a:rPr lang="en">
                <a:solidFill>
                  <a:srgbClr val="FF9900"/>
                </a:solidFill>
              </a:rPr>
              <a:t>команда генератор списка</a:t>
            </a:r>
            <a:endParaRPr>
              <a:solidFill>
                <a:srgbClr val="FF99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FF00"/>
              </a:buClr>
              <a:buSzPts val="1800"/>
              <a:buChar char="●"/>
            </a:pPr>
            <a:r>
              <a:rPr lang="en">
                <a:solidFill>
                  <a:srgbClr val="00FF00"/>
                </a:solidFill>
              </a:rPr>
              <a:t>опции xargs</a:t>
            </a:r>
            <a:endParaRPr>
              <a:solidFill>
                <a:srgbClr val="00FF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●"/>
            </a:pPr>
            <a:r>
              <a:rPr lang="en">
                <a:solidFill>
                  <a:srgbClr val="0000FF"/>
                </a:solidFill>
              </a:rPr>
              <a:t>команда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292" name="Google Shape;292;p50"/>
          <p:cNvSpPr txBox="1"/>
          <p:nvPr/>
        </p:nvSpPr>
        <p:spPr>
          <a:xfrm>
            <a:off x="311800" y="2792550"/>
            <a:ext cx="85206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$ find examples/ -name "*.sh" -printf "%f\n"| xargs -t -L1 -I {} cp examples/{} 1/{}.bak</a:t>
            </a:r>
            <a:endParaRPr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5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Современные утилиты</a:t>
            </a:r>
            <a:endParaRPr sz="2820"/>
          </a:p>
        </p:txBody>
      </p:sp>
      <p:sp>
        <p:nvSpPr>
          <p:cNvPr id="298" name="Google Shape;298;p51"/>
          <p:cNvSpPr txBox="1"/>
          <p:nvPr/>
        </p:nvSpPr>
        <p:spPr>
          <a:xfrm>
            <a:off x="311700" y="4774200"/>
            <a:ext cx="288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Полезные консольные Linux утилиты</a:t>
            </a:r>
            <a:endParaRPr sz="1200"/>
          </a:p>
        </p:txBody>
      </p:sp>
      <p:pic>
        <p:nvPicPr>
          <p:cNvPr id="299" name="Google Shape;299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0349" y="572700"/>
            <a:ext cx="7763302" cy="42190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52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820"/>
              <a:t>Принципы работы CLI-программ</a:t>
            </a:r>
            <a:endParaRPr sz="2820"/>
          </a:p>
        </p:txBody>
      </p:sp>
      <p:pic>
        <p:nvPicPr>
          <p:cNvPr id="305" name="Google Shape;305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7774" y="663563"/>
            <a:ext cx="6468450" cy="396877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2"/>
          <p:cNvSpPr txBox="1"/>
          <p:nvPr/>
        </p:nvSpPr>
        <p:spPr>
          <a:xfrm>
            <a:off x="311700" y="4774200"/>
            <a:ext cx="4293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«Правила», которым следуют терминальные программы</a:t>
            </a:r>
            <a:endParaRPr sz="1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type="title"/>
          </p:nvPr>
        </p:nvSpPr>
        <p:spPr>
          <a:xfrm>
            <a:off x="311700" y="-121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Fuck</a:t>
            </a:r>
            <a:endParaRPr/>
          </a:p>
        </p:txBody>
      </p:sp>
      <p:sp>
        <p:nvSpPr>
          <p:cNvPr id="312" name="Google Shape;312;p53"/>
          <p:cNvSpPr txBox="1"/>
          <p:nvPr/>
        </p:nvSpPr>
        <p:spPr>
          <a:xfrm>
            <a:off x="311700" y="4800600"/>
            <a:ext cx="30666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thefuck</a:t>
            </a:r>
            <a:endParaRPr/>
          </a:p>
        </p:txBody>
      </p:sp>
      <p:pic>
        <p:nvPicPr>
          <p:cNvPr id="313" name="Google Shape;313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4738" y="572800"/>
            <a:ext cx="7514519" cy="41515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