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BDCCF7-2141-4FEC-A58E-B5771AC5F466}">
  <a:tblStyle styleId="{F6BDCCF7-2141-4FEC-A58E-B5771AC5F4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106702/" TargetMode="External"/><Relationship Id="rId3" Type="http://schemas.openxmlformats.org/officeDocument/2006/relationships/hyperlink" Target="https://habr.com/ru/post/92123/" TargetMode="External"/><Relationship Id="rId4" Type="http://schemas.openxmlformats.org/officeDocument/2006/relationships/hyperlink" Target="https://makelinux.github.io/kernel/map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343828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https://habr.com/ru/post/106702/</a:t>
            </a:r>
            <a:r>
              <a:rPr lang="en"/>
              <a:t> - пишем свой драйвер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https://habr.com/ru/post/92123/</a:t>
            </a:r>
            <a:r>
              <a:rPr lang="en"/>
              <a:t> - обращение к файлам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https://makelinux.github.io/kernel/map/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b7e332e5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b7e332e5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21fc0997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21fc0997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bf6efdc2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bf6efdc2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https://habr.com/ru/post/586604/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0650e3af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0650e3af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89dfcd85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489dfcd85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17dec357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17dec357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17dec357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17dec357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bf6efdc20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bf6efdc20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1dba06a3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41dba06a3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bcd42ceb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bcd42ceb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0650e3af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0650e3af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0650e3af9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0650e3af9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0650e3af9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0650e3af9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0650e3af9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0650e3af9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0650e3af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d0650e3af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0650e3af9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0650e3af9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0650e3af9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d0650e3af9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0650e3af9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0650e3af9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0650e3af9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d0650e3af9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0650e3af9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d0650e3af9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0650e3af9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d0650e3af9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0650e3af9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d0650e3af9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d0650e3af9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d0650e3af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0650e3af9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d0650e3af9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0650e3af9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d0650e3af9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0650e3af9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d0650e3af9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61f7c3e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d61f7c3e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c1de3c4de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c1de3c4de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1301b28a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d1301b28a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17dec35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d17dec35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1998ec6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d1998ec6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b7e332e5d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b7e332e5d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bf6efdc20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bf6efdc20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bf6efdc20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bf6efdc20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https://habr.com/ru/post/343828/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запустить stress и посмотреть как изменяются цифры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поуправлять процессом nginx (остановить, убить)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послать segfault </a:t>
            </a:r>
            <a:r>
              <a:rPr lang="en"/>
              <a:t>gunicorn</a:t>
            </a:r>
            <a:r>
              <a:rPr lang="en"/>
              <a:t> воркеру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переключиться на gunicorn, выйти не закрывая и отцепить от bash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найти pid nginx и посмотреть его переменные окружения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написать скрипт, который показывает переменные окружения процесса по имени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https://habr.com/ru/company/ruvds/blog/684382/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hyperlink" Target="https://medium.com/@267/everybody-loves-shell-2887b06d524c" TargetMode="External"/><Relationship Id="rId5" Type="http://schemas.openxmlformats.org/officeDocument/2006/relationships/hyperlink" Target="https://www.linux.org.ru/articles/development/17284031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Relationship Id="rId4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hyperlink" Target="https://habr.com/ru/articles/216827/" TargetMode="External"/><Relationship Id="rId5" Type="http://schemas.openxmlformats.org/officeDocument/2006/relationships/hyperlink" Target="https://habr.com/ru/articles/260335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hyperlink" Target="https://habr.com/ru/articles/316806/" TargetMode="External"/><Relationship Id="rId5" Type="http://schemas.openxmlformats.org/officeDocument/2006/relationships/hyperlink" Target="https://habr.com/ru/articles/876428/" TargetMode="External"/><Relationship Id="rId6" Type="http://schemas.openxmlformats.org/officeDocument/2006/relationships/hyperlink" Target="https://habr.com/ru/articles/114082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Relationship Id="rId4" Type="http://schemas.openxmlformats.org/officeDocument/2006/relationships/hyperlink" Target="https://habr.com/ru/companies/ruvds/articles/1000218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ocs.google.com/forms/d/1Zjq0AokM65We26y1xABQFKGI88jKYC4z5VRNdT4Oyes/edit" TargetMode="External"/><Relationship Id="rId4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Процессы</a:t>
            </a:r>
            <a:endParaRPr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/>
              <a:t>/proc</a:t>
            </a:r>
            <a:endParaRPr b="1" sz="3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Представление процесса</a:t>
            </a:r>
            <a:endParaRPr/>
          </a:p>
        </p:txBody>
      </p:sp>
      <p:pic>
        <p:nvPicPr>
          <p:cNvPr id="106" name="Google Shape;10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25" y="728663"/>
            <a:ext cx="8210550" cy="36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vs Thread</a:t>
            </a:r>
            <a:endParaRPr/>
          </a:p>
        </p:txBody>
      </p:sp>
      <p:graphicFrame>
        <p:nvGraphicFramePr>
          <p:cNvPr id="112" name="Google Shape;112;p27"/>
          <p:cNvGraphicFramePr/>
          <p:nvPr/>
        </p:nvGraphicFramePr>
        <p:xfrm>
          <a:off x="4092675" y="57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{F6BDCCF7-2141-4FEC-A58E-B5771AC5F466}</a:tableStyleId>
              </a:tblPr>
              <a:tblGrid>
                <a:gridCol w="1564975"/>
                <a:gridCol w="1594775"/>
                <a:gridCol w="1579875"/>
              </a:tblGrid>
              <a:tr h="47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Process (процесс)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Thread (поток)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Изоляция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На уровне ОС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На уровне процесса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Работа с памятью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Собственная память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Общая память процесса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Взаимодействие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Сигналы, IPC, сокеты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Механизмы синхронизации внутри процесса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Переключение контекста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Долгое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Быстрое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13" name="Google Shape;113;p27" title="Thread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72700"/>
            <a:ext cx="3718475" cy="287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Создание</a:t>
            </a:r>
            <a:r>
              <a:rPr lang="en"/>
              <a:t> процесса</a:t>
            </a:r>
            <a:endParaRPr/>
          </a:p>
        </p:txBody>
      </p:sp>
      <p:pic>
        <p:nvPicPr>
          <p:cNvPr id="119" name="Google Shape;11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4638" y="574738"/>
            <a:ext cx="5519374" cy="399402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8"/>
          <p:cNvSpPr txBox="1"/>
          <p:nvPr/>
        </p:nvSpPr>
        <p:spPr>
          <a:xfrm>
            <a:off x="311700" y="4570850"/>
            <a:ext cx="529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https://medium.com/@267/everybody-loves-shell-2887b06d524c</a:t>
            </a:r>
            <a:r>
              <a:rPr lang="en" sz="1200"/>
              <a:t>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Как кушать вилкой. ... или о fork() в двух словах</a:t>
            </a:r>
            <a:endParaRPr sz="1200"/>
          </a:p>
        </p:txBody>
      </p:sp>
      <p:sp>
        <p:nvSpPr>
          <p:cNvPr id="121" name="Google Shape;121;p28"/>
          <p:cNvSpPr txBox="1"/>
          <p:nvPr/>
        </p:nvSpPr>
        <p:spPr>
          <a:xfrm>
            <a:off x="311700" y="766363"/>
            <a:ext cx="29028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int pid = fork();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switch(pid) 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case 0: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// Child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break;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default: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// Parent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break;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}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 On Write</a:t>
            </a:r>
            <a:endParaRPr/>
          </a:p>
        </p:txBody>
      </p:sp>
      <p:pic>
        <p:nvPicPr>
          <p:cNvPr id="127" name="Google Shape;12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60525"/>
            <a:ext cx="5172074" cy="3693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9825" y="791250"/>
            <a:ext cx="1741099" cy="130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9"/>
          <p:cNvSpPr txBox="1"/>
          <p:nvPr/>
        </p:nvSpPr>
        <p:spPr>
          <a:xfrm>
            <a:off x="5483775" y="560525"/>
            <a:ext cx="33486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# Проверить текущее значение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cat /proc/sys/vm/overcommit_memory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# Записать персистентно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echo "vm.overcommit_memory = 1" &gt;&gt; /etc/sysctl.conf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Возможные значения:</a:t>
            </a:r>
            <a:endParaRPr sz="1200">
              <a:solidFill>
                <a:schemeClr val="dk1"/>
              </a:solidFill>
            </a:endParaRPr>
          </a:p>
          <a:p>
            <a:pPr indent="-1905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0 — heuristic (по умолчанию): ядро «гадает», может отказать в fork()</a:t>
            </a:r>
            <a:endParaRPr sz="1200">
              <a:solidFill>
                <a:schemeClr val="dk1"/>
              </a:solidFill>
            </a:endParaRPr>
          </a:p>
          <a:p>
            <a:pPr indent="-1905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1 — always: всегда разрешать overcommit</a:t>
            </a:r>
            <a:endParaRPr sz="1200">
              <a:solidFill>
                <a:schemeClr val="dk1"/>
              </a:solidFill>
            </a:endParaRPr>
          </a:p>
          <a:p>
            <a:pPr indent="-1905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2 — строгий режим, проверка по overcommit_ratio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Жизненный цикл процесса</a:t>
            </a:r>
            <a:endParaRPr/>
          </a:p>
        </p:txBody>
      </p:sp>
      <p:pic>
        <p:nvPicPr>
          <p:cNvPr id="135" name="Google Shape;13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1" y="744209"/>
            <a:ext cx="4571990" cy="386589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0"/>
          <p:cNvSpPr txBox="1"/>
          <p:nvPr/>
        </p:nvSpPr>
        <p:spPr>
          <a:xfrm>
            <a:off x="6485664" y="1243394"/>
            <a:ext cx="2454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50" lIns="82850" spcFirstLastPara="1" rIns="82850" wrap="square" tIns="82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6"/>
              <a:t>R</a:t>
            </a:r>
            <a:endParaRPr sz="906"/>
          </a:p>
        </p:txBody>
      </p:sp>
      <p:sp>
        <p:nvSpPr>
          <p:cNvPr id="137" name="Google Shape;137;p30"/>
          <p:cNvSpPr txBox="1"/>
          <p:nvPr/>
        </p:nvSpPr>
        <p:spPr>
          <a:xfrm>
            <a:off x="6485664" y="2195028"/>
            <a:ext cx="2454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50" lIns="82850" spcFirstLastPara="1" rIns="82850" wrap="square" tIns="82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6"/>
              <a:t>I</a:t>
            </a:r>
            <a:endParaRPr sz="906"/>
          </a:p>
        </p:txBody>
      </p:sp>
      <p:sp>
        <p:nvSpPr>
          <p:cNvPr id="138" name="Google Shape;138;p30"/>
          <p:cNvSpPr txBox="1"/>
          <p:nvPr/>
        </p:nvSpPr>
        <p:spPr>
          <a:xfrm>
            <a:off x="5104164" y="2629873"/>
            <a:ext cx="2454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50" lIns="82850" spcFirstLastPara="1" rIns="82850" wrap="square" tIns="82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6"/>
              <a:t>S</a:t>
            </a:r>
            <a:endParaRPr sz="906"/>
          </a:p>
        </p:txBody>
      </p:sp>
      <p:sp>
        <p:nvSpPr>
          <p:cNvPr id="139" name="Google Shape;139;p30"/>
          <p:cNvSpPr txBox="1"/>
          <p:nvPr/>
        </p:nvSpPr>
        <p:spPr>
          <a:xfrm>
            <a:off x="5129696" y="1739567"/>
            <a:ext cx="2454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50" lIns="82850" spcFirstLastPara="1" rIns="82850" wrap="square" tIns="82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6"/>
              <a:t>D</a:t>
            </a:r>
            <a:endParaRPr sz="906"/>
          </a:p>
        </p:txBody>
      </p:sp>
      <p:sp>
        <p:nvSpPr>
          <p:cNvPr id="140" name="Google Shape;140;p30"/>
          <p:cNvSpPr txBox="1"/>
          <p:nvPr/>
        </p:nvSpPr>
        <p:spPr>
          <a:xfrm>
            <a:off x="6485664" y="3908920"/>
            <a:ext cx="2454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50" lIns="82850" spcFirstLastPara="1" rIns="82850" wrap="square" tIns="82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6"/>
              <a:t>Z</a:t>
            </a:r>
            <a:endParaRPr sz="906"/>
          </a:p>
        </p:txBody>
      </p:sp>
      <p:sp>
        <p:nvSpPr>
          <p:cNvPr id="141" name="Google Shape;141;p30"/>
          <p:cNvSpPr txBox="1"/>
          <p:nvPr/>
        </p:nvSpPr>
        <p:spPr>
          <a:xfrm>
            <a:off x="8496394" y="2195028"/>
            <a:ext cx="2454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50" lIns="82850" spcFirstLastPara="1" rIns="82850" wrap="square" tIns="82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6"/>
              <a:t>T</a:t>
            </a:r>
            <a:endParaRPr sz="906"/>
          </a:p>
        </p:txBody>
      </p:sp>
      <p:sp>
        <p:nvSpPr>
          <p:cNvPr id="142" name="Google Shape;142;p30"/>
          <p:cNvSpPr txBox="1"/>
          <p:nvPr/>
        </p:nvSpPr>
        <p:spPr>
          <a:xfrm>
            <a:off x="311700" y="572700"/>
            <a:ext cx="45099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I – готов к работе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R — запущен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 — спит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D — заблокирован во сне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Z — зомби, завершил работу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 — остановлен сигналом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 — остановлен отладчиком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43" name="Google Shape;14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7988" y="3567075"/>
            <a:ext cx="1457325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Сигналы</a:t>
            </a:r>
            <a:endParaRPr/>
          </a:p>
        </p:txBody>
      </p:sp>
      <p:graphicFrame>
        <p:nvGraphicFramePr>
          <p:cNvPr id="149" name="Google Shape;149;p31"/>
          <p:cNvGraphicFramePr/>
          <p:nvPr/>
        </p:nvGraphicFramePr>
        <p:xfrm>
          <a:off x="311700" y="5726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{F6BDCCF7-2141-4FEC-A58E-B5771AC5F466}</a:tableStyleId>
              </a:tblPr>
              <a:tblGrid>
                <a:gridCol w="1096700"/>
                <a:gridCol w="512350"/>
                <a:gridCol w="1379500"/>
                <a:gridCol w="5532075"/>
              </a:tblGrid>
              <a:tr h="33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Название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Код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Действие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Значение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61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SIGTERM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Завершить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Вежливо попросить процесс завершить работу и подчистить за собой мусор.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SIGSTOP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Остановить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Остановить выполнение процесса. Ctrl+Z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1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SIGKILL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Завершить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Немедленно прекратить выполнение процесса. Нельзя обработать или перехватить.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SIGINT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Завершить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Прервать выполнение процесса. Отправляется только с терминала. Ctrl+C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1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SIGHUP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Завершить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Прервать выполнение процесса, т.к. терминал закрыт. Для демонов - обновить конфигурацию.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7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SIGSEGV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Завершить + core dump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Аварийно завершить работу процесса, т.к. он обратился к недоступным ресурсам.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SIGABRT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Завершить + core dump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Аварийно завершить работу процесса, т.к. он вызвал системный метод abort().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Управление выполнением</a:t>
            </a:r>
            <a:endParaRPr/>
          </a:p>
        </p:txBody>
      </p:sp>
      <p:sp>
        <p:nvSpPr>
          <p:cNvPr id="155" name="Google Shape;155;p32"/>
          <p:cNvSpPr txBox="1"/>
          <p:nvPr/>
        </p:nvSpPr>
        <p:spPr>
          <a:xfrm>
            <a:off x="311700" y="572700"/>
            <a:ext cx="8520600" cy="4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Список процессов: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ps aux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USER         PID %CPU %MEM    VSZ   RSS TTY      STAT START   TIME COMMAND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root           1  0.0  0.0  24016 15464 ?        Ss   Mar18   0:08 /sbin/init splash no_stf_barrier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root           2  0.0  0.0      0     0 ?        S    Mar18   0:00 [kthreadd]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postgres    2018  0.0  0.2 362036 86552 ?        Ss   Mar18   0:01 postgres: 16/main: checkpointer 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postgres    2019  0.0  0.0 362056 10088 ?        Ss   Mar18   0:00 postgres: 16/main: background writer 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postgres    2028  0.0  0.0 361900 14580 ?        Ss   Mar18   0:01 postgres: 16/main: walwriter 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postgres    2030  0.0  0.0 363508  9116 ?        Ss   Mar18   0:01 postgres: 16/main: autovacuum launcher 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Послать сигнал: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kill -SIGSTOP &lt;pid&gt;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kill -n 9 &lt;pid&gt;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Послать сигнал нескольким процессам: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killall -9 &lt;process_name&gt;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nice -n 10 stress --cpu 12 --timeout 60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op &amp;&amp; htop</a:t>
            </a:r>
            <a:endParaRPr/>
          </a:p>
        </p:txBody>
      </p:sp>
      <p:pic>
        <p:nvPicPr>
          <p:cNvPr id="161" name="Google Shape;16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575" y="572700"/>
            <a:ext cx="8198833" cy="457080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3"/>
          <p:cNvSpPr/>
          <p:nvPr/>
        </p:nvSpPr>
        <p:spPr>
          <a:xfrm>
            <a:off x="472575" y="572700"/>
            <a:ext cx="3772500" cy="201900"/>
          </a:xfrm>
          <a:prstGeom prst="rect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3"/>
          <p:cNvSpPr/>
          <p:nvPr/>
        </p:nvSpPr>
        <p:spPr>
          <a:xfrm>
            <a:off x="4386675" y="572700"/>
            <a:ext cx="2779800" cy="191400"/>
          </a:xfrm>
          <a:prstGeom prst="rect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3"/>
          <p:cNvSpPr/>
          <p:nvPr/>
        </p:nvSpPr>
        <p:spPr>
          <a:xfrm>
            <a:off x="472575" y="766275"/>
            <a:ext cx="6296400" cy="1914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3"/>
          <p:cNvSpPr/>
          <p:nvPr/>
        </p:nvSpPr>
        <p:spPr>
          <a:xfrm>
            <a:off x="472575" y="959850"/>
            <a:ext cx="7214100" cy="164700"/>
          </a:xfrm>
          <a:prstGeom prst="rect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3"/>
          <p:cNvSpPr/>
          <p:nvPr/>
        </p:nvSpPr>
        <p:spPr>
          <a:xfrm>
            <a:off x="472575" y="1124550"/>
            <a:ext cx="6902700" cy="400800"/>
          </a:xfrm>
          <a:prstGeom prst="rect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Average</a:t>
            </a:r>
            <a:endParaRPr/>
          </a:p>
        </p:txBody>
      </p:sp>
      <p:pic>
        <p:nvPicPr>
          <p:cNvPr id="172" name="Google Shape;172;p34" title="69ae7049ed22540923833ec3e381e2f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7762" y="571572"/>
            <a:ext cx="5997574" cy="9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4"/>
          <p:cNvSpPr txBox="1"/>
          <p:nvPr/>
        </p:nvSpPr>
        <p:spPr>
          <a:xfrm>
            <a:off x="311700" y="1417875"/>
            <a:ext cx="85206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</a:rPr>
              <a:t>LA(t) — новое значение Load Average.</a:t>
            </a:r>
            <a:endParaRPr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</a:rPr>
              <a:t>LAprev​ — предыдущее значение Load Average.</a:t>
            </a:r>
            <a:endParaRPr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</a:rPr>
              <a:t>n — текущее число процессов в очереди выполнения (running + waiting).</a:t>
            </a:r>
            <a:endParaRPr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</a:rPr>
              <a:t>t — время с момента последнего обновления.</a:t>
            </a:r>
            <a:endParaRPr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</a:rPr>
              <a:t>𝛕 — временная константа (разная для 1, 5 и 15 минут):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4" name="Google Shape;174;p34"/>
          <p:cNvSpPr txBox="1"/>
          <p:nvPr/>
        </p:nvSpPr>
        <p:spPr>
          <a:xfrm>
            <a:off x="369675" y="3320400"/>
            <a:ext cx="84627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333"/>
                </a:solidFill>
                <a:highlight>
                  <a:srgbClr val="FFFFFF"/>
                </a:highlight>
              </a:rPr>
              <a:t>LA &lt; cores – система работает нормально</a:t>
            </a:r>
            <a:endParaRPr b="1"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333"/>
                </a:solidFill>
                <a:highlight>
                  <a:srgbClr val="FFFFFF"/>
                </a:highlight>
              </a:rPr>
              <a:t>LA ≈ cores – CPU загружен на 100%</a:t>
            </a:r>
            <a:endParaRPr b="1"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333"/>
                </a:solidFill>
                <a:highlight>
                  <a:srgbClr val="FFFFFF"/>
                </a:highlight>
              </a:rPr>
              <a:t>LA &gt; cores – процессы ожидают выполнения, тормоза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75" name="Google Shape;175;p34"/>
          <p:cNvSpPr txBox="1"/>
          <p:nvPr/>
        </p:nvSpPr>
        <p:spPr>
          <a:xfrm>
            <a:off x="369675" y="4561800"/>
            <a:ext cx="5013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CPU Load: когда начинать волноваться?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Как считается Load Average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htop</a:t>
            </a:r>
            <a:endParaRPr/>
          </a:p>
        </p:txBody>
      </p:sp>
      <p:pic>
        <p:nvPicPr>
          <p:cNvPr id="181" name="Google Shape;18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203" cy="338231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5"/>
          <p:cNvSpPr txBox="1"/>
          <p:nvPr/>
        </p:nvSpPr>
        <p:spPr>
          <a:xfrm>
            <a:off x="311700" y="4404600"/>
            <a:ext cx="619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htop и многое другое на пальцах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Погружение в инструменты диагностики Linux. Часть 2 — top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TOP'ай сюда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Практика чтения top</a:t>
            </a:r>
            <a:endParaRPr/>
          </a:p>
        </p:txBody>
      </p:sp>
      <p:pic>
        <p:nvPicPr>
          <p:cNvPr id="188" name="Google Shape;18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125" y="572702"/>
            <a:ext cx="6523748" cy="45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Практика чтения top</a:t>
            </a:r>
            <a:endParaRPr/>
          </a:p>
        </p:txBody>
      </p:sp>
      <p:pic>
        <p:nvPicPr>
          <p:cNvPr id="194" name="Google Shape;19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72700"/>
            <a:ext cx="8520600" cy="3927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Практика чтения top</a:t>
            </a:r>
            <a:endParaRPr/>
          </a:p>
        </p:txBody>
      </p:sp>
      <p:pic>
        <p:nvPicPr>
          <p:cNvPr id="200" name="Google Shape;20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775" y="572700"/>
            <a:ext cx="8508449" cy="2861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Практика чтения top</a:t>
            </a:r>
            <a:endParaRPr/>
          </a:p>
        </p:txBody>
      </p:sp>
      <p:pic>
        <p:nvPicPr>
          <p:cNvPr id="206" name="Google Shape;20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72700"/>
            <a:ext cx="8520600" cy="2761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atop</a:t>
            </a:r>
            <a:endParaRPr/>
          </a:p>
        </p:txBody>
      </p:sp>
      <p:sp>
        <p:nvSpPr>
          <p:cNvPr id="212" name="Google Shape;212;p40"/>
          <p:cNvSpPr txBox="1"/>
          <p:nvPr/>
        </p:nvSpPr>
        <p:spPr>
          <a:xfrm>
            <a:off x="311700" y="4774200"/>
            <a:ext cx="619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213" name="Google Shape;21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992" y="572700"/>
            <a:ext cx="8125882" cy="45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btop</a:t>
            </a:r>
            <a:endParaRPr/>
          </a:p>
        </p:txBody>
      </p:sp>
      <p:sp>
        <p:nvSpPr>
          <p:cNvPr id="219" name="Google Shape;219;p41"/>
          <p:cNvSpPr txBox="1"/>
          <p:nvPr/>
        </p:nvSpPr>
        <p:spPr>
          <a:xfrm>
            <a:off x="311700" y="4774200"/>
            <a:ext cx="619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220" name="Google Shape;22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050" y="572700"/>
            <a:ext cx="8125877" cy="45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ctop</a:t>
            </a:r>
            <a:endParaRPr/>
          </a:p>
        </p:txBody>
      </p:sp>
      <p:sp>
        <p:nvSpPr>
          <p:cNvPr id="226" name="Google Shape;226;p42"/>
          <p:cNvSpPr txBox="1"/>
          <p:nvPr/>
        </p:nvSpPr>
        <p:spPr>
          <a:xfrm>
            <a:off x="311700" y="4774200"/>
            <a:ext cx="619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227" name="Google Shape;22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72700"/>
            <a:ext cx="8520600" cy="1503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*top</a:t>
            </a:r>
            <a:endParaRPr/>
          </a:p>
        </p:txBody>
      </p:sp>
      <p:sp>
        <p:nvSpPr>
          <p:cNvPr id="233" name="Google Shape;233;p43"/>
          <p:cNvSpPr txBox="1"/>
          <p:nvPr/>
        </p:nvSpPr>
        <p:spPr>
          <a:xfrm>
            <a:off x="311700" y="4774200"/>
            <a:ext cx="619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234" name="Google Shape;23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72700"/>
            <a:ext cx="5953125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iotop</a:t>
            </a:r>
            <a:endParaRPr/>
          </a:p>
        </p:txBody>
      </p:sp>
      <p:sp>
        <p:nvSpPr>
          <p:cNvPr id="240" name="Google Shape;240;p44"/>
          <p:cNvSpPr txBox="1"/>
          <p:nvPr/>
        </p:nvSpPr>
        <p:spPr>
          <a:xfrm>
            <a:off x="311700" y="4774200"/>
            <a:ext cx="619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241" name="Google Shape;24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72700"/>
            <a:ext cx="8520599" cy="2958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powertop</a:t>
            </a:r>
            <a:endParaRPr/>
          </a:p>
        </p:txBody>
      </p:sp>
      <p:sp>
        <p:nvSpPr>
          <p:cNvPr id="247" name="Google Shape;247;p45"/>
          <p:cNvSpPr txBox="1"/>
          <p:nvPr/>
        </p:nvSpPr>
        <p:spPr>
          <a:xfrm>
            <a:off x="311700" y="4774200"/>
            <a:ext cx="619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248" name="Google Shape;24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72700"/>
            <a:ext cx="8520600" cy="3653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glances</a:t>
            </a:r>
            <a:endParaRPr/>
          </a:p>
        </p:txBody>
      </p:sp>
      <p:sp>
        <p:nvSpPr>
          <p:cNvPr id="254" name="Google Shape;254;p46"/>
          <p:cNvSpPr txBox="1"/>
          <p:nvPr/>
        </p:nvSpPr>
        <p:spPr>
          <a:xfrm>
            <a:off x="311700" y="4774200"/>
            <a:ext cx="619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255" name="Google Shape;25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063" y="572700"/>
            <a:ext cx="8125882" cy="45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s-tui</a:t>
            </a:r>
            <a:endParaRPr/>
          </a:p>
        </p:txBody>
      </p:sp>
      <p:sp>
        <p:nvSpPr>
          <p:cNvPr id="261" name="Google Shape;261;p47"/>
          <p:cNvSpPr txBox="1"/>
          <p:nvPr/>
        </p:nvSpPr>
        <p:spPr>
          <a:xfrm>
            <a:off x="311700" y="4774200"/>
            <a:ext cx="619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262" name="Google Shape;26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063" y="572700"/>
            <a:ext cx="8125882" cy="45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pg_top</a:t>
            </a:r>
            <a:endParaRPr/>
          </a:p>
        </p:txBody>
      </p:sp>
      <p:sp>
        <p:nvSpPr>
          <p:cNvPr id="268" name="Google Shape;268;p48"/>
          <p:cNvSpPr txBox="1"/>
          <p:nvPr/>
        </p:nvSpPr>
        <p:spPr>
          <a:xfrm>
            <a:off x="311700" y="4774200"/>
            <a:ext cx="619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269" name="Google Shape;26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72700"/>
            <a:ext cx="8520599" cy="2381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iftop</a:t>
            </a:r>
            <a:endParaRPr/>
          </a:p>
        </p:txBody>
      </p:sp>
      <p:sp>
        <p:nvSpPr>
          <p:cNvPr id="275" name="Google Shape;275;p49"/>
          <p:cNvSpPr txBox="1"/>
          <p:nvPr/>
        </p:nvSpPr>
        <p:spPr>
          <a:xfrm>
            <a:off x="311700" y="4774200"/>
            <a:ext cx="619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276" name="Google Shape;27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72700"/>
            <a:ext cx="8125877" cy="45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intel_gpu_top</a:t>
            </a:r>
            <a:endParaRPr/>
          </a:p>
        </p:txBody>
      </p:sp>
      <p:sp>
        <p:nvSpPr>
          <p:cNvPr id="282" name="Google Shape;282;p50"/>
          <p:cNvSpPr txBox="1"/>
          <p:nvPr/>
        </p:nvSpPr>
        <p:spPr>
          <a:xfrm>
            <a:off x="311700" y="4774200"/>
            <a:ext cx="619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283" name="Google Shape;28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72700"/>
            <a:ext cx="8520601" cy="2203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nvtop</a:t>
            </a:r>
            <a:endParaRPr/>
          </a:p>
        </p:txBody>
      </p:sp>
      <p:sp>
        <p:nvSpPr>
          <p:cNvPr id="289" name="Google Shape;289;p51"/>
          <p:cNvSpPr txBox="1"/>
          <p:nvPr/>
        </p:nvSpPr>
        <p:spPr>
          <a:xfrm>
            <a:off x="311700" y="4774200"/>
            <a:ext cx="619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290" name="Google Shape;29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063" y="572700"/>
            <a:ext cx="8125877" cy="45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Performance Observability Tool</a:t>
            </a:r>
            <a:endParaRPr/>
          </a:p>
        </p:txBody>
      </p:sp>
      <p:pic>
        <p:nvPicPr>
          <p:cNvPr id="296" name="Google Shape;29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8000" y="572700"/>
            <a:ext cx="5688002" cy="4266001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52"/>
          <p:cNvSpPr txBox="1"/>
          <p:nvPr/>
        </p:nvSpPr>
        <p:spPr>
          <a:xfrm>
            <a:off x="311700" y="4774200"/>
            <a:ext cx="723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Шпаргалка по поиску узких мест в Linux: топ утилит на все случаи жизни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Каталог </a:t>
            </a:r>
            <a:r>
              <a:rPr lang="en" sz="2500"/>
              <a:t>/proc</a:t>
            </a:r>
            <a:endParaRPr sz="2500"/>
          </a:p>
        </p:txBody>
      </p:sp>
      <p:sp>
        <p:nvSpPr>
          <p:cNvPr id="303" name="Google Shape;303;p53"/>
          <p:cNvSpPr txBox="1"/>
          <p:nvPr/>
        </p:nvSpPr>
        <p:spPr>
          <a:xfrm>
            <a:off x="311700" y="711675"/>
            <a:ext cx="4222500" cy="19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/proc/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meminfo - использование RAM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uptime - аптайм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loadavg - средняя загрузка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cpuinfo - информация о CPU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cmdline - параметры запуска ядра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cgroups - ограничения процессов</a:t>
            </a:r>
            <a:endParaRPr sz="1500"/>
          </a:p>
        </p:txBody>
      </p:sp>
      <p:sp>
        <p:nvSpPr>
          <p:cNvPr id="304" name="Google Shape;304;p53"/>
          <p:cNvSpPr txBox="1"/>
          <p:nvPr/>
        </p:nvSpPr>
        <p:spPr>
          <a:xfrm>
            <a:off x="4661075" y="711675"/>
            <a:ext cx="42225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/proc/&lt;pid&gt;/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fd - файловые дескрипторы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root - как процесс видит ФС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</a:t>
            </a:r>
            <a:r>
              <a:rPr lang="en" sz="1500"/>
              <a:t>groups - ограничение процесса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cmdline - параметры запуска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environ - переменные окружения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limits - связаны с cgroups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sched - информация из планировщика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status - суммарная информация</a:t>
            </a:r>
            <a:endParaRPr sz="1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tmux</a:t>
            </a:r>
            <a:endParaRPr/>
          </a:p>
        </p:txBody>
      </p:sp>
      <p:pic>
        <p:nvPicPr>
          <p:cNvPr id="310" name="Google Shape;31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82150"/>
            <a:ext cx="8520601" cy="4061352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54"/>
          <p:cNvSpPr txBox="1"/>
          <p:nvPr/>
        </p:nvSpPr>
        <p:spPr>
          <a:xfrm>
            <a:off x="311700" y="466550"/>
            <a:ext cx="852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Отцепить процесс от родительского: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disown &lt;pid&gt;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Оцените лекцию</a:t>
            </a:r>
            <a:endParaRPr sz="2500"/>
          </a:p>
        </p:txBody>
      </p:sp>
      <p:sp>
        <p:nvSpPr>
          <p:cNvPr id="317" name="Google Shape;317;p55"/>
          <p:cNvSpPr txBox="1"/>
          <p:nvPr>
            <p:ph idx="1" type="body"/>
          </p:nvPr>
        </p:nvSpPr>
        <p:spPr>
          <a:xfrm>
            <a:off x="311700" y="572700"/>
            <a:ext cx="45720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Гуглоформа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18" name="Google Shape;318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57270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jobs</a:t>
            </a:r>
            <a:endParaRPr/>
          </a:p>
        </p:txBody>
      </p:sp>
      <p:sp>
        <p:nvSpPr>
          <p:cNvPr id="330" name="Google Shape;330;p57"/>
          <p:cNvSpPr txBox="1"/>
          <p:nvPr/>
        </p:nvSpPr>
        <p:spPr>
          <a:xfrm>
            <a:off x="311700" y="572700"/>
            <a:ext cx="72084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Создать фоновый job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gzip &lt; /dev/zero &gt; /dev/null &amp;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Отправить в фон: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$ bg &lt;id&gt;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Сделать основным: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$ fg &lt;id&gt;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[1]  15727 Running                 nice gzip &lt; /dev/zero &gt; /dev/null &amp;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[2]- 15728 Running                 bzip2 &lt; /dev/zero &gt; /dev/null &amp;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[3]+ 15730 Running                 xz &lt; /dev/zero &gt; /dev/null &amp;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 &amp; nice</a:t>
            </a:r>
            <a:endParaRPr/>
          </a:p>
        </p:txBody>
      </p:sp>
      <p:sp>
        <p:nvSpPr>
          <p:cNvPr id="336" name="Google Shape;336;p58"/>
          <p:cNvSpPr txBox="1"/>
          <p:nvPr/>
        </p:nvSpPr>
        <p:spPr>
          <a:xfrm>
            <a:off x="311700" y="926900"/>
            <a:ext cx="4622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ps axl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renice 15 &lt;pid&gt;</a:t>
            </a:r>
            <a:endParaRPr/>
          </a:p>
        </p:txBody>
      </p:sp>
      <p:sp>
        <p:nvSpPr>
          <p:cNvPr id="337" name="Google Shape;337;p58"/>
          <p:cNvSpPr txBox="1"/>
          <p:nvPr/>
        </p:nvSpPr>
        <p:spPr>
          <a:xfrm>
            <a:off x="311700" y="1954400"/>
            <a:ext cx="621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</a:t>
            </a:r>
            <a:r>
              <a:rPr lang="en"/>
              <a:t>nice -n 20 ./nice.py k1.txt &amp; nice -n 10 ./nice.py k2.txt &amp; ./nice.py k3.txt &amp;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nice -n 10 stress --cpu 12 --timeout 60</a:t>
            </a:r>
            <a:endParaRPr/>
          </a:p>
        </p:txBody>
      </p:sp>
      <p:sp>
        <p:nvSpPr>
          <p:cNvPr id="338" name="Google Shape;338;p58"/>
          <p:cNvSpPr txBox="1"/>
          <p:nvPr/>
        </p:nvSpPr>
        <p:spPr>
          <a:xfrm>
            <a:off x="732775" y="3370250"/>
            <a:ext cx="619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pstree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Ядро linux  – удалить?</a:t>
            </a:r>
            <a:endParaRPr/>
          </a:p>
        </p:txBody>
      </p:sp>
      <p:sp>
        <p:nvSpPr>
          <p:cNvPr id="344" name="Google Shape;344;p59"/>
          <p:cNvSpPr txBox="1"/>
          <p:nvPr/>
        </p:nvSpPr>
        <p:spPr>
          <a:xfrm>
            <a:off x="311700" y="572700"/>
            <a:ext cx="72084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Список модулей ядра: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lsmod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Информация о модуле: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modinfo vboxnetadp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Загрузка модуля ядра: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modprobe vboxnetadp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Загрузка ядра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</a:t>
            </a:r>
            <a:r>
              <a:rPr lang="en" sz="1800"/>
              <a:t>insmod ~/vboxnetadp.ko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