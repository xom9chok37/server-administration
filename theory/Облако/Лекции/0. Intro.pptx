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https://cloud.mail.ru/public/djJF/REYuHr66H</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b5f5fa8d2f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b5f5fa8d2f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0c5ec71b5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0c5ec71b5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1124c239fb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1124c239fb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fd0b4821f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fd0b4821f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1114355cbf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1114355cbf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0fe7594e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0fe7594e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114355cb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1114355cb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27cd49e42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27cd49e42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0c5ec71b5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0c5ec71b5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0f6a90fe4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0f6a90fe4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0f6a90fe4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0f6a90fe4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krd.dev" TargetMode="External"/><Relationship Id="rId4" Type="http://schemas.openxmlformats.org/officeDocument/2006/relationships/image" Target="../media/image2.png"/><Relationship Id="rId5" Type="http://schemas.openxmlformats.org/officeDocument/2006/relationships/image" Target="../media/image13.png"/><Relationship Id="rId6" Type="http://schemas.openxmlformats.org/officeDocument/2006/relationships/image" Target="../media/image11.png"/><Relationship Id="rId7"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jpg"/><Relationship Id="rId4" Type="http://schemas.openxmlformats.org/officeDocument/2006/relationships/hyperlink" Target="https://www.youtube.com/c/krddevdays" TargetMode="External"/><Relationship Id="rId5" Type="http://schemas.openxmlformats.org/officeDocument/2006/relationships/image" Target="../media/image6.jpg"/><Relationship Id="rId6" Type="http://schemas.openxmlformats.org/officeDocument/2006/relationships/image" Target="../media/image17.jpg"/><Relationship Id="rId7" Type="http://schemas.openxmlformats.org/officeDocument/2006/relationships/image" Target="../media/image1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7.jpg"/><Relationship Id="rId5" Type="http://schemas.openxmlformats.org/officeDocument/2006/relationships/image" Target="../media/image3.jpg"/><Relationship Id="rId6"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vk.com/tyvik" TargetMode="External"/><Relationship Id="rId4" Type="http://schemas.openxmlformats.org/officeDocument/2006/relationships/hyperlink" Target="https://tyvik.ru" TargetMode="External"/><Relationship Id="rId5" Type="http://schemas.openxmlformats.org/officeDocument/2006/relationships/hyperlink" Target="https://github.com/TyVik"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regexcrossword.com/" TargetMode="Externa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referral.hackthebox.com/mzxCWAt" TargetMode="External"/><Relationship Id="rId4" Type="http://schemas.openxmlformats.org/officeDocument/2006/relationships/hyperlink" Target="https://killercoda.com/" TargetMode="External"/><Relationship Id="rId5"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2994975"/>
            <a:ext cx="8520600" cy="9453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ru"/>
              <a:t>Администрирование Linux</a:t>
            </a:r>
            <a:endParaRPr/>
          </a:p>
        </p:txBody>
      </p:sp>
      <p:sp>
        <p:nvSpPr>
          <p:cNvPr id="55" name="Google Shape;55;p13"/>
          <p:cNvSpPr txBox="1"/>
          <p:nvPr>
            <p:ph idx="1" type="subTitle"/>
          </p:nvPr>
        </p:nvSpPr>
        <p:spPr>
          <a:xfrm>
            <a:off x="311700" y="3977125"/>
            <a:ext cx="8520600" cy="5625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ru"/>
              <a:t>Тыщенко Виктор Вадимович</a:t>
            </a:r>
            <a:endParaRPr/>
          </a:p>
        </p:txBody>
      </p:sp>
      <p:pic>
        <p:nvPicPr>
          <p:cNvPr id="56" name="Google Shape;56;p13"/>
          <p:cNvPicPr preferRelativeResize="0"/>
          <p:nvPr/>
        </p:nvPicPr>
        <p:blipFill>
          <a:blip r:embed="rId3">
            <a:alphaModFix/>
          </a:blip>
          <a:stretch>
            <a:fillRect/>
          </a:stretch>
        </p:blipFill>
        <p:spPr>
          <a:xfrm>
            <a:off x="3392525" y="290775"/>
            <a:ext cx="2358939" cy="281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Опыт работы:</a:t>
            </a:r>
            <a:endParaRPr/>
          </a:p>
        </p:txBody>
      </p:sp>
      <p:sp>
        <p:nvSpPr>
          <p:cNvPr id="62" name="Google Shape;62;p14"/>
          <p:cNvSpPr txBox="1"/>
          <p:nvPr/>
        </p:nvSpPr>
        <p:spPr>
          <a:xfrm>
            <a:off x="311700" y="560525"/>
            <a:ext cx="8520600" cy="4386900"/>
          </a:xfrm>
          <a:prstGeom prst="rect">
            <a:avLst/>
          </a:prstGeom>
          <a:noFill/>
          <a:ln>
            <a:noFill/>
          </a:ln>
        </p:spPr>
        <p:txBody>
          <a:bodyPr anchorCtr="0" anchor="t" bIns="91425" lIns="91425" spcFirstLastPara="1" rIns="91425" wrap="square" tIns="91425">
            <a:spAutoFit/>
          </a:bodyPr>
          <a:lstStyle/>
          <a:p>
            <a:pPr indent="-355600" lvl="0" marL="457200" rtl="0" algn="l">
              <a:lnSpc>
                <a:spcPct val="115000"/>
              </a:lnSpc>
              <a:spcBef>
                <a:spcPts val="0"/>
              </a:spcBef>
              <a:spcAft>
                <a:spcPts val="0"/>
              </a:spcAft>
              <a:buClr>
                <a:schemeClr val="dk1"/>
              </a:buClr>
              <a:buSzPts val="2000"/>
              <a:buChar char="●"/>
            </a:pPr>
            <a:r>
              <a:rPr lang="ru" sz="2000">
                <a:solidFill>
                  <a:schemeClr val="dk1"/>
                </a:solidFill>
              </a:rPr>
              <a:t>стаж &gt; 18 лет, специализировался на зарубежных стартапах</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ru" sz="2000">
                <a:solidFill>
                  <a:schemeClr val="dk1"/>
                </a:solidFill>
              </a:rPr>
              <a:t>языки и технологии: python (Qt, Django, aiohttp, FastAPI, Scrapy, Celery), JavaScript (jQuery, React, Vue, Angular 1), databases (PostgreSQL, MySQL, Redis, Elasticsearch, Oracle, SQLite), php (Yii), DevOps (Docker, GitLab, CircleCI, AWS, k8s, Kafka, RabbitMQ), Delphi, C#, Perl, XSLT, git, HTML/CSS, Java (JEE, J2ME), C++, Ruby, Erlang, asm</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ru" sz="2000">
                <a:solidFill>
                  <a:schemeClr val="dk1"/>
                </a:solidFill>
              </a:rPr>
              <a:t>организатор конференций Krasnodar Dev Days, Podlodka Python Crew</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ru" sz="2000">
                <a:solidFill>
                  <a:schemeClr val="dk1"/>
                </a:solidFill>
              </a:rPr>
              <a:t>выступал на Moscow Python Conf++, PyCon, DevOps Conf, РИТ++</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ru" sz="2000">
                <a:solidFill>
                  <a:schemeClr val="dk1"/>
                </a:solidFill>
              </a:rPr>
              <a:t>развиваю свой pet-project GeoPuzzle (https://geopuzzle.org)</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ru" sz="2000">
                <a:solidFill>
                  <a:schemeClr val="dk1"/>
                </a:solidFill>
              </a:rPr>
              <a:t>ведущий разработчик в банке Точка</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Krasnodar Dev Days (</a:t>
            </a:r>
            <a:r>
              <a:rPr lang="ru" u="sng">
                <a:solidFill>
                  <a:schemeClr val="hlink"/>
                </a:solidFill>
                <a:hlinkClick r:id="rId3"/>
              </a:rPr>
              <a:t>https://krd.dev</a:t>
            </a:r>
            <a:r>
              <a:rPr lang="ru"/>
              <a:t>)</a:t>
            </a:r>
            <a:endParaRPr/>
          </a:p>
        </p:txBody>
      </p:sp>
      <p:pic>
        <p:nvPicPr>
          <p:cNvPr id="68" name="Google Shape;68;p15"/>
          <p:cNvPicPr preferRelativeResize="0"/>
          <p:nvPr/>
        </p:nvPicPr>
        <p:blipFill>
          <a:blip r:embed="rId4">
            <a:alphaModFix/>
          </a:blip>
          <a:stretch>
            <a:fillRect/>
          </a:stretch>
        </p:blipFill>
        <p:spPr>
          <a:xfrm>
            <a:off x="883150" y="3444875"/>
            <a:ext cx="2816651" cy="1361200"/>
          </a:xfrm>
          <a:prstGeom prst="rect">
            <a:avLst/>
          </a:prstGeom>
          <a:noFill/>
          <a:ln>
            <a:noFill/>
          </a:ln>
        </p:spPr>
      </p:pic>
      <p:pic>
        <p:nvPicPr>
          <p:cNvPr id="69" name="Google Shape;69;p15"/>
          <p:cNvPicPr preferRelativeResize="0"/>
          <p:nvPr/>
        </p:nvPicPr>
        <p:blipFill>
          <a:blip r:embed="rId5">
            <a:alphaModFix/>
          </a:blip>
          <a:stretch>
            <a:fillRect/>
          </a:stretch>
        </p:blipFill>
        <p:spPr>
          <a:xfrm>
            <a:off x="5433250" y="3723100"/>
            <a:ext cx="2816650" cy="804760"/>
          </a:xfrm>
          <a:prstGeom prst="rect">
            <a:avLst/>
          </a:prstGeom>
          <a:noFill/>
          <a:ln>
            <a:noFill/>
          </a:ln>
        </p:spPr>
      </p:pic>
      <p:pic>
        <p:nvPicPr>
          <p:cNvPr id="70" name="Google Shape;70;p15"/>
          <p:cNvPicPr preferRelativeResize="0"/>
          <p:nvPr/>
        </p:nvPicPr>
        <p:blipFill>
          <a:blip r:embed="rId6">
            <a:alphaModFix/>
          </a:blip>
          <a:stretch>
            <a:fillRect/>
          </a:stretch>
        </p:blipFill>
        <p:spPr>
          <a:xfrm>
            <a:off x="883148" y="594375"/>
            <a:ext cx="2816650" cy="2816650"/>
          </a:xfrm>
          <a:prstGeom prst="rect">
            <a:avLst/>
          </a:prstGeom>
          <a:noFill/>
          <a:ln>
            <a:noFill/>
          </a:ln>
        </p:spPr>
      </p:pic>
      <p:pic>
        <p:nvPicPr>
          <p:cNvPr id="71" name="Google Shape;71;p15"/>
          <p:cNvPicPr preferRelativeResize="0"/>
          <p:nvPr/>
        </p:nvPicPr>
        <p:blipFill>
          <a:blip r:embed="rId7">
            <a:alphaModFix/>
          </a:blip>
          <a:stretch>
            <a:fillRect/>
          </a:stretch>
        </p:blipFill>
        <p:spPr>
          <a:xfrm>
            <a:off x="5433252" y="594375"/>
            <a:ext cx="2816650" cy="2816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Конференции</a:t>
            </a:r>
            <a:endParaRPr/>
          </a:p>
        </p:txBody>
      </p:sp>
      <p:pic>
        <p:nvPicPr>
          <p:cNvPr id="77" name="Google Shape;77;p16"/>
          <p:cNvPicPr preferRelativeResize="0"/>
          <p:nvPr/>
        </p:nvPicPr>
        <p:blipFill>
          <a:blip r:embed="rId3">
            <a:alphaModFix/>
          </a:blip>
          <a:stretch>
            <a:fillRect/>
          </a:stretch>
        </p:blipFill>
        <p:spPr>
          <a:xfrm>
            <a:off x="6848375" y="789125"/>
            <a:ext cx="1983925" cy="1322299"/>
          </a:xfrm>
          <a:prstGeom prst="rect">
            <a:avLst/>
          </a:prstGeom>
          <a:noFill/>
          <a:ln>
            <a:noFill/>
          </a:ln>
        </p:spPr>
      </p:pic>
      <p:sp>
        <p:nvSpPr>
          <p:cNvPr id="78" name="Google Shape;78;p16"/>
          <p:cNvSpPr txBox="1"/>
          <p:nvPr/>
        </p:nvSpPr>
        <p:spPr>
          <a:xfrm>
            <a:off x="311688" y="560525"/>
            <a:ext cx="4269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600" u="sng">
                <a:solidFill>
                  <a:schemeClr val="hlink"/>
                </a:solidFill>
                <a:hlinkClick r:id="rId4"/>
              </a:rPr>
              <a:t>https://www.youtube.com/c/krddevdays</a:t>
            </a:r>
            <a:endParaRPr sz="1600"/>
          </a:p>
        </p:txBody>
      </p:sp>
      <p:pic>
        <p:nvPicPr>
          <p:cNvPr id="79" name="Google Shape;79;p16"/>
          <p:cNvPicPr preferRelativeResize="0"/>
          <p:nvPr/>
        </p:nvPicPr>
        <p:blipFill>
          <a:blip r:embed="rId5">
            <a:alphaModFix/>
          </a:blip>
          <a:stretch>
            <a:fillRect/>
          </a:stretch>
        </p:blipFill>
        <p:spPr>
          <a:xfrm>
            <a:off x="5362174" y="2321624"/>
            <a:ext cx="3610177" cy="2406784"/>
          </a:xfrm>
          <a:prstGeom prst="rect">
            <a:avLst/>
          </a:prstGeom>
          <a:noFill/>
          <a:ln>
            <a:noFill/>
          </a:ln>
        </p:spPr>
      </p:pic>
      <p:pic>
        <p:nvPicPr>
          <p:cNvPr id="80" name="Google Shape;80;p16"/>
          <p:cNvPicPr preferRelativeResize="0"/>
          <p:nvPr/>
        </p:nvPicPr>
        <p:blipFill>
          <a:blip r:embed="rId6">
            <a:alphaModFix/>
          </a:blip>
          <a:stretch>
            <a:fillRect/>
          </a:stretch>
        </p:blipFill>
        <p:spPr>
          <a:xfrm>
            <a:off x="152400" y="1693800"/>
            <a:ext cx="4958049" cy="3297300"/>
          </a:xfrm>
          <a:prstGeom prst="rect">
            <a:avLst/>
          </a:prstGeom>
          <a:noFill/>
          <a:ln>
            <a:noFill/>
          </a:ln>
        </p:spPr>
      </p:pic>
      <p:pic>
        <p:nvPicPr>
          <p:cNvPr id="81" name="Google Shape;81;p16"/>
          <p:cNvPicPr preferRelativeResize="0"/>
          <p:nvPr/>
        </p:nvPicPr>
        <p:blipFill>
          <a:blip r:embed="rId7">
            <a:alphaModFix/>
          </a:blip>
          <a:stretch>
            <a:fillRect/>
          </a:stretch>
        </p:blipFill>
        <p:spPr>
          <a:xfrm>
            <a:off x="4326400" y="441456"/>
            <a:ext cx="2358225" cy="157214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Тусовки</a:t>
            </a:r>
            <a:endParaRPr/>
          </a:p>
        </p:txBody>
      </p:sp>
      <p:pic>
        <p:nvPicPr>
          <p:cNvPr id="87" name="Google Shape;87;p17"/>
          <p:cNvPicPr preferRelativeResize="0"/>
          <p:nvPr/>
        </p:nvPicPr>
        <p:blipFill>
          <a:blip r:embed="rId3">
            <a:alphaModFix/>
          </a:blip>
          <a:stretch>
            <a:fillRect/>
          </a:stretch>
        </p:blipFill>
        <p:spPr>
          <a:xfrm>
            <a:off x="203675" y="789126"/>
            <a:ext cx="2292275" cy="2524175"/>
          </a:xfrm>
          <a:prstGeom prst="rect">
            <a:avLst/>
          </a:prstGeom>
          <a:noFill/>
          <a:ln>
            <a:noFill/>
          </a:ln>
        </p:spPr>
      </p:pic>
      <p:pic>
        <p:nvPicPr>
          <p:cNvPr id="88" name="Google Shape;88;p17"/>
          <p:cNvPicPr preferRelativeResize="0"/>
          <p:nvPr/>
        </p:nvPicPr>
        <p:blipFill>
          <a:blip r:embed="rId4">
            <a:alphaModFix/>
          </a:blip>
          <a:stretch>
            <a:fillRect/>
          </a:stretch>
        </p:blipFill>
        <p:spPr>
          <a:xfrm>
            <a:off x="1787725" y="2435250"/>
            <a:ext cx="3227299" cy="2420474"/>
          </a:xfrm>
          <a:prstGeom prst="rect">
            <a:avLst/>
          </a:prstGeom>
          <a:noFill/>
          <a:ln>
            <a:noFill/>
          </a:ln>
        </p:spPr>
      </p:pic>
      <p:pic>
        <p:nvPicPr>
          <p:cNvPr id="89" name="Google Shape;89;p17"/>
          <p:cNvPicPr preferRelativeResize="0"/>
          <p:nvPr/>
        </p:nvPicPr>
        <p:blipFill>
          <a:blip r:embed="rId5">
            <a:alphaModFix/>
          </a:blip>
          <a:stretch>
            <a:fillRect/>
          </a:stretch>
        </p:blipFill>
        <p:spPr>
          <a:xfrm>
            <a:off x="4526825" y="539876"/>
            <a:ext cx="3062426" cy="2296800"/>
          </a:xfrm>
          <a:prstGeom prst="rect">
            <a:avLst/>
          </a:prstGeom>
          <a:noFill/>
          <a:ln>
            <a:noFill/>
          </a:ln>
        </p:spPr>
      </p:pic>
      <p:sp>
        <p:nvSpPr>
          <p:cNvPr id="90" name="Google Shape;90;p17"/>
          <p:cNvSpPr txBox="1"/>
          <p:nvPr/>
        </p:nvSpPr>
        <p:spPr>
          <a:xfrm>
            <a:off x="365575" y="3559075"/>
            <a:ext cx="1362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800">
                <a:solidFill>
                  <a:schemeClr val="dk2"/>
                </a:solidFill>
              </a:rPr>
              <a:t>Skoll Pub</a:t>
            </a:r>
            <a:endParaRPr sz="1800">
              <a:solidFill>
                <a:schemeClr val="dk2"/>
              </a:solidFill>
            </a:endParaRPr>
          </a:p>
        </p:txBody>
      </p:sp>
      <p:sp>
        <p:nvSpPr>
          <p:cNvPr id="91" name="Google Shape;91;p17"/>
          <p:cNvSpPr txBox="1"/>
          <p:nvPr/>
        </p:nvSpPr>
        <p:spPr>
          <a:xfrm>
            <a:off x="5912275" y="4518025"/>
            <a:ext cx="1558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800">
                <a:solidFill>
                  <a:schemeClr val="dk2"/>
                </a:solidFill>
              </a:rPr>
              <a:t>Диалог</a:t>
            </a:r>
            <a:endParaRPr sz="1800">
              <a:solidFill>
                <a:schemeClr val="dk2"/>
              </a:solidFill>
            </a:endParaRPr>
          </a:p>
        </p:txBody>
      </p:sp>
      <p:pic>
        <p:nvPicPr>
          <p:cNvPr id="92" name="Google Shape;92;p17" title="Screenshot from 2025-09-02 18-51-03.png"/>
          <p:cNvPicPr preferRelativeResize="0"/>
          <p:nvPr/>
        </p:nvPicPr>
        <p:blipFill>
          <a:blip r:embed="rId6">
            <a:alphaModFix/>
          </a:blip>
          <a:stretch>
            <a:fillRect/>
          </a:stretch>
        </p:blipFill>
        <p:spPr>
          <a:xfrm>
            <a:off x="5075179" y="2221225"/>
            <a:ext cx="2559722" cy="2296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ru"/>
              <a:t>Контакты</a:t>
            </a:r>
            <a:endParaRPr/>
          </a:p>
        </p:txBody>
      </p:sp>
      <p:sp>
        <p:nvSpPr>
          <p:cNvPr id="98" name="Google Shape;98;p18"/>
          <p:cNvSpPr txBox="1"/>
          <p:nvPr>
            <p:ph idx="1" type="body"/>
          </p:nvPr>
        </p:nvSpPr>
        <p:spPr>
          <a:xfrm>
            <a:off x="311700" y="1152475"/>
            <a:ext cx="8520600" cy="3094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p>
            <a:pPr indent="-381000" lvl="0" marL="457200" rtl="0" algn="l">
              <a:spcBef>
                <a:spcPts val="0"/>
              </a:spcBef>
              <a:spcAft>
                <a:spcPts val="0"/>
              </a:spcAft>
              <a:buClr>
                <a:schemeClr val="dk1"/>
              </a:buClr>
              <a:buSzPts val="2400"/>
              <a:buChar char="●"/>
            </a:pPr>
            <a:r>
              <a:rPr lang="ru" sz="2400">
                <a:solidFill>
                  <a:schemeClr val="dk1"/>
                </a:solidFill>
              </a:rPr>
              <a:t>telegram - @TyVik</a:t>
            </a:r>
            <a:endParaRPr sz="2400">
              <a:solidFill>
                <a:schemeClr val="dk1"/>
              </a:solidFill>
            </a:endParaRPr>
          </a:p>
          <a:p>
            <a:pPr indent="-381000" lvl="0" marL="457200" rtl="0" algn="l">
              <a:spcBef>
                <a:spcPts val="0"/>
              </a:spcBef>
              <a:spcAft>
                <a:spcPts val="0"/>
              </a:spcAft>
              <a:buClr>
                <a:schemeClr val="dk1"/>
              </a:buClr>
              <a:buSzPts val="2400"/>
              <a:buChar char="●"/>
            </a:pPr>
            <a:r>
              <a:rPr lang="ru" sz="2400">
                <a:solidFill>
                  <a:schemeClr val="dk1"/>
                </a:solidFill>
              </a:rPr>
              <a:t>telegram-канал - @tyvik_life</a:t>
            </a:r>
            <a:endParaRPr sz="2400">
              <a:solidFill>
                <a:schemeClr val="dk1"/>
              </a:solidFill>
            </a:endParaRPr>
          </a:p>
          <a:p>
            <a:pPr indent="-381000" lvl="0" marL="457200" rtl="0" algn="l">
              <a:spcBef>
                <a:spcPts val="0"/>
              </a:spcBef>
              <a:spcAft>
                <a:spcPts val="0"/>
              </a:spcAft>
              <a:buClr>
                <a:schemeClr val="dk1"/>
              </a:buClr>
              <a:buSzPts val="2400"/>
              <a:buChar char="●"/>
            </a:pPr>
            <a:r>
              <a:rPr lang="ru" sz="2400">
                <a:solidFill>
                  <a:schemeClr val="dk1"/>
                </a:solidFill>
              </a:rPr>
              <a:t>почта - kubsu@tyvik.ru</a:t>
            </a:r>
            <a:endParaRPr sz="2400">
              <a:solidFill>
                <a:schemeClr val="dk1"/>
              </a:solidFill>
            </a:endParaRPr>
          </a:p>
          <a:p>
            <a:pPr indent="-381000" lvl="0" marL="457200" rtl="0" algn="l">
              <a:spcBef>
                <a:spcPts val="0"/>
              </a:spcBef>
              <a:spcAft>
                <a:spcPts val="0"/>
              </a:spcAft>
              <a:buClr>
                <a:schemeClr val="dk1"/>
              </a:buClr>
              <a:buSzPts val="2400"/>
              <a:buChar char="●"/>
            </a:pPr>
            <a:r>
              <a:rPr lang="ru" sz="2400">
                <a:solidFill>
                  <a:schemeClr val="dk1"/>
                </a:solidFill>
              </a:rPr>
              <a:t>vk - </a:t>
            </a:r>
            <a:r>
              <a:rPr lang="ru" sz="2400" u="sng">
                <a:solidFill>
                  <a:schemeClr val="hlink"/>
                </a:solidFill>
                <a:hlinkClick r:id="rId3"/>
              </a:rPr>
              <a:t>https://vk.com/tyvik</a:t>
            </a:r>
            <a:endParaRPr sz="2400">
              <a:solidFill>
                <a:schemeClr val="dk1"/>
              </a:solidFill>
            </a:endParaRPr>
          </a:p>
          <a:p>
            <a:pPr indent="-381000" lvl="0" marL="457200" rtl="0" algn="l">
              <a:spcBef>
                <a:spcPts val="0"/>
              </a:spcBef>
              <a:spcAft>
                <a:spcPts val="0"/>
              </a:spcAft>
              <a:buClr>
                <a:schemeClr val="dk1"/>
              </a:buClr>
              <a:buSzPts val="2400"/>
              <a:buChar char="●"/>
            </a:pPr>
            <a:r>
              <a:rPr lang="ru" sz="2400">
                <a:solidFill>
                  <a:schemeClr val="dk1"/>
                </a:solidFill>
              </a:rPr>
              <a:t>блог - </a:t>
            </a:r>
            <a:r>
              <a:rPr lang="ru" sz="2400" u="sng">
                <a:solidFill>
                  <a:schemeClr val="hlink"/>
                </a:solidFill>
                <a:hlinkClick r:id="rId4"/>
              </a:rPr>
              <a:t>https://tyvik.ru</a:t>
            </a:r>
            <a:endParaRPr sz="2400">
              <a:solidFill>
                <a:schemeClr val="dk1"/>
              </a:solidFill>
            </a:endParaRPr>
          </a:p>
          <a:p>
            <a:pPr indent="-381000" lvl="0" marL="457200" rtl="0" algn="l">
              <a:spcBef>
                <a:spcPts val="0"/>
              </a:spcBef>
              <a:spcAft>
                <a:spcPts val="0"/>
              </a:spcAft>
              <a:buClr>
                <a:schemeClr val="dk1"/>
              </a:buClr>
              <a:buSzPts val="2400"/>
              <a:buChar char="●"/>
            </a:pPr>
            <a:r>
              <a:rPr lang="ru" sz="2400">
                <a:solidFill>
                  <a:schemeClr val="dk1"/>
                </a:solidFill>
              </a:rPr>
              <a:t>github - </a:t>
            </a:r>
            <a:r>
              <a:rPr lang="ru" sz="2400" u="sng">
                <a:solidFill>
                  <a:schemeClr val="hlink"/>
                </a:solidFill>
                <a:hlinkClick r:id="rId5"/>
              </a:rPr>
              <a:t>https://github.com/TyVik</a:t>
            </a:r>
            <a:endParaRPr sz="24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Материал</a:t>
            </a:r>
            <a:endParaRPr/>
          </a:p>
        </p:txBody>
      </p:sp>
      <p:pic>
        <p:nvPicPr>
          <p:cNvPr id="104" name="Google Shape;104;p19"/>
          <p:cNvPicPr preferRelativeResize="0"/>
          <p:nvPr/>
        </p:nvPicPr>
        <p:blipFill>
          <a:blip r:embed="rId3">
            <a:alphaModFix/>
          </a:blip>
          <a:stretch>
            <a:fillRect/>
          </a:stretch>
        </p:blipFill>
        <p:spPr>
          <a:xfrm>
            <a:off x="1639825" y="560525"/>
            <a:ext cx="5864351" cy="439825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Материал</a:t>
            </a:r>
            <a:endParaRPr/>
          </a:p>
        </p:txBody>
      </p:sp>
      <p:sp>
        <p:nvSpPr>
          <p:cNvPr id="110" name="Google Shape;110;p20"/>
          <p:cNvSpPr txBox="1"/>
          <p:nvPr/>
        </p:nvSpPr>
        <p:spPr>
          <a:xfrm>
            <a:off x="311700" y="560525"/>
            <a:ext cx="4735500" cy="43713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rgbClr val="38761D"/>
              </a:buClr>
              <a:buSzPts val="1600"/>
              <a:buAutoNum type="arabicPeriod"/>
            </a:pPr>
            <a:r>
              <a:rPr lang="ru" sz="1600">
                <a:solidFill>
                  <a:srgbClr val="38761D"/>
                </a:solidFill>
              </a:rPr>
              <a:t>История и основные концепции linux</a:t>
            </a:r>
            <a:endParaRPr sz="1600">
              <a:solidFill>
                <a:srgbClr val="38761D"/>
              </a:solidFill>
            </a:endParaRPr>
          </a:p>
          <a:p>
            <a:pPr indent="-330200" lvl="0" marL="457200" rtl="0" algn="l">
              <a:spcBef>
                <a:spcPts val="0"/>
              </a:spcBef>
              <a:spcAft>
                <a:spcPts val="0"/>
              </a:spcAft>
              <a:buClr>
                <a:srgbClr val="38761D"/>
              </a:buClr>
              <a:buSzPts val="1600"/>
              <a:buAutoNum type="arabicPeriod"/>
            </a:pPr>
            <a:r>
              <a:rPr lang="ru" sz="1600">
                <a:solidFill>
                  <a:srgbClr val="38761D"/>
                </a:solidFill>
              </a:rPr>
              <a:t>Терминал</a:t>
            </a:r>
            <a:endParaRPr sz="1600">
              <a:solidFill>
                <a:srgbClr val="38761D"/>
              </a:solidFill>
            </a:endParaRPr>
          </a:p>
          <a:p>
            <a:pPr indent="-330200" lvl="0" marL="457200" rtl="0" algn="l">
              <a:spcBef>
                <a:spcPts val="0"/>
              </a:spcBef>
              <a:spcAft>
                <a:spcPts val="0"/>
              </a:spcAft>
              <a:buClr>
                <a:srgbClr val="38761D"/>
              </a:buClr>
              <a:buSzPts val="1600"/>
              <a:buAutoNum type="arabicPeriod"/>
            </a:pPr>
            <a:r>
              <a:rPr lang="ru" sz="1600">
                <a:solidFill>
                  <a:srgbClr val="38761D"/>
                </a:solidFill>
              </a:rPr>
              <a:t>bash/утилиты</a:t>
            </a:r>
            <a:endParaRPr sz="1600">
              <a:solidFill>
                <a:srgbClr val="38761D"/>
              </a:solidFill>
            </a:endParaRPr>
          </a:p>
          <a:p>
            <a:pPr indent="-330200" lvl="0" marL="457200" rtl="0" algn="l">
              <a:spcBef>
                <a:spcPts val="0"/>
              </a:spcBef>
              <a:spcAft>
                <a:spcPts val="0"/>
              </a:spcAft>
              <a:buClr>
                <a:srgbClr val="38761D"/>
              </a:buClr>
              <a:buSzPts val="1600"/>
              <a:buAutoNum type="arabicPeriod"/>
            </a:pPr>
            <a:r>
              <a:rPr lang="ru" sz="1600">
                <a:solidFill>
                  <a:srgbClr val="38761D"/>
                </a:solidFill>
              </a:rPr>
              <a:t>Пользователи и система прав</a:t>
            </a:r>
            <a:endParaRPr sz="1600">
              <a:solidFill>
                <a:srgbClr val="38761D"/>
              </a:solidFill>
            </a:endParaRPr>
          </a:p>
          <a:p>
            <a:pPr indent="-330200" lvl="0" marL="457200" rtl="0" algn="l">
              <a:spcBef>
                <a:spcPts val="0"/>
              </a:spcBef>
              <a:spcAft>
                <a:spcPts val="0"/>
              </a:spcAft>
              <a:buClr>
                <a:srgbClr val="38761D"/>
              </a:buClr>
              <a:buSzPts val="1600"/>
              <a:buAutoNum type="arabicPeriod"/>
            </a:pPr>
            <a:r>
              <a:rPr lang="ru" sz="1600">
                <a:solidFill>
                  <a:srgbClr val="38761D"/>
                </a:solidFill>
              </a:rPr>
              <a:t>Файловая система</a:t>
            </a:r>
            <a:endParaRPr sz="1600">
              <a:solidFill>
                <a:srgbClr val="38761D"/>
              </a:solidFill>
            </a:endParaRPr>
          </a:p>
          <a:p>
            <a:pPr indent="-330200" lvl="0" marL="457200" rtl="0" algn="l">
              <a:spcBef>
                <a:spcPts val="0"/>
              </a:spcBef>
              <a:spcAft>
                <a:spcPts val="0"/>
              </a:spcAft>
              <a:buClr>
                <a:srgbClr val="38761D"/>
              </a:buClr>
              <a:buSzPts val="1600"/>
              <a:buAutoNum type="arabicPeriod"/>
            </a:pPr>
            <a:r>
              <a:rPr lang="ru" sz="1600">
                <a:solidFill>
                  <a:srgbClr val="38761D"/>
                </a:solidFill>
              </a:rPr>
              <a:t>Настройка сервисов</a:t>
            </a:r>
            <a:endParaRPr sz="1600">
              <a:solidFill>
                <a:srgbClr val="38761D"/>
              </a:solidFill>
            </a:endParaRPr>
          </a:p>
          <a:p>
            <a:pPr indent="-330200" lvl="0" marL="457200" rtl="0" algn="l">
              <a:spcBef>
                <a:spcPts val="0"/>
              </a:spcBef>
              <a:spcAft>
                <a:spcPts val="0"/>
              </a:spcAft>
              <a:buClr>
                <a:srgbClr val="990000"/>
              </a:buClr>
              <a:buSzPts val="1600"/>
              <a:buAutoNum type="arabicPeriod"/>
            </a:pPr>
            <a:r>
              <a:rPr lang="ru" sz="1600">
                <a:solidFill>
                  <a:srgbClr val="990000"/>
                </a:solidFill>
              </a:rPr>
              <a:t>Сеть</a:t>
            </a:r>
            <a:endParaRPr sz="1600">
              <a:solidFill>
                <a:srgbClr val="990000"/>
              </a:solidFill>
            </a:endParaRPr>
          </a:p>
          <a:p>
            <a:pPr indent="-330200" lvl="0" marL="457200" rtl="0" algn="l">
              <a:spcBef>
                <a:spcPts val="0"/>
              </a:spcBef>
              <a:spcAft>
                <a:spcPts val="0"/>
              </a:spcAft>
              <a:buClr>
                <a:srgbClr val="990000"/>
              </a:buClr>
              <a:buSzPts val="1600"/>
              <a:buAutoNum type="arabicPeriod"/>
            </a:pPr>
            <a:r>
              <a:rPr lang="ru" sz="1600">
                <a:solidFill>
                  <a:srgbClr val="990000"/>
                </a:solidFill>
              </a:rPr>
              <a:t>Процессы</a:t>
            </a:r>
            <a:endParaRPr sz="1600">
              <a:solidFill>
                <a:srgbClr val="990000"/>
              </a:solidFill>
            </a:endParaRPr>
          </a:p>
          <a:p>
            <a:pPr indent="-330200" lvl="0" marL="457200" rtl="0" algn="l">
              <a:spcBef>
                <a:spcPts val="0"/>
              </a:spcBef>
              <a:spcAft>
                <a:spcPts val="0"/>
              </a:spcAft>
              <a:buClr>
                <a:srgbClr val="990000"/>
              </a:buClr>
              <a:buSzPts val="1600"/>
              <a:buAutoNum type="arabicPeriod"/>
            </a:pPr>
            <a:r>
              <a:rPr lang="ru" sz="1600">
                <a:solidFill>
                  <a:srgbClr val="990000"/>
                </a:solidFill>
              </a:rPr>
              <a:t>Загрузка</a:t>
            </a:r>
            <a:endParaRPr sz="1600">
              <a:solidFill>
                <a:srgbClr val="990000"/>
              </a:solidFill>
            </a:endParaRPr>
          </a:p>
          <a:p>
            <a:pPr indent="-330200" lvl="0" marL="457200" rtl="0" algn="l">
              <a:spcBef>
                <a:spcPts val="0"/>
              </a:spcBef>
              <a:spcAft>
                <a:spcPts val="0"/>
              </a:spcAft>
              <a:buClr>
                <a:srgbClr val="990000"/>
              </a:buClr>
              <a:buSzPts val="1600"/>
              <a:buAutoNum type="arabicPeriod"/>
            </a:pPr>
            <a:r>
              <a:rPr lang="ru" sz="1600">
                <a:solidFill>
                  <a:srgbClr val="990000"/>
                </a:solidFill>
              </a:rPr>
              <a:t>Установка программ</a:t>
            </a:r>
            <a:endParaRPr sz="1600">
              <a:solidFill>
                <a:srgbClr val="990000"/>
              </a:solidFill>
            </a:endParaRPr>
          </a:p>
          <a:p>
            <a:pPr indent="-330200" lvl="0" marL="457200" rtl="0" algn="l">
              <a:spcBef>
                <a:spcPts val="0"/>
              </a:spcBef>
              <a:spcAft>
                <a:spcPts val="0"/>
              </a:spcAft>
              <a:buClr>
                <a:srgbClr val="990000"/>
              </a:buClr>
              <a:buSzPts val="1600"/>
              <a:buAutoNum type="arabicPeriod"/>
            </a:pPr>
            <a:r>
              <a:rPr lang="ru" sz="1600">
                <a:solidFill>
                  <a:srgbClr val="990000"/>
                </a:solidFill>
              </a:rPr>
              <a:t>Магия ssh</a:t>
            </a:r>
            <a:endParaRPr sz="1600">
              <a:solidFill>
                <a:srgbClr val="990000"/>
              </a:solidFill>
            </a:endParaRPr>
          </a:p>
          <a:p>
            <a:pPr indent="-330200" lvl="0" marL="457200" rtl="0" algn="l">
              <a:spcBef>
                <a:spcPts val="0"/>
              </a:spcBef>
              <a:spcAft>
                <a:spcPts val="0"/>
              </a:spcAft>
              <a:buClr>
                <a:srgbClr val="1155CC"/>
              </a:buClr>
              <a:buSzPts val="1600"/>
              <a:buAutoNum type="arabicPeriod"/>
            </a:pPr>
            <a:r>
              <a:rPr lang="ru" sz="1600">
                <a:solidFill>
                  <a:srgbClr val="1155CC"/>
                </a:solidFill>
              </a:rPr>
              <a:t>Виртуализация</a:t>
            </a:r>
            <a:endParaRPr sz="1600">
              <a:solidFill>
                <a:srgbClr val="1155CC"/>
              </a:solidFill>
            </a:endParaRPr>
          </a:p>
          <a:p>
            <a:pPr indent="-330200" lvl="0" marL="457200" rtl="0" algn="l">
              <a:spcBef>
                <a:spcPts val="0"/>
              </a:spcBef>
              <a:spcAft>
                <a:spcPts val="0"/>
              </a:spcAft>
              <a:buClr>
                <a:srgbClr val="1155CC"/>
              </a:buClr>
              <a:buSzPts val="1600"/>
              <a:buAutoNum type="arabicPeriod"/>
            </a:pPr>
            <a:r>
              <a:rPr lang="ru" sz="1600">
                <a:solidFill>
                  <a:srgbClr val="1155CC"/>
                </a:solidFill>
              </a:rPr>
              <a:t>Docker</a:t>
            </a:r>
            <a:endParaRPr sz="1600">
              <a:solidFill>
                <a:srgbClr val="1155CC"/>
              </a:solidFill>
            </a:endParaRPr>
          </a:p>
          <a:p>
            <a:pPr indent="-330200" lvl="0" marL="457200" rtl="0" algn="l">
              <a:spcBef>
                <a:spcPts val="0"/>
              </a:spcBef>
              <a:spcAft>
                <a:spcPts val="0"/>
              </a:spcAft>
              <a:buClr>
                <a:srgbClr val="1155CC"/>
              </a:buClr>
              <a:buSzPts val="1600"/>
              <a:buAutoNum type="arabicPeriod"/>
            </a:pPr>
            <a:r>
              <a:rPr lang="ru" sz="1600">
                <a:solidFill>
                  <a:srgbClr val="1155CC"/>
                </a:solidFill>
              </a:rPr>
              <a:t>Docker-compose</a:t>
            </a:r>
            <a:endParaRPr sz="1600">
              <a:solidFill>
                <a:srgbClr val="1155CC"/>
              </a:solidFill>
            </a:endParaRPr>
          </a:p>
          <a:p>
            <a:pPr indent="-330200" lvl="0" marL="457200" rtl="0" algn="l">
              <a:spcBef>
                <a:spcPts val="0"/>
              </a:spcBef>
              <a:spcAft>
                <a:spcPts val="0"/>
              </a:spcAft>
              <a:buClr>
                <a:srgbClr val="BF9000"/>
              </a:buClr>
              <a:buSzPts val="1600"/>
              <a:buAutoNum type="arabicPeriod"/>
            </a:pPr>
            <a:r>
              <a:rPr lang="ru" sz="1600">
                <a:solidFill>
                  <a:srgbClr val="BF9000"/>
                </a:solidFill>
              </a:rPr>
              <a:t>CI/CD</a:t>
            </a:r>
            <a:endParaRPr sz="1600">
              <a:solidFill>
                <a:srgbClr val="BF9000"/>
              </a:solidFill>
            </a:endParaRPr>
          </a:p>
          <a:p>
            <a:pPr indent="-330200" lvl="0" marL="457200" rtl="0" algn="l">
              <a:spcBef>
                <a:spcPts val="0"/>
              </a:spcBef>
              <a:spcAft>
                <a:spcPts val="0"/>
              </a:spcAft>
              <a:buClr>
                <a:srgbClr val="BF9000"/>
              </a:buClr>
              <a:buSzPts val="1600"/>
              <a:buAutoNum type="arabicPeriod"/>
            </a:pPr>
            <a:r>
              <a:rPr lang="ru" sz="1600">
                <a:solidFill>
                  <a:srgbClr val="BF9000"/>
                </a:solidFill>
              </a:rPr>
              <a:t>Основы Kubernetes</a:t>
            </a:r>
            <a:endParaRPr sz="1600">
              <a:solidFill>
                <a:srgbClr val="BF9000"/>
              </a:solidFill>
            </a:endParaRPr>
          </a:p>
          <a:p>
            <a:pPr indent="-330200" lvl="0" marL="457200" rtl="0" algn="l">
              <a:spcBef>
                <a:spcPts val="0"/>
              </a:spcBef>
              <a:spcAft>
                <a:spcPts val="0"/>
              </a:spcAft>
              <a:buClr>
                <a:srgbClr val="BF9000"/>
              </a:buClr>
              <a:buSzPts val="1600"/>
              <a:buAutoNum type="arabicPeriod"/>
            </a:pPr>
            <a:r>
              <a:rPr lang="ru" sz="1600">
                <a:solidFill>
                  <a:srgbClr val="BF9000"/>
                </a:solidFill>
              </a:rPr>
              <a:t>Облачные провайдеры</a:t>
            </a:r>
            <a:endParaRPr sz="1600">
              <a:solidFill>
                <a:srgbClr val="BF9000"/>
              </a:solidFill>
            </a:endParaRPr>
          </a:p>
        </p:txBody>
      </p:sp>
      <p:sp>
        <p:nvSpPr>
          <p:cNvPr id="111" name="Google Shape;111;p20"/>
          <p:cNvSpPr txBox="1"/>
          <p:nvPr/>
        </p:nvSpPr>
        <p:spPr>
          <a:xfrm>
            <a:off x="5514075" y="3695700"/>
            <a:ext cx="3318300" cy="1169700"/>
          </a:xfrm>
          <a:prstGeom prst="rect">
            <a:avLst/>
          </a:prstGeom>
          <a:noFill/>
          <a:ln>
            <a:noFill/>
          </a:ln>
        </p:spPr>
        <p:txBody>
          <a:bodyPr anchorCtr="0" anchor="t" bIns="91425" lIns="91425" spcFirstLastPara="1" rIns="91425" wrap="square" tIns="91425">
            <a:spAutoFit/>
          </a:bodyPr>
          <a:lstStyle/>
          <a:p>
            <a:pPr indent="-330200" lvl="0" marL="457200" rtl="0" algn="l">
              <a:spcBef>
                <a:spcPts val="0"/>
              </a:spcBef>
              <a:spcAft>
                <a:spcPts val="0"/>
              </a:spcAft>
              <a:buClr>
                <a:srgbClr val="38761D"/>
              </a:buClr>
              <a:buSzPts val="1600"/>
              <a:buChar char="●"/>
            </a:pPr>
            <a:r>
              <a:rPr lang="ru" sz="1600">
                <a:solidFill>
                  <a:srgbClr val="38761D"/>
                </a:solidFill>
              </a:rPr>
              <a:t>basic</a:t>
            </a:r>
            <a:endParaRPr sz="1600">
              <a:solidFill>
                <a:srgbClr val="38761D"/>
              </a:solidFill>
            </a:endParaRPr>
          </a:p>
          <a:p>
            <a:pPr indent="-330200" lvl="0" marL="457200" rtl="0" algn="l">
              <a:spcBef>
                <a:spcPts val="0"/>
              </a:spcBef>
              <a:spcAft>
                <a:spcPts val="0"/>
              </a:spcAft>
              <a:buClr>
                <a:srgbClr val="0B5394"/>
              </a:buClr>
              <a:buSzPts val="1600"/>
              <a:buChar char="●"/>
            </a:pPr>
            <a:r>
              <a:rPr lang="ru" sz="1600">
                <a:solidFill>
                  <a:srgbClr val="0B5394"/>
                </a:solidFill>
              </a:rPr>
              <a:t>Docker</a:t>
            </a:r>
            <a:endParaRPr sz="1600">
              <a:solidFill>
                <a:srgbClr val="0B5394"/>
              </a:solidFill>
            </a:endParaRPr>
          </a:p>
          <a:p>
            <a:pPr indent="-330200" lvl="0" marL="457200" rtl="0" algn="l">
              <a:spcBef>
                <a:spcPts val="0"/>
              </a:spcBef>
              <a:spcAft>
                <a:spcPts val="0"/>
              </a:spcAft>
              <a:buClr>
                <a:srgbClr val="990000"/>
              </a:buClr>
              <a:buSzPts val="1600"/>
              <a:buChar char="●"/>
            </a:pPr>
            <a:r>
              <a:rPr lang="ru" sz="1600">
                <a:solidFill>
                  <a:srgbClr val="990000"/>
                </a:solidFill>
              </a:rPr>
              <a:t>advanced</a:t>
            </a:r>
            <a:endParaRPr sz="1600">
              <a:solidFill>
                <a:srgbClr val="990000"/>
              </a:solidFill>
            </a:endParaRPr>
          </a:p>
          <a:p>
            <a:pPr indent="-330200" lvl="0" marL="457200" rtl="0" algn="l">
              <a:spcBef>
                <a:spcPts val="0"/>
              </a:spcBef>
              <a:spcAft>
                <a:spcPts val="0"/>
              </a:spcAft>
              <a:buClr>
                <a:srgbClr val="BF9000"/>
              </a:buClr>
              <a:buSzPts val="1600"/>
              <a:buChar char="●"/>
            </a:pPr>
            <a:r>
              <a:rPr lang="ru" sz="1600">
                <a:solidFill>
                  <a:srgbClr val="BF9000"/>
                </a:solidFill>
              </a:rPr>
              <a:t>optional</a:t>
            </a:r>
            <a:endParaRPr sz="1600">
              <a:solidFill>
                <a:srgbClr val="BF9000"/>
              </a:solidFill>
            </a:endParaRPr>
          </a:p>
        </p:txBody>
      </p:sp>
      <p:pic>
        <p:nvPicPr>
          <p:cNvPr id="112" name="Google Shape;112;p20"/>
          <p:cNvPicPr preferRelativeResize="0"/>
          <p:nvPr/>
        </p:nvPicPr>
        <p:blipFill>
          <a:blip r:embed="rId3">
            <a:alphaModFix/>
          </a:blip>
          <a:stretch>
            <a:fillRect/>
          </a:stretch>
        </p:blipFill>
        <p:spPr>
          <a:xfrm>
            <a:off x="5514075" y="789125"/>
            <a:ext cx="2906575" cy="2906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Зачёт</a:t>
            </a:r>
            <a:endParaRPr/>
          </a:p>
        </p:txBody>
      </p:sp>
      <p:sp>
        <p:nvSpPr>
          <p:cNvPr id="118" name="Google Shape;118;p21"/>
          <p:cNvSpPr txBox="1"/>
          <p:nvPr/>
        </p:nvSpPr>
        <p:spPr>
          <a:xfrm>
            <a:off x="311700" y="789125"/>
            <a:ext cx="84180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2000"/>
              <a:t>Сервер </a:t>
            </a:r>
            <a:r>
              <a:rPr lang="ru" sz="2000"/>
              <a:t>212.192.134.135</a:t>
            </a:r>
            <a:r>
              <a:rPr lang="ru" sz="2000"/>
              <a:t>:</a:t>
            </a:r>
            <a:endParaRPr sz="2000"/>
          </a:p>
          <a:p>
            <a:pPr indent="-355600" lvl="0" marL="457200" rtl="0" algn="l">
              <a:spcBef>
                <a:spcPts val="0"/>
              </a:spcBef>
              <a:spcAft>
                <a:spcPts val="0"/>
              </a:spcAft>
              <a:buSzPts val="2000"/>
              <a:buChar char="●"/>
            </a:pPr>
            <a:r>
              <a:rPr lang="ru" sz="2000"/>
              <a:t>подключить вход по ключу</a:t>
            </a:r>
            <a:endParaRPr sz="2000"/>
          </a:p>
          <a:p>
            <a:pPr indent="-355600" lvl="0" marL="457200" rtl="0" algn="l">
              <a:spcBef>
                <a:spcPts val="0"/>
              </a:spcBef>
              <a:spcAft>
                <a:spcPts val="0"/>
              </a:spcAft>
              <a:buSzPts val="2000"/>
              <a:buChar char="●"/>
            </a:pPr>
            <a:r>
              <a:rPr lang="ru" sz="2000"/>
              <a:t>найти каталог с заданиями</a:t>
            </a:r>
            <a:endParaRPr sz="2000"/>
          </a:p>
          <a:p>
            <a:pPr indent="-355600" lvl="0" marL="457200" rtl="0" algn="l">
              <a:spcBef>
                <a:spcPts val="0"/>
              </a:spcBef>
              <a:spcAft>
                <a:spcPts val="0"/>
              </a:spcAft>
              <a:buSzPts val="2000"/>
              <a:buChar char="●"/>
            </a:pPr>
            <a:r>
              <a:rPr lang="ru" sz="2000"/>
              <a:t>запушить репозиторий на github и заполнить форму сдачи</a:t>
            </a:r>
            <a:endParaRPr sz="2000"/>
          </a:p>
          <a:p>
            <a:pPr indent="-355600" lvl="0" marL="457200" rtl="0" algn="l">
              <a:spcBef>
                <a:spcPts val="0"/>
              </a:spcBef>
              <a:spcAft>
                <a:spcPts val="0"/>
              </a:spcAft>
              <a:buSzPts val="2000"/>
              <a:buChar char="●"/>
            </a:pPr>
            <a:r>
              <a:rPr lang="ru" sz="2000"/>
              <a:t>решить задачи в README.md</a:t>
            </a:r>
            <a:endParaRPr sz="2000"/>
          </a:p>
        </p:txBody>
      </p:sp>
      <p:sp>
        <p:nvSpPr>
          <p:cNvPr id="119" name="Google Shape;119;p21"/>
          <p:cNvSpPr txBox="1"/>
          <p:nvPr/>
        </p:nvSpPr>
        <p:spPr>
          <a:xfrm>
            <a:off x="311700" y="2811825"/>
            <a:ext cx="84180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2400"/>
              <a:t>Задачи:</a:t>
            </a:r>
            <a:endParaRPr sz="2400"/>
          </a:p>
          <a:p>
            <a:pPr indent="-381000" lvl="0" marL="457200" rtl="0" algn="l">
              <a:spcBef>
                <a:spcPts val="0"/>
              </a:spcBef>
              <a:spcAft>
                <a:spcPts val="0"/>
              </a:spcAft>
              <a:buSzPts val="2400"/>
              <a:buAutoNum type="arabicPeriod"/>
            </a:pPr>
            <a:r>
              <a:rPr lang="ru" sz="2400"/>
              <a:t>bash</a:t>
            </a:r>
            <a:endParaRPr sz="2400"/>
          </a:p>
          <a:p>
            <a:pPr indent="-381000" lvl="0" marL="457200" rtl="0" algn="l">
              <a:spcBef>
                <a:spcPts val="0"/>
              </a:spcBef>
              <a:spcAft>
                <a:spcPts val="0"/>
              </a:spcAft>
              <a:buSzPts val="2400"/>
              <a:buAutoNum type="arabicPeriod"/>
            </a:pPr>
            <a:r>
              <a:rPr lang="ru" sz="2400"/>
              <a:t>курс с hackthebox</a:t>
            </a:r>
            <a:endParaRPr sz="2400"/>
          </a:p>
          <a:p>
            <a:pPr indent="-381000" lvl="0" marL="457200" rtl="0" algn="l">
              <a:spcBef>
                <a:spcPts val="0"/>
              </a:spcBef>
              <a:spcAft>
                <a:spcPts val="0"/>
              </a:spcAft>
              <a:buSzPts val="2400"/>
              <a:buAutoNum type="arabicPeriod"/>
            </a:pPr>
            <a:r>
              <a:rPr lang="ru" sz="2400"/>
              <a:t>регулярки</a:t>
            </a:r>
            <a:endParaRPr sz="2400"/>
          </a:p>
          <a:p>
            <a:pPr indent="-381000" lvl="0" marL="457200" rtl="0" algn="l">
              <a:spcBef>
                <a:spcPts val="0"/>
              </a:spcBef>
              <a:spcAft>
                <a:spcPts val="0"/>
              </a:spcAft>
              <a:buSzPts val="2400"/>
              <a:buAutoNum type="arabicPeriod"/>
            </a:pPr>
            <a:r>
              <a:rPr lang="ru" sz="2400"/>
              <a:t>docker &amp;&amp; CI/CD</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Экзамен</a:t>
            </a:r>
            <a:endParaRPr/>
          </a:p>
        </p:txBody>
      </p:sp>
      <p:sp>
        <p:nvSpPr>
          <p:cNvPr id="125" name="Google Shape;125;p22"/>
          <p:cNvSpPr txBox="1"/>
          <p:nvPr>
            <p:ph idx="1" type="body"/>
          </p:nvPr>
        </p:nvSpPr>
        <p:spPr>
          <a:xfrm>
            <a:off x="311700" y="1152475"/>
            <a:ext cx="8520600" cy="1471200"/>
          </a:xfrm>
          <a:prstGeom prst="rect">
            <a:avLst/>
          </a:prstGeom>
        </p:spPr>
        <p:txBody>
          <a:bodyPr anchorCtr="0" anchor="t" bIns="91425" lIns="91425" spcFirstLastPara="1" rIns="91425" wrap="square" tIns="91425">
            <a:normAutofit lnSpcReduction="10000"/>
          </a:bodyPr>
          <a:lstStyle/>
          <a:p>
            <a:pPr indent="0" lvl="0" marL="0" rtl="0" algn="l">
              <a:lnSpc>
                <a:spcPct val="85000"/>
              </a:lnSpc>
              <a:spcBef>
                <a:spcPts val="0"/>
              </a:spcBef>
              <a:spcAft>
                <a:spcPts val="0"/>
              </a:spcAft>
              <a:buNone/>
            </a:pPr>
            <a:r>
              <a:rPr lang="ru">
                <a:solidFill>
                  <a:schemeClr val="dk1"/>
                </a:solidFill>
              </a:rPr>
              <a:t>Критерии оценки:</a:t>
            </a:r>
            <a:endParaRPr>
              <a:solidFill>
                <a:schemeClr val="dk1"/>
              </a:solidFill>
            </a:endParaRPr>
          </a:p>
          <a:p>
            <a:pPr indent="-342900" lvl="0" marL="457200" rtl="0" algn="l">
              <a:lnSpc>
                <a:spcPct val="85000"/>
              </a:lnSpc>
              <a:spcBef>
                <a:spcPts val="1200"/>
              </a:spcBef>
              <a:spcAft>
                <a:spcPts val="0"/>
              </a:spcAft>
              <a:buClr>
                <a:schemeClr val="dk1"/>
              </a:buClr>
              <a:buSzPts val="1800"/>
              <a:buChar char="●"/>
            </a:pPr>
            <a:r>
              <a:rPr b="1" lang="ru">
                <a:solidFill>
                  <a:schemeClr val="dk1"/>
                </a:solidFill>
              </a:rPr>
              <a:t>удовл</a:t>
            </a:r>
            <a:r>
              <a:rPr lang="ru">
                <a:solidFill>
                  <a:schemeClr val="dk1"/>
                </a:solidFill>
              </a:rPr>
              <a:t> - настраивать сервер (ходить по каталогам, редактировать файлы, уметь читать логи)</a:t>
            </a:r>
            <a:endParaRPr>
              <a:solidFill>
                <a:schemeClr val="dk1"/>
              </a:solidFill>
            </a:endParaRPr>
          </a:p>
          <a:p>
            <a:pPr indent="-342900" lvl="0" marL="457200" rtl="0" algn="l">
              <a:lnSpc>
                <a:spcPct val="85000"/>
              </a:lnSpc>
              <a:spcBef>
                <a:spcPts val="0"/>
              </a:spcBef>
              <a:spcAft>
                <a:spcPts val="0"/>
              </a:spcAft>
              <a:buClr>
                <a:schemeClr val="dk1"/>
              </a:buClr>
              <a:buSzPts val="1800"/>
              <a:buChar char="●"/>
            </a:pPr>
            <a:r>
              <a:rPr b="1" lang="ru">
                <a:solidFill>
                  <a:schemeClr val="dk1"/>
                </a:solidFill>
              </a:rPr>
              <a:t>хор</a:t>
            </a:r>
            <a:r>
              <a:rPr lang="ru">
                <a:solidFill>
                  <a:schemeClr val="dk1"/>
                </a:solidFill>
              </a:rPr>
              <a:t> - работать с Docker</a:t>
            </a:r>
            <a:endParaRPr>
              <a:solidFill>
                <a:schemeClr val="dk1"/>
              </a:solidFill>
            </a:endParaRPr>
          </a:p>
          <a:p>
            <a:pPr indent="-342900" lvl="0" marL="457200" rtl="0" algn="l">
              <a:lnSpc>
                <a:spcPct val="85000"/>
              </a:lnSpc>
              <a:spcBef>
                <a:spcPts val="0"/>
              </a:spcBef>
              <a:spcAft>
                <a:spcPts val="0"/>
              </a:spcAft>
              <a:buClr>
                <a:schemeClr val="dk1"/>
              </a:buClr>
              <a:buSzPts val="1800"/>
              <a:buChar char="●"/>
            </a:pPr>
            <a:r>
              <a:rPr b="1" lang="ru">
                <a:solidFill>
                  <a:schemeClr val="dk1"/>
                </a:solidFill>
              </a:rPr>
              <a:t>отл</a:t>
            </a:r>
            <a:r>
              <a:rPr lang="ru">
                <a:solidFill>
                  <a:schemeClr val="dk1"/>
                </a:solidFill>
              </a:rPr>
              <a:t> - понимать архитектуру Linux</a:t>
            </a:r>
            <a:endParaRPr>
              <a:solidFill>
                <a:schemeClr val="dk1"/>
              </a:solidFill>
            </a:endParaRPr>
          </a:p>
        </p:txBody>
      </p:sp>
      <p:sp>
        <p:nvSpPr>
          <p:cNvPr id="126" name="Google Shape;126;p22"/>
          <p:cNvSpPr txBox="1"/>
          <p:nvPr/>
        </p:nvSpPr>
        <p:spPr>
          <a:xfrm>
            <a:off x="311700" y="2987025"/>
            <a:ext cx="60684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800"/>
              <a:t>Вопросы в билете:</a:t>
            </a:r>
            <a:endParaRPr sz="1800"/>
          </a:p>
          <a:p>
            <a:pPr indent="-342900" lvl="0" marL="457200" rtl="0" algn="l">
              <a:spcBef>
                <a:spcPts val="0"/>
              </a:spcBef>
              <a:spcAft>
                <a:spcPts val="0"/>
              </a:spcAft>
              <a:buSzPts val="1800"/>
              <a:buChar char="●"/>
            </a:pPr>
            <a:r>
              <a:rPr lang="ru" sz="1800"/>
              <a:t>регулярка (</a:t>
            </a:r>
            <a:r>
              <a:rPr lang="ru" sz="1800" u="sng">
                <a:solidFill>
                  <a:schemeClr val="hlink"/>
                </a:solidFill>
                <a:hlinkClick r:id="rId3"/>
              </a:rPr>
              <a:t>https://regexcrossword.com/</a:t>
            </a:r>
            <a:r>
              <a:rPr lang="ru" sz="1800"/>
              <a:t>)</a:t>
            </a:r>
            <a:endParaRPr sz="1800"/>
          </a:p>
          <a:p>
            <a:pPr indent="-342900" lvl="0" marL="457200" rtl="0" algn="l">
              <a:spcBef>
                <a:spcPts val="0"/>
              </a:spcBef>
              <a:spcAft>
                <a:spcPts val="0"/>
              </a:spcAft>
              <a:buSzPts val="1800"/>
              <a:buChar char="●"/>
            </a:pPr>
            <a:r>
              <a:rPr lang="ru" sz="1800"/>
              <a:t>практика (исправить скрипт или написать однострочник)</a:t>
            </a:r>
            <a:endParaRPr sz="1800"/>
          </a:p>
          <a:p>
            <a:pPr indent="-342900" lvl="0" marL="457200" rtl="0" algn="l">
              <a:spcBef>
                <a:spcPts val="0"/>
              </a:spcBef>
              <a:spcAft>
                <a:spcPts val="0"/>
              </a:spcAft>
              <a:buSzPts val="1800"/>
              <a:buChar char="●"/>
            </a:pPr>
            <a:r>
              <a:rPr lang="ru" sz="1800"/>
              <a:t>теория (повод поговорить)</a:t>
            </a:r>
            <a:endParaRPr sz="1800"/>
          </a:p>
        </p:txBody>
      </p:sp>
      <p:pic>
        <p:nvPicPr>
          <p:cNvPr id="127" name="Google Shape;127;p22"/>
          <p:cNvPicPr preferRelativeResize="0"/>
          <p:nvPr/>
        </p:nvPicPr>
        <p:blipFill>
          <a:blip r:embed="rId4">
            <a:alphaModFix/>
          </a:blip>
          <a:stretch>
            <a:fillRect/>
          </a:stretch>
        </p:blipFill>
        <p:spPr>
          <a:xfrm>
            <a:off x="6380125" y="2987025"/>
            <a:ext cx="2452166" cy="1839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Промежуточные домашние задания</a:t>
            </a:r>
            <a:endParaRPr/>
          </a:p>
        </p:txBody>
      </p:sp>
      <p:sp>
        <p:nvSpPr>
          <p:cNvPr id="133" name="Google Shape;133;p23"/>
          <p:cNvSpPr txBox="1"/>
          <p:nvPr>
            <p:ph idx="1" type="body"/>
          </p:nvPr>
        </p:nvSpPr>
        <p:spPr>
          <a:xfrm>
            <a:off x="311700" y="7891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ru">
                <a:solidFill>
                  <a:schemeClr val="dk1"/>
                </a:solidFill>
              </a:rPr>
              <a:t>bash-скрипты</a:t>
            </a:r>
            <a:endParaRPr>
              <a:solidFill>
                <a:schemeClr val="dk1"/>
              </a:solidFill>
            </a:endParaRPr>
          </a:p>
          <a:p>
            <a:pPr indent="-342900" lvl="0" marL="457200" rtl="0" algn="l">
              <a:spcBef>
                <a:spcPts val="0"/>
              </a:spcBef>
              <a:spcAft>
                <a:spcPts val="0"/>
              </a:spcAft>
              <a:buClr>
                <a:schemeClr val="dk1"/>
              </a:buClr>
              <a:buSzPts val="1800"/>
              <a:buChar char="●"/>
            </a:pPr>
            <a:r>
              <a:rPr lang="ru">
                <a:solidFill>
                  <a:schemeClr val="dk1"/>
                </a:solidFill>
              </a:rPr>
              <a:t>Hack the box - </a:t>
            </a:r>
            <a:r>
              <a:rPr lang="ru" u="sng">
                <a:solidFill>
                  <a:schemeClr val="hlink"/>
                </a:solidFill>
                <a:hlinkClick r:id="rId3"/>
              </a:rPr>
              <a:t>https://referral.hackthebox.com/mzxCWAt</a:t>
            </a:r>
            <a:endParaRPr>
              <a:solidFill>
                <a:schemeClr val="dk1"/>
              </a:solidFill>
            </a:endParaRPr>
          </a:p>
          <a:p>
            <a:pPr indent="-342900" lvl="0" marL="457200" rtl="0" algn="l">
              <a:spcBef>
                <a:spcPts val="0"/>
              </a:spcBef>
              <a:spcAft>
                <a:spcPts val="0"/>
              </a:spcAft>
              <a:buClr>
                <a:schemeClr val="dk1"/>
              </a:buClr>
              <a:buSzPts val="1800"/>
              <a:buChar char="●"/>
            </a:pPr>
            <a:r>
              <a:rPr lang="ru">
                <a:solidFill>
                  <a:schemeClr val="dk1"/>
                </a:solidFill>
              </a:rPr>
              <a:t>Killercoda - </a:t>
            </a:r>
            <a:r>
              <a:rPr lang="ru" u="sng">
                <a:solidFill>
                  <a:schemeClr val="hlink"/>
                </a:solidFill>
                <a:hlinkClick r:id="rId4"/>
              </a:rPr>
              <a:t>https://killercoda.com/</a:t>
            </a:r>
            <a:endParaRPr>
              <a:solidFill>
                <a:schemeClr val="dk1"/>
              </a:solidFill>
            </a:endParaRPr>
          </a:p>
        </p:txBody>
      </p:sp>
      <p:pic>
        <p:nvPicPr>
          <p:cNvPr id="134" name="Google Shape;134;p23"/>
          <p:cNvPicPr preferRelativeResize="0"/>
          <p:nvPr/>
        </p:nvPicPr>
        <p:blipFill>
          <a:blip r:embed="rId5">
            <a:alphaModFix/>
          </a:blip>
          <a:stretch>
            <a:fillRect/>
          </a:stretch>
        </p:blipFill>
        <p:spPr>
          <a:xfrm>
            <a:off x="1251676" y="1852850"/>
            <a:ext cx="6640649" cy="30214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311700" y="-12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Вопросы?</a:t>
            </a:r>
            <a:endParaRPr/>
          </a:p>
        </p:txBody>
      </p:sp>
      <p:sp>
        <p:nvSpPr>
          <p:cNvPr id="140" name="Google Shape;140;p24"/>
          <p:cNvSpPr txBox="1"/>
          <p:nvPr/>
        </p:nvSpPr>
        <p:spPr>
          <a:xfrm>
            <a:off x="311700" y="4329225"/>
            <a:ext cx="8520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ru"/>
              <a:t>Чем больше вопросов у вас в семестре, тем меньше вопросов к вам на экзамене*</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