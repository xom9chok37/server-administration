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2184503-9810-4C8B-A027-EC651D7375F3}">
  <a:tblStyle styleId="{B2184503-9810-4C8B-A027-EC651D7375F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post/78094/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https://habr.com/ru/companies/lanit/articles/804053/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Linux from scratch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https://habr.com/ru/post/78094/</a:t>
            </a:r>
            <a:r>
              <a:rPr lang="en"/>
              <a:t> - создание своего репозитория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Alpine и проблема с PostGIS.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https://habr.com/ru/post/683716/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c3d34568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c3d34568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590a1d01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590a1d01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c590a1d016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c590a1d01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c590a1d01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c590a1d01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https://github.com/jordansissel/fpm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c590a1d01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c590a1d01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c3248f56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c3248f56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c3248f56f9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c3248f56f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c3248f56f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c3248f56f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Apt policy postgresql-12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c3248f56f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c3248f56f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Lsb_release -r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Попробовать установить mongo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e23ce3df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e23ce3df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c590a1d01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c590a1d0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Ubuntu базируется на Debian и разрабатывает snap. Electron как приложение. Размер Postgres ~50Mb.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c3248f56f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c3248f56f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c590a1d01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c590a1d01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appimage.github.io/apps/" TargetMode="External"/><Relationship Id="rId4" Type="http://schemas.openxmlformats.org/officeDocument/2006/relationships/hyperlink" Target="https://snapcraft.io/store" TargetMode="External"/><Relationship Id="rId5" Type="http://schemas.openxmlformats.org/officeDocument/2006/relationships/hyperlink" Target="https://flathub.org/apps" TargetMode="External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Установка программ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Установка в Windows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6774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Зайти на официальный сайт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Найти раздел загрузок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Скачать и запустить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Далее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Далее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Далее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…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Profit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2" name="Google Shape;62;p14" title="photo_2024-10-09_08-29-4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5020" y="0"/>
            <a:ext cx="370035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Варианты установки ПО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572700"/>
            <a:ext cx="8520600" cy="42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Компиляция из исходников - ручная установка, ССЗД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Установка пакетов (deb, rpm...) - централизованное ведение базы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Пакетные менеджеры (apt, yum...) - самый удобный способ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Бандлеры (AppImage, Snap, Flatpak) - AppStore для Linux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Сборка из исходников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572700"/>
            <a:ext cx="8520600" cy="23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$ </a:t>
            </a:r>
            <a:r>
              <a:rPr b="1" lang="en">
                <a:solidFill>
                  <a:schemeClr val="dk1"/>
                </a:solidFill>
              </a:rPr>
              <a:t>./autogen.sh</a:t>
            </a:r>
            <a:r>
              <a:rPr lang="en">
                <a:solidFill>
                  <a:schemeClr val="dk1"/>
                </a:solidFill>
              </a:rPr>
              <a:t>  # генерация из шаблонов конфигуратора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$ </a:t>
            </a:r>
            <a:r>
              <a:rPr b="1" lang="en">
                <a:solidFill>
                  <a:schemeClr val="dk1"/>
                </a:solidFill>
              </a:rPr>
              <a:t>./configure</a:t>
            </a:r>
            <a:r>
              <a:rPr lang="en">
                <a:solidFill>
                  <a:schemeClr val="dk1"/>
                </a:solidFill>
              </a:rPr>
              <a:t>  # конфигурация приложения под конкретную систему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$ </a:t>
            </a:r>
            <a:r>
              <a:rPr b="1" lang="en">
                <a:solidFill>
                  <a:schemeClr val="dk1"/>
                </a:solidFill>
              </a:rPr>
              <a:t>make</a:t>
            </a:r>
            <a:r>
              <a:rPr lang="en">
                <a:solidFill>
                  <a:schemeClr val="dk1"/>
                </a:solidFill>
              </a:rPr>
              <a:t>  # сборка, компиляция, линковка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06666"/>
                </a:highlight>
              </a:rPr>
              <a:t>$ </a:t>
            </a:r>
            <a:r>
              <a:rPr b="1" lang="en">
                <a:solidFill>
                  <a:schemeClr val="dk1"/>
                </a:solidFill>
                <a:highlight>
                  <a:srgbClr val="E06666"/>
                </a:highlight>
              </a:rPr>
              <a:t>make install</a:t>
            </a:r>
            <a:r>
              <a:rPr lang="en">
                <a:solidFill>
                  <a:schemeClr val="dk1"/>
                </a:solidFill>
                <a:highlight>
                  <a:srgbClr val="E06666"/>
                </a:highlight>
              </a:rPr>
              <a:t>  # копирование в правильное место</a:t>
            </a:r>
            <a:endParaRPr>
              <a:solidFill>
                <a:schemeClr val="dk1"/>
              </a:solidFill>
              <a:highlight>
                <a:srgbClr val="E06666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$ </a:t>
            </a:r>
            <a:r>
              <a:rPr b="1" lang="en">
                <a:solidFill>
                  <a:schemeClr val="dk1"/>
                </a:solidFill>
              </a:rPr>
              <a:t>make uninstall</a:t>
            </a:r>
            <a:r>
              <a:rPr lang="en">
                <a:solidFill>
                  <a:schemeClr val="dk1"/>
                </a:solidFill>
              </a:rPr>
              <a:t>  # удалить из того же места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311700" y="3525075"/>
            <a:ext cx="8163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Сборка и установка пакета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./configure --prefix=...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</a:t>
            </a: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</a:rPr>
              <a:t>checkinstall --install=no --pkgname mc --pkgversion 1.1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Сборка deb-пакета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572700"/>
            <a:ext cx="8520600" cy="44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$ mkdir DEBIAN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$ find etc | sed "s/^/\//" &gt; DEBIAN/conffiles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$ vim DEBIAN/control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$ dpkg -b mc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$ dpkg -i mc.deb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311700" y="1971300"/>
            <a:ext cx="33204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Package: mctest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Version: 1.2.3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Architecture: amd64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Maintainer: tyvik@krddevdays.ru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Depends: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Priority: optional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Description: И это тоже обязательное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Структура deb-пакета (DEBIAN)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572700"/>
            <a:ext cx="8520600" cy="43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</a:t>
            </a:r>
            <a:r>
              <a:rPr lang="en">
                <a:solidFill>
                  <a:schemeClr val="dk1"/>
                </a:solidFill>
              </a:rPr>
              <a:t>ontrol - описание всего пакета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</a:t>
            </a:r>
            <a:r>
              <a:rPr lang="en">
                <a:solidFill>
                  <a:schemeClr val="dk1"/>
                </a:solidFill>
              </a:rPr>
              <a:t>opyright - копирайт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</a:t>
            </a:r>
            <a:r>
              <a:rPr lang="en">
                <a:solidFill>
                  <a:schemeClr val="dk1"/>
                </a:solidFill>
              </a:rPr>
              <a:t>hangelog - история изменений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</a:t>
            </a:r>
            <a:r>
              <a:rPr lang="en">
                <a:solidFill>
                  <a:schemeClr val="dk1"/>
                </a:solidFill>
              </a:rPr>
              <a:t>onffiles - список конфигурационных файлов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</a:t>
            </a:r>
            <a:r>
              <a:rPr lang="en">
                <a:solidFill>
                  <a:schemeClr val="dk1"/>
                </a:solidFill>
              </a:rPr>
              <a:t>irs</a:t>
            </a:r>
            <a:r>
              <a:rPr lang="en">
                <a:solidFill>
                  <a:schemeClr val="dk1"/>
                </a:solidFill>
              </a:rPr>
              <a:t> - каталоги, которые надо создать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md5sums - контрольные суммы файлов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cron.d - запись в планировщик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init.d - init-скрипт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preinst / postinst / prerm / postrm - скрипты установки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templates - шаблоны диалогов с пользователем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Управление пакетами через deb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572700"/>
            <a:ext cx="8520600" cy="42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Установить пакет.deb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# dpkg -i пакет.deb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У</a:t>
            </a:r>
            <a:r>
              <a:rPr lang="en">
                <a:solidFill>
                  <a:schemeClr val="dk1"/>
                </a:solidFill>
              </a:rPr>
              <a:t>далить пакет.deb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# dpkg -r пакет.deb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С</a:t>
            </a:r>
            <a:r>
              <a:rPr lang="en">
                <a:solidFill>
                  <a:schemeClr val="dk1"/>
                </a:solidFill>
              </a:rPr>
              <a:t>писок установленных пакетов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# dpkg -l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Ф</a:t>
            </a:r>
            <a:r>
              <a:rPr lang="en">
                <a:solidFill>
                  <a:schemeClr val="dk1"/>
                </a:solidFill>
              </a:rPr>
              <a:t>айлы из пакет.deb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# dpkg -L пакет.deb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Какому пакету принадлежит файл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# dpkg -S имяфайла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Информация о пакете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# dpkg -s имяпакета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Пакетные менеджеры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572700"/>
            <a:ext cx="8520600" cy="17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apt - Debian, Ubuntu, Mint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yum - RHEL, Fedora, OpenSUSE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pacman - Arch, Manjaro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emerge - Gentoo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apk - Alpine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1" name="Google Shape;101;p20"/>
          <p:cNvSpPr txBox="1"/>
          <p:nvPr/>
        </p:nvSpPr>
        <p:spPr>
          <a:xfrm>
            <a:off x="311700" y="3090550"/>
            <a:ext cx="4269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apt install firefox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apt remove firefox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apt autoremove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r>
              <a:rPr lang="en"/>
              <a:t>pt-get &amp; apt-cache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572700"/>
            <a:ext cx="8520600" cy="21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apt-get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</a:t>
            </a:r>
            <a:r>
              <a:rPr lang="en">
                <a:solidFill>
                  <a:schemeClr val="dk1"/>
                </a:solidFill>
              </a:rPr>
              <a:t>pdate - обновить кеш доступных пакетов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</a:t>
            </a:r>
            <a:r>
              <a:rPr lang="en">
                <a:solidFill>
                  <a:schemeClr val="dk1"/>
                </a:solidFill>
              </a:rPr>
              <a:t>pgrade - обновить установленные пакеты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</a:t>
            </a:r>
            <a:r>
              <a:rPr lang="en">
                <a:solidFill>
                  <a:schemeClr val="dk1"/>
                </a:solidFill>
              </a:rPr>
              <a:t>nstall - установить новый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</a:t>
            </a:r>
            <a:r>
              <a:rPr lang="en">
                <a:solidFill>
                  <a:schemeClr val="dk1"/>
                </a:solidFill>
              </a:rPr>
              <a:t>emove - удаление пакета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purge - удаление вместе со всеми файлами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</a:t>
            </a:r>
            <a:r>
              <a:rPr lang="en">
                <a:solidFill>
                  <a:schemeClr val="dk1"/>
                </a:solidFill>
              </a:rPr>
              <a:t>utoremove - удаление ненужных пакетов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8" name="Google Shape;108;p21"/>
          <p:cNvSpPr txBox="1"/>
          <p:nvPr/>
        </p:nvSpPr>
        <p:spPr>
          <a:xfrm>
            <a:off x="311675" y="3002775"/>
            <a:ext cx="8520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apt-cache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policy - доступные версии пакета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search - поиск пакета по части названия или описания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show - информация о пакете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depends - зависимости указанного пакета.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add-apt-repository</a:t>
            </a:r>
            <a:endParaRPr/>
          </a:p>
        </p:txBody>
      </p:sp>
      <p:sp>
        <p:nvSpPr>
          <p:cNvPr id="114" name="Google Shape;114;p22"/>
          <p:cNvSpPr txBox="1"/>
          <p:nvPr/>
        </p:nvSpPr>
        <p:spPr>
          <a:xfrm>
            <a:off x="311700" y="3342525"/>
            <a:ext cx="85206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Добавление стороннего репозитория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add-apt-repository ppa:deadsnakes/ppa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или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add-apt-repository “deb http://apt.postgresql.org/pub/repos/apt/ focal-pgdg main”</a:t>
            </a:r>
            <a:endParaRPr sz="1600"/>
          </a:p>
        </p:txBody>
      </p:sp>
      <p:sp>
        <p:nvSpPr>
          <p:cNvPr id="115" name="Google Shape;115;p22"/>
          <p:cNvSpPr txBox="1"/>
          <p:nvPr/>
        </p:nvSpPr>
        <p:spPr>
          <a:xfrm>
            <a:off x="311700" y="572700"/>
            <a:ext cx="8520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add-apt-repository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 sz="1800"/>
              <a:t>a</a:t>
            </a:r>
            <a:r>
              <a:rPr i="1" lang="en" sz="1800"/>
              <a:t>dd - добавить ключ</a:t>
            </a:r>
            <a:endParaRPr i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 sz="1800"/>
              <a:t>d</a:t>
            </a:r>
            <a:r>
              <a:rPr i="1" lang="en" sz="1800"/>
              <a:t>el - удалить ключ</a:t>
            </a:r>
            <a:endParaRPr i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 sz="1800"/>
              <a:t>l</a:t>
            </a:r>
            <a:r>
              <a:rPr i="1" lang="en" sz="1800"/>
              <a:t>ist - список доверенных ключей</a:t>
            </a:r>
            <a:endParaRPr i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/>
              <a:t># wget -qO - https://deb.opera.com/archive.key | sudo apt-key add -</a:t>
            </a:r>
            <a:endParaRPr i="1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</a:t>
            </a:r>
            <a:endParaRPr/>
          </a:p>
        </p:txBody>
      </p:sp>
      <p:sp>
        <p:nvSpPr>
          <p:cNvPr id="121" name="Google Shape;121;p23"/>
          <p:cNvSpPr txBox="1"/>
          <p:nvPr/>
        </p:nvSpPr>
        <p:spPr>
          <a:xfrm>
            <a:off x="311700" y="572700"/>
            <a:ext cx="8520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/etc/apt/sources.list.d/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cat pgdg.list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deb [arch=amd64] http://apt.postgresql.org/pub/repos/apt/ focal-pgdg main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AppImage &amp; Flatpack &amp; Snap</a:t>
            </a:r>
            <a:endParaRPr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572700"/>
            <a:ext cx="8520600" cy="161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Способы использования стороннего кода: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Копирование к себе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Подключение сторонних репозиториев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Динамическая линковка при запуске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8" name="Google Shape;128;p24"/>
          <p:cNvSpPr txBox="1"/>
          <p:nvPr/>
        </p:nvSpPr>
        <p:spPr>
          <a:xfrm>
            <a:off x="369575" y="2571750"/>
            <a:ext cx="5913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AppImage -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https://appimage.github.io/apps/</a:t>
            </a:r>
            <a:r>
              <a:rPr lang="en" sz="1800"/>
              <a:t>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SnapCraft - </a:t>
            </a:r>
            <a:r>
              <a:rPr lang="en" sz="1800" u="sng">
                <a:solidFill>
                  <a:schemeClr val="hlink"/>
                </a:solidFill>
                <a:hlinkClick r:id="rId4"/>
              </a:rPr>
              <a:t>https://snapcraft.io/store</a:t>
            </a:r>
            <a:r>
              <a:rPr lang="en" sz="1800"/>
              <a:t>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FlatHub - </a:t>
            </a:r>
            <a:r>
              <a:rPr lang="en" sz="1800" u="sng">
                <a:solidFill>
                  <a:schemeClr val="hlink"/>
                </a:solidFill>
                <a:hlinkClick r:id="rId5"/>
              </a:rPr>
              <a:t>https://flathub.org/apps</a:t>
            </a:r>
            <a:r>
              <a:rPr lang="en" sz="1800"/>
              <a:t> </a:t>
            </a:r>
            <a:endParaRPr sz="1800"/>
          </a:p>
        </p:txBody>
      </p:sp>
      <p:pic>
        <p:nvPicPr>
          <p:cNvPr id="129" name="Google Shape;129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05425" y="3739961"/>
            <a:ext cx="1075125" cy="1075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400" y="3739950"/>
            <a:ext cx="3762938" cy="107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72825" y="3702375"/>
            <a:ext cx="1075125" cy="107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Сравнительная таблица</a:t>
            </a:r>
            <a:endParaRPr/>
          </a:p>
        </p:txBody>
      </p:sp>
      <p:graphicFrame>
        <p:nvGraphicFramePr>
          <p:cNvPr id="137" name="Google Shape;137;p25"/>
          <p:cNvGraphicFramePr/>
          <p:nvPr/>
        </p:nvGraphicFramePr>
        <p:xfrm>
          <a:off x="1082500" y="59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{B2184503-9810-4C8B-A027-EC651D7375F3}</a:tableStyleId>
              </a:tblPr>
              <a:tblGrid>
                <a:gridCol w="3463350"/>
                <a:gridCol w="829275"/>
                <a:gridCol w="928575"/>
                <a:gridCol w="865375"/>
                <a:gridCol w="8924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src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deb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apt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snap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Установка из файла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Корректное удаление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Разрешение зависимостей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+/-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*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Автоматическое обновление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AppStore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Поддержка репозиториев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Графический интерфейс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Ремонт приложения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+/-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*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Несколько версий приложения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36762"/>
            <a:ext cx="9144003" cy="2669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