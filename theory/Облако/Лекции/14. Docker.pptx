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8DF3D9-6E49-4C05-A6BE-7EB20E11460A}">
  <a:tblStyle styleId="{988DF3D9-6E49-4C05-A6BE-7EB20E1146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domclick/blog/566224/" TargetMode="External"/><Relationship Id="rId3" Type="http://schemas.openxmlformats.org/officeDocument/2006/relationships/hyperlink" Target="https://habr.com/ru/post/550562/" TargetMode="External"/><Relationship Id="rId4" Type="http://schemas.openxmlformats.org/officeDocument/2006/relationships/hyperlink" Target="https://habr.com/ru/post/346634/" TargetMode="External"/><Relationship Id="rId5" Type="http://schemas.openxmlformats.org/officeDocument/2006/relationships/hyperlink" Target="https://www.freecodecamp.org/news/the-docker-handbook/?fbclid=IwAR1NFmQyhGAxIs9-TJ7paAIrUv1ch3u_cLUTPyFXQKaXLF_H9QShCaTEIg8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https://habr.com/ru/company/domclick/blog/566224/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https://habr.com/ru/post/550562/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https://habr.com/ru/post/346634/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https://www.freecodecamp.org/news/the-docker-handbook/?fbclid=IwAR1NFmQyhGAxIs9-TJ7paAIrUv1ch3u_cLUTPyFXQKaXLF_H9QShCaTEIg8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https://habr.com/ru/company/wunderfund/blog/586778/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https://habr.com/ru/articles/822707/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https://habr.com/ru/companies/netologyru/articles/967546/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3c79e29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3c79e29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d3c79e29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d3c79e29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d3c79e299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d3c79e299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3c79e299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3c79e299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691b4303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691b4303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029b1c6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029b1c6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3c79e299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d3c79e299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691b4303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691b4303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40367dd7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d40367dd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691b4303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691b4303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691b4303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691b4303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7df650c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d7df650c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.Dockerignore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40367dd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40367dd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691b4303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691b4303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3c79e299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3c79e299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8e1fd58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8e1fd58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3c79e299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d3c79e299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691b430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691b430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691b4303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691b4303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3c79e299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3c79e299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3c79e299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3c79e299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24efbad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24efbad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hyperlink" Target="https://habr.com/ru/articles/935178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habr.com/ru/companies/skillfactory/articles/547116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abr.com/ru/articles/1041784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alpinelinux/docker-alpine/tree/c9515859c035acbb899c6738506954e36f57e7dc/x86_64" TargetMode="External"/><Relationship Id="rId4" Type="http://schemas.openxmlformats.org/officeDocument/2006/relationships/hyperlink" Target="https://github.com/debuerreotype/docker-debian-artifacts/tree/337f494fae12a1db13a003cea38e74f43d312ee6/bullsey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hyperlink" Target="https://github.com/docker-library/python" TargetMode="External"/><Relationship Id="rId5" Type="http://schemas.openxmlformats.org/officeDocument/2006/relationships/hyperlink" Target="https://dockerlabs.collabnix.com/beginners/building-docker-image-from-scratch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TyVik/geopuzzle/blob/develop/Dockerfile.backen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habr.com/ru/companies/nixys/articles/830830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Утилизация ресурсов и изоляция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5175"/>
            <a:ext cx="3438474" cy="225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075" y="819425"/>
            <a:ext cx="4761227" cy="350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4774200"/>
            <a:ext cx="85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Docker изнутри: исчерпывающее руководство. Механизмы контейнеризации + примеры, эксперименты и реализация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65703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Жизненный цикл контейнера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образами и контейнерами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337" y="590249"/>
            <a:ext cx="7225324" cy="44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образами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116900" y="629300"/>
            <a:ext cx="86562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build – создать образ из Dockerfile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images – список всех образов на локальной машине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pull – скачать образ из registry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push – обновить образ в registry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rmi – удалить образ на локальной машине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tag – сделать тег для образа</a:t>
            </a:r>
            <a:endParaRPr sz="18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310544"/>
            <a:ext cx="4572001" cy="283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Слои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65475" y="906128"/>
            <a:ext cx="7132074" cy="259025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5666600" y="1541575"/>
            <a:ext cx="525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COPY app/ /usr/share/nginx/html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RUN apk update &amp;&amp; apk add nginx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FROM debian:12.13</a:t>
            </a:r>
            <a:endParaRPr sz="1600">
              <a:solidFill>
                <a:srgbClr val="0000FF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4774200"/>
            <a:ext cx="75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Изучаем внутренние компоненты Docker — Объединённая файловая система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13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Шрек одобряет</a:t>
            </a:r>
            <a:endParaRPr/>
          </a:p>
        </p:txBody>
      </p:sp>
      <p:pic>
        <p:nvPicPr>
          <p:cNvPr id="96" name="Google Shape;96;p19" title="71078-shrek-shrek_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513" y="712925"/>
            <a:ext cx="732898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38" y="625750"/>
            <a:ext cx="7159320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inspect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docker inspect &lt;container_name_or_id&gt; | jq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docker inspect -f '{{range .NetworkSettings.Networks}}{{.IPAddress}}{{end}}' &lt;container_name_or_id&gt;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Dockerfile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311700" y="496500"/>
            <a:ext cx="8520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FROM debian:12.13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ENV ENVIRONMENT=production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USER www-data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WORKDIR /usr/share/nginx/html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RUN apk update &amp;&amp; apk add nginx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FF"/>
                </a:solidFill>
              </a:rPr>
              <a:t>COPY</a:t>
            </a:r>
            <a:r>
              <a:rPr lang="en" sz="1800">
                <a:solidFill>
                  <a:srgbClr val="0000FF"/>
                </a:solidFill>
              </a:rPr>
              <a:t> app/</a:t>
            </a:r>
            <a:r>
              <a:rPr lang="en" sz="1800">
                <a:solidFill>
                  <a:srgbClr val="0000FF"/>
                </a:solidFill>
              </a:rPr>
              <a:t> </a:t>
            </a:r>
            <a:r>
              <a:rPr lang="en" sz="1800">
                <a:solidFill>
                  <a:srgbClr val="0000FF"/>
                </a:solidFill>
              </a:rPr>
              <a:t>/usr/share/nginx/html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EXPOSE 80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STOPSIGNAL SIGQUIT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HEALTHCHECK --interval=5m --timeout=3s CMD curl -f http://127.0.0.1/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ENTRYPOINT ["sh"]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CMD ["nginx"]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311700" y="4774200"/>
            <a:ext cx="714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Best Practices по Dockerfile: от базового образа и кеша до SBOM, Cosign и CI/CD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Базовые образы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296825" y="572700"/>
            <a:ext cx="8520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Dockerfile.alpine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/>
              <a:t>FROM scratch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ADD alpine-minirootfs-3.16.0-x86_64.tar.gz 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CMD ["/bin/sh"]</a:t>
            </a:r>
            <a:endParaRPr sz="2000"/>
          </a:p>
        </p:txBody>
      </p:sp>
      <p:sp>
        <p:nvSpPr>
          <p:cNvPr id="122" name="Google Shape;122;p23"/>
          <p:cNvSpPr txBox="1"/>
          <p:nvPr/>
        </p:nvSpPr>
        <p:spPr>
          <a:xfrm>
            <a:off x="311700" y="2952750"/>
            <a:ext cx="8520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Dockerfile.debian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/>
              <a:t>FROM scratch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ADD rootfs.tar.xz /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CMD ["bash"]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</a:rPr>
              <a:t>FROM scratch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311700" y="572700"/>
            <a:ext cx="487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FROM scratch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COPY chello /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CMD ["/chello"]</a:t>
            </a:r>
            <a:endParaRPr sz="18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58800"/>
            <a:ext cx="8520599" cy="238019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5344375" y="572700"/>
            <a:ext cx="341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gcc -o chello -static chello.c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file chello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ldd chello</a:t>
            </a:r>
            <a:endParaRPr sz="1800"/>
          </a:p>
        </p:txBody>
      </p:sp>
      <p:sp>
        <p:nvSpPr>
          <p:cNvPr id="131" name="Google Shape;131;p24"/>
          <p:cNvSpPr txBox="1"/>
          <p:nvPr/>
        </p:nvSpPr>
        <p:spPr>
          <a:xfrm>
            <a:off x="311700" y="4589400"/>
            <a:ext cx="39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Python docker-library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Building Docker Image from Scratch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Кеширование</a:t>
            </a:r>
            <a:r>
              <a:rPr lang="en"/>
              <a:t> слоёв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311700" y="572700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/>
              <a:t>docker build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    --cache-from my_application:backend-builder \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    --cache-from my_application:backend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--tag my_application:backend \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-f Dockerfile.backend .</a:t>
            </a:r>
            <a:endParaRPr sz="1600"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900" y="2025800"/>
            <a:ext cx="5446201" cy="30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Оптимизация слоёв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87000"/>
            <a:ext cx="4761699" cy="22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775" y="572700"/>
            <a:ext cx="4997633" cy="17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1" y="572701"/>
            <a:ext cx="4513481" cy="19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787000"/>
            <a:ext cx="5074400" cy="23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>
            <a:off x="4949425" y="4455150"/>
            <a:ext cx="32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.Dockerignore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2-step build</a:t>
            </a:r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311700" y="940938"/>
            <a:ext cx="3380346" cy="329259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311700" y="909963"/>
            <a:ext cx="3606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FROM node:latest as builder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COPY package* ./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COPY src/ src/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CMD [“npm”, “install”]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Lints Code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6AA84F"/>
                </a:solidFill>
              </a:rPr>
              <a:t>FROM node:latest as linting</a:t>
            </a:r>
            <a:endParaRPr sz="16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 .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“lint”]</a:t>
            </a:r>
            <a:endParaRPr sz="1600"/>
          </a:p>
        </p:txBody>
      </p:sp>
      <p:sp>
        <p:nvSpPr>
          <p:cNvPr id="156" name="Google Shape;156;p27"/>
          <p:cNvSpPr/>
          <p:nvPr/>
        </p:nvSpPr>
        <p:spPr>
          <a:xfrm rot="10800000">
            <a:off x="4183075" y="841622"/>
            <a:ext cx="4326750" cy="346026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4183075" y="1586013"/>
            <a:ext cx="4687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Runs Unit Tests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AA84F"/>
                </a:solidFill>
              </a:rPr>
              <a:t>FROM linting as test</a:t>
            </a:r>
            <a:endParaRPr sz="1600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“test”]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Starts and Serves Web Page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FROM node:latest as serve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WORKDIR /usr/src/app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/usr/src/app/dest ./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COPY --from=builder /usr/src/app/package* ./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CMD [“npm”, “start”]</a:t>
            </a:r>
            <a:endParaRPr sz="1600"/>
          </a:p>
        </p:txBody>
      </p:sp>
      <p:sp>
        <p:nvSpPr>
          <p:cNvPr id="158" name="Google Shape;158;p27"/>
          <p:cNvSpPr txBox="1"/>
          <p:nvPr/>
        </p:nvSpPr>
        <p:spPr>
          <a:xfrm>
            <a:off x="311700" y="4774200"/>
            <a:ext cx="50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Пример 2-step build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ENTRYPOINT vs CMD</a:t>
            </a:r>
            <a:endParaRPr/>
          </a:p>
        </p:txBody>
      </p:sp>
      <p:sp>
        <p:nvSpPr>
          <p:cNvPr id="164" name="Google Shape;164;p28"/>
          <p:cNvSpPr txBox="1"/>
          <p:nvPr/>
        </p:nvSpPr>
        <p:spPr>
          <a:xfrm>
            <a:off x="311700" y="572700"/>
            <a:ext cx="8520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ENTRYPOINT - какой скрипт будет вызван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CMD - параметры этого скрипта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ENTRYPOINT ["</a:t>
            </a:r>
            <a:r>
              <a:rPr lang="en" sz="1800">
                <a:solidFill>
                  <a:srgbClr val="38761D"/>
                </a:solidFill>
              </a:rPr>
              <a:t>/entrypoint.sh</a:t>
            </a:r>
            <a:r>
              <a:rPr lang="en" sz="1800"/>
              <a:t>"]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CMD [«</a:t>
            </a:r>
            <a:r>
              <a:rPr lang="en" sz="1800">
                <a:solidFill>
                  <a:srgbClr val="0B5394"/>
                </a:solidFill>
              </a:rPr>
              <a:t>haproxy</a:t>
            </a:r>
            <a:r>
              <a:rPr lang="en" sz="1800"/>
              <a:t>», "</a:t>
            </a:r>
            <a:r>
              <a:rPr lang="en" sz="1800">
                <a:solidFill>
                  <a:srgbClr val="0B5394"/>
                </a:solidFill>
              </a:rPr>
              <a:t>-c</a:t>
            </a:r>
            <a:r>
              <a:rPr lang="en" sz="1800"/>
              <a:t>", "</a:t>
            </a:r>
            <a:r>
              <a:rPr lang="en" sz="1800">
                <a:solidFill>
                  <a:srgbClr val="0B5394"/>
                </a:solidFill>
              </a:rPr>
              <a:t>/etc/haproxy/haproxy.conf</a:t>
            </a:r>
            <a:r>
              <a:rPr lang="en" sz="1800"/>
              <a:t>"]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итого при старте контейнера будет запущена следующая команда: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 -c "</a:t>
            </a:r>
            <a:r>
              <a:rPr lang="en" sz="1800">
                <a:solidFill>
                  <a:srgbClr val="38761D"/>
                </a:solidFill>
              </a:rPr>
              <a:t>/entrypoint.sh</a:t>
            </a:r>
            <a:r>
              <a:rPr lang="en" sz="1800">
                <a:solidFill>
                  <a:srgbClr val="45818E"/>
                </a:solidFill>
              </a:rPr>
              <a:t> </a:t>
            </a:r>
            <a:r>
              <a:rPr lang="en" sz="1800">
                <a:solidFill>
                  <a:srgbClr val="0B5394"/>
                </a:solidFill>
              </a:rPr>
              <a:t>haproxy -c /etc/haproxy/haproxy.conf</a:t>
            </a:r>
            <a:r>
              <a:rPr lang="en" sz="1800"/>
              <a:t>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CMD ["haproxy", "-c", "some.conf"] - (exec form) выполняется под PID 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CMD ["haproxy -c some.conf"] - (shell form) выполняется в отдельном процессе (</a:t>
            </a:r>
            <a:r>
              <a:rPr lang="en" sz="1800">
                <a:solidFill>
                  <a:schemeClr val="dk1"/>
                </a:solidFill>
              </a:rPr>
              <a:t>"haproxy -c some.conf" трактуется как название программы</a:t>
            </a:r>
            <a:r>
              <a:rPr lang="en" sz="1800"/>
              <a:t>)</a:t>
            </a:r>
            <a:endParaRPr sz="1800"/>
          </a:p>
        </p:txBody>
      </p:sp>
      <p:sp>
        <p:nvSpPr>
          <p:cNvPr id="165" name="Google Shape;165;p28"/>
          <p:cNvSpPr txBox="1"/>
          <p:nvPr/>
        </p:nvSpPr>
        <p:spPr>
          <a:xfrm>
            <a:off x="311700" y="4774200"/>
            <a:ext cx="50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Выбираем между инструкциями RUN, CMD и ENTRYPOINT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1" name="Google Shape;171;p29"/>
          <p:cNvGraphicFramePr/>
          <p:nvPr/>
        </p:nvGraphicFramePr>
        <p:xfrm>
          <a:off x="311700" y="10615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{988DF3D9-6E49-4C05-A6BE-7EB20E11460A}</a:tableStyleId>
              </a:tblPr>
              <a:tblGrid>
                <a:gridCol w="1901800"/>
                <a:gridCol w="2051550"/>
                <a:gridCol w="2306100"/>
                <a:gridCol w="2261175"/>
              </a:tblGrid>
              <a:tr h="113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No ENTRYPOINT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ENTRYPOINT exec_entry p1_entry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ENTRYPOINT ["exec_entry", "p1_entry"]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No CMD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error, not allowed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/bin/sh -c exec_entry p1_entry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exec_entry p1_entry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CMD ["exec_cmd", "p1_cmd"]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exec_cmd p1_cmd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/bin/sh -c exec_entry p1_entry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exec_entry p1_entry exec_cmd p1_cmd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CMD exec_cmd p1_cmd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/bin/sh -c exec_cmd p1_cmd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/bin/sh -c exec_entry p1_entry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FF"/>
                          </a:highlight>
                        </a:rPr>
                        <a:t>exec_entry p1_entry /bin/sh -c exec_cmd p1_cmd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контейнерами</a:t>
            </a:r>
            <a:endParaRPr/>
          </a:p>
        </p:txBody>
      </p:sp>
      <p:sp>
        <p:nvSpPr>
          <p:cNvPr id="177" name="Google Shape;177;p30"/>
          <p:cNvSpPr txBox="1"/>
          <p:nvPr/>
        </p:nvSpPr>
        <p:spPr>
          <a:xfrm>
            <a:off x="116900" y="476900"/>
            <a:ext cx="8656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cp - копировать файлы между контейнером и хостом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create - создать новый контейнер из образа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exec - выполнить команду в уже </a:t>
            </a:r>
            <a:r>
              <a:rPr b="1" lang="en" sz="1900"/>
              <a:t>запущенном</a:t>
            </a:r>
            <a:r>
              <a:rPr lang="en" sz="1900"/>
              <a:t> контейнере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run - выполнить команду в </a:t>
            </a:r>
            <a:r>
              <a:rPr b="1" lang="en" sz="1900">
                <a:solidFill>
                  <a:schemeClr val="dk1"/>
                </a:solidFill>
              </a:rPr>
              <a:t>новом</a:t>
            </a:r>
            <a:r>
              <a:rPr lang="en" sz="1900">
                <a:solidFill>
                  <a:schemeClr val="dk1"/>
                </a:solidFill>
              </a:rPr>
              <a:t> контейнере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ps - список контейнеров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rename - переименовать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rm - удалить контейнер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start - запустить остановленный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stop - остановить работающий контейнер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restart - перезапустить контейнер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logs - прочитать логи контейнера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stats - посмотреть потребление ресурсов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top - вывести список процессов в контейнере</a:t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Docker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311700" y="560525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run </a:t>
            </a:r>
            <a:r>
              <a:rPr lang="en" sz="2000">
                <a:solidFill>
                  <a:schemeClr val="dk1"/>
                </a:solidFill>
              </a:rPr>
              <a:t>--cpus="2" --name="stress" --rm </a:t>
            </a:r>
            <a:r>
              <a:rPr lang="en" sz="2000"/>
              <a:t>tyvik/stress stress -c 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docker update --cpus="0.5" stress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docker update --cpus="4" stress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pause stress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docker inspect stress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Производительность </a:t>
            </a:r>
            <a:r>
              <a:rPr lang="en" sz="2500">
                <a:solidFill>
                  <a:srgbClr val="000000"/>
                </a:solidFill>
              </a:rPr>
              <a:t>Docker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311700" y="5605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tyvik/sysbench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sysbench cpu run --time=120 --threads=8</a:t>
            </a:r>
            <a:endParaRPr sz="1800"/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040" y="1299425"/>
            <a:ext cx="6833914" cy="384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Сеть</a:t>
            </a:r>
            <a:endParaRPr/>
          </a:p>
        </p:txBody>
      </p:sp>
      <p:sp>
        <p:nvSpPr>
          <p:cNvPr id="196" name="Google Shape;196;p33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network create nginxnet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--network nginxnet nginx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network inspect nginxnet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-p </a:t>
            </a:r>
            <a:r>
              <a:rPr lang="en" sz="1800">
                <a:solidFill>
                  <a:srgbClr val="0000FF"/>
                </a:solidFill>
              </a:rPr>
              <a:t>8080</a:t>
            </a:r>
            <a:r>
              <a:rPr lang="en" sz="1800"/>
              <a:t>:80 nginx</a:t>
            </a:r>
            <a:endParaRPr sz="1800"/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800" y="1795375"/>
            <a:ext cx="5026500" cy="30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Хранение данных</a:t>
            </a:r>
            <a:endParaRPr/>
          </a:p>
        </p:txBody>
      </p:sp>
      <p:sp>
        <p:nvSpPr>
          <p:cNvPr id="203" name="Google Shape;203;p34"/>
          <p:cNvSpPr txBox="1"/>
          <p:nvPr/>
        </p:nvSpPr>
        <p:spPr>
          <a:xfrm>
            <a:off x="311700" y="572700"/>
            <a:ext cx="852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тома Docker (docker volumes)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монтирование каталогов хоста (для локальной </a:t>
            </a:r>
            <a:r>
              <a:rPr lang="en" sz="2000"/>
              <a:t>разработки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использовать tmpfs (для быстрой работы с БД)</a:t>
            </a:r>
            <a:endParaRPr sz="2000"/>
          </a:p>
        </p:txBody>
      </p:sp>
      <p:sp>
        <p:nvSpPr>
          <p:cNvPr id="204" name="Google Shape;204;p34"/>
          <p:cNvSpPr txBox="1"/>
          <p:nvPr/>
        </p:nvSpPr>
        <p:spPr>
          <a:xfrm>
            <a:off x="311700" y="208077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volume create storage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</a:t>
            </a:r>
            <a:r>
              <a:rPr lang="en" sz="1800">
                <a:solidFill>
                  <a:srgbClr val="0000FF"/>
                </a:solidFill>
              </a:rPr>
              <a:t>-v storage:/data</a:t>
            </a:r>
            <a:r>
              <a:rPr lang="en" sz="1800"/>
              <a:t> -it ubuntu /bin/bash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docker run </a:t>
            </a:r>
            <a:r>
              <a:rPr lang="en" sz="1800">
                <a:solidFill>
                  <a:srgbClr val="0000FF"/>
                </a:solidFill>
              </a:rPr>
              <a:t>-v /srv:/host/srv</a:t>
            </a:r>
            <a:r>
              <a:rPr lang="en" sz="1800"/>
              <a:t> -it ubuntu /bin/bash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Шпора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636725"/>
            <a:ext cx="8832300" cy="40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справочная информация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--help # список доступных команд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&lt;command&gt; --help # информация по команде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--version # версия Docker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info # общая информация о системе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работа с образами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search debian # поиск образов по ключевому слову debian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ubuntu # скачивание последней версии (тег по умолчанию latest) официального образа ubuntu (издатель не указывается) из репозитория по умолчанию docker.io/library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prom/prometheus # скачивание последней версии (latest) образа prometheus от издателя prom из репозитория docker.io/prom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pull docker.io/library/ubuntu:18.04 # скачивание из репозитория docker.io официального образа ubuntu с тегом 18.04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images # просмотр локальных образов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rmi &lt;image_name&gt;:&lt;tag&gt; # удаление образа. Вместо &lt;image_name&gt;:&lt;tag&gt; можно указать &lt;image_id&gt;.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rmi $(docker images -aq) # удаление всех образов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работа с контейнерами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hello-world # Hello, world! в мире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-it ubuntu bash # запуск контейнера ubuntu и выполнение команды bash в интерактивном режиме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--name docker-getting-started --publish 8080:80 docker/hello # запуск контейнера hello с отображением (маппингом) порта 8080 хоста на порт 80 внутрь контейнера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run --detach --name mongodb docker.io/library/mongo:4.4.10 # запуск контейнера mongodb с именем mongodb в фоновом режиме. Данные будут удалены при удалении контейнера!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ps # просмотр запущенных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ps -a # просмотр всех контейнеров (в том числе остановленных)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stats --no-stream # просмотр статистики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alpine # создание контейнера из образа alpine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&lt;container_name&gt; # запуск созданного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start $(docker ps -a -q) # запуск всех созданных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stop &lt;container_name&gt; # остановка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stop $(docker ps -a -q) # остановка всех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 &lt;container_name&gt; # удаление контейнера. Вместо &lt;container_name&gt; можно указать &lt;container_id&gt;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rm $(docker ps -a -q) # удаление всех контейнеров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 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720"/>
              <a:t># система</a:t>
            </a:r>
            <a:endParaRPr b="1"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info # общая информация о системе (соответствует docker info)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df # занятое место на диске</a:t>
            </a:r>
            <a:endParaRPr sz="7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720"/>
              <a:t>docker system prune -af # удаление неиспользуемых данных и очистка диска</a:t>
            </a:r>
            <a:endParaRPr sz="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