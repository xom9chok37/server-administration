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3B7005-D132-4525-B4A6-B79D5337CF26}">
  <a:tblStyle styleId="{D13B7005-D132-4525-B4A6-B79D5337CF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akelinux.github.io/kernel/map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https://makelinux.github.io/kernel/map/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Build your own: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https://brennan.io/2015/01/16/write-a-shell-in-c/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https://github.com/kjj6198/build-your-own-x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https://www.linux.org.ru/articles/development/17284031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https://www.bogotobogo.com/Linux/linux_process_and_signals.php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https://habr.com/ru/companies/selectel/articles/827272/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https://habr.com/ru/articles/830680/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https://habr.com/ru/companies/timeweb/articles/784534/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https://habr.com/ru/companies/timeweb/articles/780082/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https://habr.com/ru/companies/timeweb/articles/940310/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7e332e5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7e332e5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1cf576c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1cf576c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file, ldd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https://xakep.ru/2022/05/11/elf-anatomy/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https://xakep.ru/2022/08/31/elf-anatomy-2/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cf576c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1cf576c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https://github.com/corkami/pics/blob/master/binary/elf101/64.svg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cf576c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1cf576c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cf576c2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1cf576c2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1cf576c2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1cf576c2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1cf576c2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1cf576c2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1cf576c2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1cf576c2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1cf576c2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1cf576c2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1cf576c2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1cf576c2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1cf576c2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1cf576c2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1cf576c2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1cf576c2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https://habr.com/ru/post/586604/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1cf576c2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1cf576c2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1cf576c2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1cf576c2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1cf576c2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1cf576c2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c1de3c4de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c1de3c4de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abr.com/ru/companies/timeweb/articles/784534/" TargetMode="External"/><Relationship Id="rId4" Type="http://schemas.openxmlformats.org/officeDocument/2006/relationships/hyperlink" Target="https://habr.com/ru/articles/480642/" TargetMode="External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timelessname.com/elfbin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log.rchapman.org/posts/Linux_System_Call_Table_for_x86_64/" TargetMode="External"/><Relationship Id="rId4" Type="http://schemas.openxmlformats.org/officeDocument/2006/relationships/hyperlink" Target="https://habr.com/ru/articles/996600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medium.com/@267/everybody-loves-shell-2887b06d524c" TargetMode="External"/><Relationship Id="rId5" Type="http://schemas.openxmlformats.org/officeDocument/2006/relationships/hyperlink" Target="https://www.linux.org.ru/articles/development/17284031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Препарируем эльфов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Представление процесса</a:t>
            </a:r>
            <a:endParaRPr/>
          </a:p>
        </p:txBody>
      </p:sp>
      <p:pic>
        <p:nvPicPr>
          <p:cNvPr id="105" name="Google Shape;1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728663"/>
            <a:ext cx="82105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ELF</a:t>
            </a:r>
            <a:endParaRPr/>
          </a:p>
        </p:txBody>
      </p:sp>
      <p:sp>
        <p:nvSpPr>
          <p:cNvPr id="111" name="Google Shape;111;p27"/>
          <p:cNvSpPr txBox="1"/>
          <p:nvPr/>
        </p:nvSpPr>
        <p:spPr>
          <a:xfrm>
            <a:off x="311700" y="4533900"/>
            <a:ext cx="589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Эльфы и пингвины: что такое ELF и как он работает в Linux?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Введение в ELF-файлы в Linux: понимание и анализ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572700"/>
            <a:ext cx="8520601" cy="382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608" y="0"/>
            <a:ext cx="72747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163" y="152400"/>
            <a:ext cx="684368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311700" y="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Общая информация</a:t>
            </a:r>
            <a:endParaRPr/>
          </a:p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345450" y="801300"/>
            <a:ext cx="8453100" cy="3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file build/kubsh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ELF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64-bit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LSB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pie executable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x86-64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version 1 (SYSV)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dynamically linked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interpreter /lib64/ld-linux-x86-64.so.2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BuildID[sha1]=7461c2cecb6d9540b2514c8d3d68d1bf25301f87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GNU/Linux 3.2.0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not stripped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30"/>
          <p:cNvSpPr txBox="1"/>
          <p:nvPr/>
        </p:nvSpPr>
        <p:spPr>
          <a:xfrm>
            <a:off x="311700" y="4774200"/>
            <a:ext cx="48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Smallest x86 ELF Hello World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>
            <p:ph idx="1" type="body"/>
          </p:nvPr>
        </p:nvSpPr>
        <p:spPr>
          <a:xfrm>
            <a:off x="311700" y="609700"/>
            <a:ext cx="8520600" cy="4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ELF Header: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Magic:							7f 45 4c 46 02 01 01 00 00 00 00 00 00 00 00 00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Class:							ELF64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Data:							2's complement, little endian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Version:							1 (current)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OS/ABI:							UNIX - System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ABI Version:						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Type:							DYN (Position-Independent Executable file)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Machine:						Advanced Micro Devices X86-64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Version:							0x1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Entry point address:				0x25c0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Start of program headers:			64 (bytes into file)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Start of section headers:			25288 (bytes into file)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Flags:							0x0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Size of this header:				64 (bytes)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Size of program headers:			56 (bytes)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Number of program headers:		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Size of section headers:			64 (bytes)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Number of section headers:			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Section header string table index:	30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31"/>
          <p:cNvSpPr txBox="1"/>
          <p:nvPr>
            <p:ph type="title"/>
          </p:nvPr>
        </p:nvSpPr>
        <p:spPr>
          <a:xfrm>
            <a:off x="311700" y="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readelf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linker (ldd)</a:t>
            </a:r>
            <a:endParaRPr/>
          </a:p>
        </p:txBody>
      </p:sp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311700" y="801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ldd build/kubsh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linux-vdso.so.1 (0x00007ffcf4888000)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libreadline.so.8 =&gt; /lib/x86_64-linux-gnu/libreadline.so.8 (0x0000790b40905000)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libfuse3.so.3 =&gt; /lib/x86_64-linux-gnu/libfuse3.so.3 (0x0000790b408c5000)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libc.so.6 =&gt; /lib/x86_64-linux-gnu/libc.so.6 (0x0000790b40600000)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libtinfo.so.6 =&gt; /lib/x86_64-linux-gnu/libtinfo.so.6 (0x0000790b40891000)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/lib64/ld-linux-x86-64.so.2 (0x0000790b40981000)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glibc</a:t>
            </a:r>
            <a:endParaRPr/>
          </a:p>
        </p:txBody>
      </p:sp>
      <p:pic>
        <p:nvPicPr>
          <p:cNvPr id="147" name="Google Shape;147;p33" title="Screenshot from 2025-09-25 16-34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636725"/>
            <a:ext cx="5318501" cy="35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3"/>
          <p:cNvSpPr txBox="1"/>
          <p:nvPr/>
        </p:nvSpPr>
        <p:spPr>
          <a:xfrm>
            <a:off x="5847025" y="848600"/>
            <a:ext cx="33141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с glibc: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printf("Hello, World!\n");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без glibc: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*string = "Hello, World!\n";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STDOUT_FILENO,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string,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14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SysCalls</a:t>
            </a:r>
            <a:endParaRPr/>
          </a:p>
        </p:txBody>
      </p:sp>
      <p:graphicFrame>
        <p:nvGraphicFramePr>
          <p:cNvPr id="154" name="Google Shape;154;p34"/>
          <p:cNvGraphicFramePr/>
          <p:nvPr/>
        </p:nvGraphicFramePr>
        <p:xfrm>
          <a:off x="517938" y="56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{D13B7005-D132-4525-B4A6-B79D5337CF26}</a:tableStyleId>
              </a:tblPr>
              <a:tblGrid>
                <a:gridCol w="845150"/>
                <a:gridCol w="1241875"/>
                <a:gridCol w="1682125"/>
                <a:gridCol w="1193525"/>
                <a:gridCol w="1283975"/>
                <a:gridCol w="753625"/>
                <a:gridCol w="549875"/>
                <a:gridCol w="557975"/>
              </a:tblGrid>
              <a:tr h="81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%rax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System call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%rdi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%rsi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%rdx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%r9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highlight>
                            <a:srgbClr val="FEFEFE"/>
                          </a:highlight>
                        </a:rPr>
                        <a:t>sys_read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highlight>
                            <a:srgbClr val="FEFEFE"/>
                          </a:highlight>
                        </a:rPr>
                        <a:t>unsigned int fd</a:t>
                      </a:r>
                      <a:endParaRPr sz="1350">
                        <a:solidFill>
                          <a:schemeClr val="dk1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95250" marL="95250">
                    <a:lnL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highlight>
                            <a:srgbClr val="FEFEFE"/>
                          </a:highlight>
                        </a:rPr>
                        <a:t>char *buf</a:t>
                      </a:r>
                      <a:endParaRPr sz="1350">
                        <a:solidFill>
                          <a:schemeClr val="dk1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95250" marL="95250">
                    <a:lnL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highlight>
                            <a:srgbClr val="FEFEFE"/>
                          </a:highlight>
                        </a:rPr>
                        <a:t>size_t count</a:t>
                      </a:r>
                      <a:endParaRPr sz="1350">
                        <a:solidFill>
                          <a:schemeClr val="dk1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95250" marL="95250">
                    <a:lnL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sys_getpid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sys_socket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 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 type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 protocol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sys_fork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sys_execve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const char *filename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const char *const argv[]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const char *const envp[]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34"/>
          <p:cNvSpPr txBox="1"/>
          <p:nvPr/>
        </p:nvSpPr>
        <p:spPr>
          <a:xfrm>
            <a:off x="311700" y="4589400"/>
            <a:ext cx="72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LINUX SYSTEM CALL TABLE FOR X86 64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Почему системные вызовы обходятся дорого: углубляемся в дебри Linux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asm</a:t>
            </a:r>
            <a:endParaRPr/>
          </a:p>
        </p:txBody>
      </p:sp>
      <p:sp>
        <p:nvSpPr>
          <p:cNvPr id="161" name="Google Shape;161;p35"/>
          <p:cNvSpPr txBox="1"/>
          <p:nvPr>
            <p:ph idx="1" type="body"/>
          </p:nvPr>
        </p:nvSpPr>
        <p:spPr>
          <a:xfrm>
            <a:off x="311700" y="619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global _start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section .text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rax, 60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rdi, 137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syscall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35"/>
          <p:cNvSpPr txBox="1"/>
          <p:nvPr>
            <p:ph idx="2" type="body"/>
          </p:nvPr>
        </p:nvSpPr>
        <p:spPr>
          <a:xfrm>
            <a:off x="4832400" y="5605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global _start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section .data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string_hello: db "Hello, World!", 10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section .text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mov rax, 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mov rdi, 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mov rsi, string_hello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mov rdx, 14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syscall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mov rax, 60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mov rdi, 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       syscall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35"/>
          <p:cNvSpPr txBox="1"/>
          <p:nvPr/>
        </p:nvSpPr>
        <p:spPr>
          <a:xfrm>
            <a:off x="311700" y="40940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$ nasm -f elf64 -o hello.o hello.asm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$ ld hello.o -o hello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загрузчика</a:t>
            </a:r>
            <a:endParaRPr/>
          </a:p>
        </p:txBody>
      </p:sp>
      <p:sp>
        <p:nvSpPr>
          <p:cNvPr id="169" name="Google Shape;169;p36"/>
          <p:cNvSpPr txBox="1"/>
          <p:nvPr>
            <p:ph idx="2" type="body"/>
          </p:nvPr>
        </p:nvSpPr>
        <p:spPr>
          <a:xfrm>
            <a:off x="367200" y="1665975"/>
            <a:ext cx="84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#include &lt;sys/mman.h&gt;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#include &lt;string.h&gt;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char program_data[] =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{ 0xB8, 0x3C, 0x00, 0x00, 0x00, 0xBF, 0x89, 0x00, 0x00, 0x00, 0x0F, 0x05}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char* program_mmaped = mmap((void*)0, sizeof(program_data),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                PROT_READ | PROT_WRITE | PROT_EXEC,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                MAP_ANONYMOUS | MAP_PRIVATE, -1, 0);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memcpy(program_mmaped, program_data, sizeof(program_data));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(*program)()  = (int (*) ())program_mmaped;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result = program();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return result;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0" name="Google Shape;170;p36" title="Screenshot from 2025-10-03 16-10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463" y="560525"/>
            <a:ext cx="5400675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Создание процесса</a:t>
            </a:r>
            <a:endParaRPr/>
          </a:p>
        </p:txBody>
      </p:sp>
      <p:pic>
        <p:nvPicPr>
          <p:cNvPr id="176" name="Google Shape;1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38" y="574738"/>
            <a:ext cx="5519374" cy="399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7"/>
          <p:cNvSpPr txBox="1"/>
          <p:nvPr/>
        </p:nvSpPr>
        <p:spPr>
          <a:xfrm>
            <a:off x="311700" y="4570850"/>
            <a:ext cx="529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https://medium.com/@267/everybody-loves-shell-2887b06d524c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Как кушать вилкой. ... или о fork() в двух словах</a:t>
            </a:r>
            <a:endParaRPr sz="1200"/>
          </a:p>
        </p:txBody>
      </p:sp>
      <p:sp>
        <p:nvSpPr>
          <p:cNvPr id="178" name="Google Shape;178;p37"/>
          <p:cNvSpPr txBox="1"/>
          <p:nvPr/>
        </p:nvSpPr>
        <p:spPr>
          <a:xfrm>
            <a:off x="311700" y="766363"/>
            <a:ext cx="2902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 pid = fork();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switch(pid)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case 0: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// Child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break;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default: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// Parent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break;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On Write</a:t>
            </a:r>
            <a:endParaRPr/>
          </a:p>
        </p:txBody>
      </p:sp>
      <p:pic>
        <p:nvPicPr>
          <p:cNvPr id="184" name="Google Shape;18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5172074" cy="36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825" y="791250"/>
            <a:ext cx="1741099" cy="13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8"/>
          <p:cNvSpPr txBox="1"/>
          <p:nvPr/>
        </p:nvSpPr>
        <p:spPr>
          <a:xfrm>
            <a:off x="5483775" y="560525"/>
            <a:ext cx="3348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Проверить текущее значение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cat /proc/sys/vm/overcommit_memory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Записать персистентно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echo "vm.overcommit_memory = 1" &gt;&gt; /etc/sysctl.conf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Возможные значения:</a:t>
            </a:r>
            <a:endParaRPr sz="1200">
              <a:solidFill>
                <a:schemeClr val="dk1"/>
              </a:solidFill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0 — heuristic (по умолчанию): ядро «гадает», может отказать в fork()</a:t>
            </a:r>
            <a:endParaRPr sz="1200">
              <a:solidFill>
                <a:schemeClr val="dk1"/>
              </a:solidFill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1 — always: всегда разрешать overcommit</a:t>
            </a:r>
            <a:endParaRPr sz="1200">
              <a:solidFill>
                <a:schemeClr val="dk1"/>
              </a:solidFill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2 — строгий режим, проверка по overcommit_ratio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/>
        </p:nvSpPr>
        <p:spPr>
          <a:xfrm>
            <a:off x="3182875" y="4168750"/>
            <a:ext cx="48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Виртуальная память</a:t>
            </a:r>
            <a:endParaRPr/>
          </a:p>
        </p:txBody>
      </p:sp>
      <p:pic>
        <p:nvPicPr>
          <p:cNvPr id="193" name="Google Shape;193;p39" title="Screenshot from 2025-09-25 16-43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6" y="655791"/>
            <a:ext cx="4282155" cy="43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9" title="Screenshot from 2025-09-25 16-43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301" y="1082462"/>
            <a:ext cx="3873999" cy="29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control block</a:t>
            </a:r>
            <a:endParaRPr/>
          </a:p>
        </p:txBody>
      </p:sp>
      <p:pic>
        <p:nvPicPr>
          <p:cNvPr id="200" name="Google Shape;2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00" y="636725"/>
            <a:ext cx="2088936" cy="420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8236" y="636725"/>
            <a:ext cx="5372147" cy="420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Каталог </a:t>
            </a:r>
            <a:r>
              <a:rPr lang="en" sz="2500"/>
              <a:t>/proc</a:t>
            </a:r>
            <a:endParaRPr sz="2500"/>
          </a:p>
        </p:txBody>
      </p:sp>
      <p:sp>
        <p:nvSpPr>
          <p:cNvPr id="207" name="Google Shape;207;p41"/>
          <p:cNvSpPr txBox="1"/>
          <p:nvPr/>
        </p:nvSpPr>
        <p:spPr>
          <a:xfrm>
            <a:off x="311700" y="711675"/>
            <a:ext cx="42225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/proc/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meminfo - использование RAM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uptime - аптайм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loadavg - средняя загрузка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cpuinfo - информация о CPU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cmdline - параметры запуска ядра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cgroups - ограничения процессов</a:t>
            </a:r>
            <a:endParaRPr sz="1500"/>
          </a:p>
        </p:txBody>
      </p:sp>
      <p:sp>
        <p:nvSpPr>
          <p:cNvPr id="208" name="Google Shape;208;p41"/>
          <p:cNvSpPr txBox="1"/>
          <p:nvPr/>
        </p:nvSpPr>
        <p:spPr>
          <a:xfrm>
            <a:off x="4661075" y="711675"/>
            <a:ext cx="4222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/proc/&lt;pid&gt;/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fd - файловые дескрипторы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root - как процесс видит ФС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</a:t>
            </a:r>
            <a:r>
              <a:rPr lang="en" sz="1500"/>
              <a:t>groups - ограничение процесса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cmdline - параметры запуска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environ - переменные окружения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limits - связаны с cgroups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sched - информация из планировщика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status - суммарная информация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