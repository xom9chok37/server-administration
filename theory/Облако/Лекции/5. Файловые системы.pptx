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2415D6-0716-4B68-8519-E9AB660C77DC}">
  <a:tblStyle styleId="{D52415D6-0716-4B68-8519-E9AB660C77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8BC1729-34EA-457B-9646-632B2B9B3D8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mailru/blog/529516/" TargetMode="External"/><Relationship Id="rId3" Type="http://schemas.openxmlformats.org/officeDocument/2006/relationships/hyperlink" Target="https://habr.com/ru/post/424651/" TargetMode="External"/><Relationship Id="rId4" Type="http://schemas.openxmlformats.org/officeDocument/2006/relationships/hyperlink" Target="https://habr.com/ru/post/67283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https://habr.com/ru/company/mailru/blog/529516/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https://habr.com/ru/post/424651/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LVM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https://habr.com/ru/post/67283/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https://habr.com/ru/companies/ruvds/articles/750370/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c9c533cd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c9c533cd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c9c533cd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c9c533cd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c9c533cd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c9c533cd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c9c533cd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c9c533cd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c9c533cd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c9c533cd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c9c533cd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c9c533cd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cafdc80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cafdc80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12898b19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12898b19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cafdc800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cafdc800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bfc5c48a1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bfc5c48a1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%3CmxGraphModel%3E%3Croot%3E%3CmxCell%20id%3D%220%22%2F%3E%3CmxCell%20id%3D%221%22%20parent%3D%220%22%2F%3E%3CmxCell%20id%3D%222%22%20parent%3D%221%22%20style%3D%22shape%3Dprocess%3BwhiteSpace%3Dwrap%3Bhtml%3D1%3BbackgroundOutline%3D1%3BfillColor%3D%23f9f7ed%3BstrokeColor%3D%2336393d%3B%22%20value%3D%22%22%20vertex%3D%221%22%3E%3CmxGeometry%20height%3D%22140%22%20width%3D%22760%22%20x%3D%2240%22%20y%3D%22280%22%20as%3D%22geometry%22%2F%3E%3C%2FmxCell%3E%3CmxCell%20id%3D%223%22%20parent%3D%221%22%20style%3D%22text%3Bhtml%3D1%3BwhiteSpace%3Dwrap%3BstrokeColor%3Dnone%3BfillColor%3Dnone%3Balign%3Dcenter%3BverticalAlign%3Dmiddle%3Brounded%3D0%3B%22%20value%3D%22%2Fdev%2Fnvme0n1%22%20vertex%3D%221%22%3E%3CmxGeometry%20height%3D%2230%22%20width%3D%2270%22%20x%3D%2250%22%20y%3D%22250%22%20as%3D%22geometry%22%2F%3E%3C%2FmxCell%3E%3CmxCell%20id%3D%224%22%20parent%3D%221%22%20style%3D%22text%3Bhtml%3D1%3BwhiteSpace%3Dwrap%3BstrokeColor%3Dnone%3BfillColor%3Dnone%3Balign%3Dcenter%3BverticalAlign%3Dmiddle%3Brounded%3D0%3B%22%20value%3D%22FAT32%22%20vertex%3D%221%22%3E%3CmxGeometry%20height%3D%2230%22%20width%3D%2260%22%20x%3D%2250%22%20y%3D%22280%22%20as%3D%22geometry%22%2F%3E%3C%2FmxCell%3E%3CmxCell%20id%3D%225%22%20parent%3D%221%22%20style%3D%22text%3Bhtml%3D1%3BwhiteSpace%3Dwrap%3BstrokeColor%3Dnone%3BfillColor%3Dnone%3Balign%3Dcenter%3BverticalAlign%3Dmiddle%3Brounded%3D0%3B%22%20value%3D%22Ext4%22%20vertex%3D%221%22%3E%3CmxGeometry%20height%3D%2230%22%20width%3D%2260%22%20x%3D%22130%22%20y%3D%22280%22%20as%3D%22geometry%22%2F%3E%3C%2FmxCell%3E%3CmxCell%20id%3D%226%22%20parent%3D%221%22%20style%3D%22rounded%3D0%3BwhiteSpace%3Dwrap%3Bhtml%3D1%3BfillColor%3D%23d5e8d4%3BstrokeColor%3D%2382b366%3B%22%20value%3D%22%2Fhome%2Ftyvik%2F.bashrc%22%20vertex%3D%221%22%3E%3CmxGeometry%20height%3D%2230%22%20width%3D%22120%22%20x%3D%22120%22%20y%3D%22310%22%20as%3D%22geometry%22%2F%3E%3C%2FmxCell%3E%3CmxCell%20id%3D%227%22%20parent%3D%221%22%20style%3D%22rounded%3D0%3BwhiteSpace%3Dwrap%3Bhtml%3D1%3BfillColor%3D%23d5e8d4%3BstrokeColor%3D%2382b366%3B%22%20value%3D%22%2Fetc%2Ffstab%22%20vertex%3D%221%22%3E%3CmxGeometry%20height%3D%2230%22%20width%3D%2270%22%20x%3D%22250%22%20y%3D%22280%22%20as%3D%22geometry%22%2F%3E%3C%2FmxCell%3E%3CmxCell%20id%3D%228%22%20parent%3D%221%22%20style%3D%22rounded%3D0%3BwhiteSpace%3Dwrap%3Bhtml%3D1%3BfillColor%3D%23d5e8d4%3BstrokeColor%3D%2382b366%3B%22%20value%3D%22%2Fetc%2Fshadow%22%20vertex%3D%221%22%3E%3CmxGeometry%20height%3D%2230%22%20width%3D%2270%22%20x%3D%22260%22%20y%3D%22310%22%20as%3D%22geometry%22%2F%3E%3C%2FmxCell%3E%3CmxCell%20id%3D%229%22%20parent%3D%221%22%20style%3D%22rounded%3D0%3BwhiteSpace%3Dwrap%3Bhtml%3D1%3BfillColor%3D%23d5e8d4%3BstrokeColor%3D%2382b366%3B%22%20value%3D%22%2Fbin%2Fbash%22%20vertex%3D%221%22%3E%3CmxGeometry%20height%3D%2230%22%20width%3D%2270%22%20x%3D%22320%22%20y%3D%22280%22%20as%3D%22geometry%22%2F%3E%3C%2FmxCell%3E%3CmxCell%20id%3D%2210%22%20parent%3D%221%22%20style%3D%22rounded%3D0%3BwhiteSpace%3Dwrap%3Bhtml%3D1%3BfillColor%3D%23d5e8d4%3BstrokeColor%3D%2382b366%3B%22%20value%3D%22%22%20vertex%3D%221%22%3E%3CmxGeometry%20height%3D%2250%22%20width%3D%22560%22%20x%3D%22120%22%20y%3D%22360%22%20as%3D%22geometry%22%2F%3E%3C%2FmxCell%3E%3CmxCell%20id%3D%2211%22%20parent%3D%221%22%20style%3D%22text%3Bhtml%3D1%3BwhiteSpace%3Dwrap%3BstrokeColor%3Dnone%3BfillColor%3Dnone%3Balign%3Dcenter%3BverticalAlign%3Dmiddle%3Brounded%3D0%3B%22%20value%3D%22%2Froot%2Fdisk.img%22%20vertex%3D%221%22%3E%3CmxGeometry%20height%3D%2230%22%20width%3D%2280%22%20x%3D%22120%22%20y%3D%22350%22%20as%3D%22geometry%22%2F%3E%3C%2FmxCell%3E%3CmxCell%20id%3D%2212%22%20parent%3D%221%22%20style%3D%22rounded%3D0%3BwhiteSpace%3Dwrap%3Bhtml%3D1%3BfillColor%3D%23dae8fc%3BstrokeColor%3D%236c8ebf%3B%22%20value%3D%22%22%20vertex%3D%221%22%3E%3CmxGeometry%20height%3D%2230%22%20width%3D%22560%22%20x%3D%22120%22%20y%3D%22380%22%20as%3D%22geometry%22%2F%3E%3C%2FmxCell%3E%3CmxCell%20id%3D%2213%22%20parent%3D%221%22%20style%3D%22text%3Bhtml%3D1%3BwhiteSpace%3Dwrap%3BstrokeColor%3Dnone%3BfillColor%3Dnone%3Balign%3Dcenter%3BverticalAlign%3Dmiddle%3Brounded%3D0%3B%22%20value%3D%22FAT32%22%20vertex%3D%221%22%3E%3CmxGeometry%20height%3D%2230%22%20width%3D%2260%22%20x%3D%22120%22%20y%3D%22370%22%20as%3D%22geometry%22%2F%3E%3C%2FmxCell%3E%3CmxCell%20id%3D%2214%22%20parent%3D%221%22%20style%3D%22rounded%3D0%3BwhiteSpace%3Dwrap%3Bhtml%3D1%3BfillColor%3D%23d5e8d4%3BstrokeColor%3D%2382b366%3B%22%20value%3D%22hello%22%20vertex%3D%221%22%3E%3CmxGeometry%20height%3D%2220%22%20width%3D%2280%22%20x%3D%22180%22%20y%3D%22385%22%20as%3D%22geometry%22%2F%3E%3C%2FmxCell%3E%3C%2Froot%3E%3C%2FmxGraphModel%3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c9c533cd8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c9c533cd8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b74cbdbb6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b74cbdbb6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d8c99709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d8c99709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b74cbdbb6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b74cbdbb6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b2b89d6183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b2b89d6183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c9c533cd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c9c533cd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d8c99709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d8c99709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b89492cd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b89492cd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c9c533cd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c9c533cd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b2b89d618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b2b89d618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b2b89d618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b2b89d618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/run и /dev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Relationship Id="rId4" Type="http://schemas.openxmlformats.org/officeDocument/2006/relationships/hyperlink" Target="https://habr.com/ru/companies/flant/articles/348324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cs.google.com/forms/d/e/1FAIpQLSeN_cjY2LmsuetBv3_0oOoHCb1Iy8VYOJe9OGAY412RXOz_nA/viewform" TargetMode="External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Файловые системы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FAT32</a:t>
            </a:r>
            <a:endParaRPr sz="2500"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27975"/>
            <a:ext cx="4562876" cy="30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600" y="1216588"/>
            <a:ext cx="4443150" cy="271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Файловые системы</a:t>
            </a:r>
            <a:endParaRPr sz="2500"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311700" y="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{D52415D6-0716-4B68-8519-E9AB660C77DC}</a:tableStyleId>
              </a:tblPr>
              <a:tblGrid>
                <a:gridCol w="2941925"/>
                <a:gridCol w="2039325"/>
                <a:gridCol w="3539375"/>
              </a:tblGrid>
              <a:tr h="45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Название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Разработчик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Особенности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45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ext2/ext3/ext4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Open source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Изначальные ФС для linux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5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btrfs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Open source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Гибкость в управлении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5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NTFS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Microsoft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Поддержка Windows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5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FAT/exFAT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Microsoft*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Поддержка всеми ОС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5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HFS+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Apple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Поддержка Mac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5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ZFS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Open source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Гибкость в управлении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Сравнение файловых систем</a:t>
            </a:r>
            <a:endParaRPr sz="2500"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347950" y="56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{D52415D6-0716-4B68-8519-E9AB660C77DC}</a:tableStyleId>
              </a:tblPr>
              <a:tblGrid>
                <a:gridCol w="2742450"/>
                <a:gridCol w="737650"/>
                <a:gridCol w="708925"/>
                <a:gridCol w="724125"/>
                <a:gridCol w="743800"/>
                <a:gridCol w="697800"/>
                <a:gridCol w="655525"/>
                <a:gridCol w="758175"/>
                <a:gridCol w="715875"/>
              </a:tblGrid>
              <a:tr h="41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ext2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ext3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ext4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BTRFS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ZFS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HFS+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exFAT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NTFS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Макс. размер файла</a:t>
                      </a:r>
                      <a:endParaRPr sz="15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 ТиБ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 ТиБ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 ТиБ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16 ЭиБ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16 ЭиБ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 ЭиБ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16 ЭиБ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 ЭиБ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Макс. размер тома</a:t>
                      </a:r>
                      <a:endParaRPr sz="15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32 ТиБ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32 ТиБ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ЭиБ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 ЭиБ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 ЭиБ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 ЭиБ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512 ТиБ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 ЭиБ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Информация о владельце</a:t>
                      </a:r>
                      <a:endParaRPr sz="15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Права файлов</a:t>
                      </a:r>
                      <a:endParaRPr sz="15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Симлинки</a:t>
                      </a:r>
                      <a:endParaRPr sz="15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+/-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Журналирование</a:t>
                      </a:r>
                      <a:endParaRPr sz="15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CoW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CoW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+/-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Шифрование</a:t>
                      </a:r>
                      <a:endParaRPr sz="1500"/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Экстенты</a:t>
                      </a:r>
                      <a:endParaRPr sz="1500"/>
                    </a:p>
                  </a:txBody>
                  <a:tcPr marT="0" marB="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Контрольная сумма</a:t>
                      </a:r>
                      <a:endParaRPr sz="1500"/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Дедупликация</a:t>
                      </a:r>
                      <a:endParaRPr sz="1500"/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Снапшоты</a:t>
                      </a:r>
                      <a:endParaRPr sz="1500"/>
                    </a:p>
                  </a:txBody>
                  <a:tcPr marT="0" marB="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+/-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ext2</a:t>
            </a:r>
            <a:endParaRPr sz="2500"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62075"/>
            <a:ext cx="8520600" cy="3811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ext3</a:t>
            </a:r>
            <a:endParaRPr sz="2500"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16905"/>
            <a:ext cx="8520600" cy="3372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ext4</a:t>
            </a:r>
            <a:endParaRPr sz="2500"/>
          </a:p>
        </p:txBody>
      </p:sp>
      <p:sp>
        <p:nvSpPr>
          <p:cNvPr id="91" name="Google Shape;91;p19"/>
          <p:cNvSpPr txBox="1"/>
          <p:nvPr/>
        </p:nvSpPr>
        <p:spPr>
          <a:xfrm>
            <a:off x="311700" y="867325"/>
            <a:ext cx="4068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экстенты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блочное выделение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отложенное выделение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расширенный inode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динамическое выделение inode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онлайн дефрагментация</a:t>
            </a:r>
            <a:endParaRPr sz="1600"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3175" y="1793398"/>
            <a:ext cx="5040825" cy="335010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607350" y="2571738"/>
            <a:ext cx="3477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Один файл - один inode</a:t>
            </a:r>
            <a:endParaRPr b="1"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lsblk</a:t>
            </a:r>
            <a:endParaRPr sz="2500"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  ~ lsblk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        MAJ:MIN RM   SIZE RO TYPE MOUNTPOINTS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loop0         7:0    0     4K  1 loop /snap/bare/5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loop1         7:1    0  55,5M  1 loop /snap/core18/2976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loop2         7:2    0  55,5M  1 loop /snap/core18/2979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loop3         7:3    0  63,8M  1 loop /snap/core20/2686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loop4         7:4    0  63,8M  1 loop /snap/core20/2717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loop5         7:5    0    74M  1 loop /snap/core22/2292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nvme0n1     259:0    0 476,9G  0 disk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├─nvme0n1p1 259:1    0   100M  0 part /boot/efi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├─nvme0n1p2 259:2    0    16M  0 part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├─nvme0n1p3 259:3    0 237,1G  0 part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├─nvme0n1p4 259:4    0  1013M  0 part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├─nvme0n1p5 259:5    0 221,2G  0 part /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├─nvme0n1p6 259:6    0  15,8G  0 part [SWAP]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└─nvme0n1p7 259:7    0   1,7G  0 part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Управление разделами</a:t>
            </a:r>
            <a:endParaRPr sz="2500"/>
          </a:p>
        </p:txBody>
      </p:sp>
      <p:sp>
        <p:nvSpPr>
          <p:cNvPr id="105" name="Google Shape;105;p21"/>
          <p:cNvSpPr txBox="1"/>
          <p:nvPr/>
        </p:nvSpPr>
        <p:spPr>
          <a:xfrm>
            <a:off x="311700" y="560525"/>
            <a:ext cx="85206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root@TyVik-XPS:~# parted -l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Model: PC401 NVMe SK hynix 512GB (nvme)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Disk /dev/nvme0n1: 512GB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Sector size (logical/physical): 512B/512B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Partition Table: gpt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Disk Flags: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Number  Start   End    Size    File system     Name                          Flags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1      1049kB  106MB  105MB   fat32           EFI system partition          boot, esp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2      106MB   123MB  16,8MB                  Microsoft reserved partition  msftres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3      123MB   255GB  255GB                   Basic data partition          msftdata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4      255GB   256GB  1062MB  ntfs                                          hidden, diag, no_automount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5      256GB   493GB  237GB   ext4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6      493GB   510GB  17,0GB  linux-swap(v1)                                swap, no_automount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7      510GB   512GB  1877MB  ntfs            Basic data partition          hidden, diag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MBR vs GPT</a:t>
            </a:r>
            <a:endParaRPr sz="2500"/>
          </a:p>
        </p:txBody>
      </p:sp>
      <p:graphicFrame>
        <p:nvGraphicFramePr>
          <p:cNvPr id="111" name="Google Shape;111;p22"/>
          <p:cNvGraphicFramePr/>
          <p:nvPr/>
        </p:nvGraphicFramePr>
        <p:xfrm>
          <a:off x="311700" y="57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{D52415D6-0716-4B68-8519-E9AB660C77DC}</a:tableStyleId>
              </a:tblPr>
              <a:tblGrid>
                <a:gridCol w="1547750"/>
                <a:gridCol w="1049300"/>
                <a:gridCol w="1554750"/>
              </a:tblGrid>
              <a:tr h="38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MBR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GPT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Совместимость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полная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есть нюансы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5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Количество разделов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4*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5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Максимальный размер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2Tb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9.4Zb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5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Резервная копия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нет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есть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5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Проверка целостности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нет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CRC32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3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Поддержка UEFI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частично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полная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3508" y="572700"/>
            <a:ext cx="4680493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Управление разделами</a:t>
            </a:r>
            <a:endParaRPr sz="2500"/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425" y="2571750"/>
            <a:ext cx="4257150" cy="22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3" title="Диаграмма без названия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560525"/>
            <a:ext cx="8467124" cy="190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Управление разделами</a:t>
            </a:r>
            <a:endParaRPr sz="2500"/>
          </a:p>
        </p:txBody>
      </p:sp>
      <p:sp>
        <p:nvSpPr>
          <p:cNvPr id="125" name="Google Shape;125;p24"/>
          <p:cNvSpPr txBox="1"/>
          <p:nvPr/>
        </p:nvSpPr>
        <p:spPr>
          <a:xfrm>
            <a:off x="311700" y="560525"/>
            <a:ext cx="85206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Создание пустого файла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dd if=/dev/zero of=disk.img count=2000 bs=1M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Будем создавать в нём файловую систему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parted disk.img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Разметим под MBR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(parted) mktable msdos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Создадим раздел и отформатируем в fat32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(parted) mkpart primary fat32 0 -0М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Подключаем как блочное устройство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losetup --partscan --show --find disk.img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Просмотр байт на диске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hd disk.img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Управление файловыми системами</a:t>
            </a:r>
            <a:endParaRPr sz="2500"/>
          </a:p>
        </p:txBody>
      </p:sp>
      <p:sp>
        <p:nvSpPr>
          <p:cNvPr id="131" name="Google Shape;131;p25"/>
          <p:cNvSpPr txBox="1"/>
          <p:nvPr/>
        </p:nvSpPr>
        <p:spPr>
          <a:xfrm>
            <a:off x="311700" y="560525"/>
            <a:ext cx="85206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Создание ФС (</a:t>
            </a:r>
            <a:r>
              <a:rPr b="1" lang="en" sz="1600"/>
              <a:t>m</a:t>
            </a:r>
            <a:r>
              <a:rPr lang="en" sz="1600"/>
              <a:t>a</a:t>
            </a:r>
            <a:r>
              <a:rPr b="1" lang="en" sz="1600"/>
              <a:t>k</a:t>
            </a:r>
            <a:r>
              <a:rPr lang="en" sz="1600"/>
              <a:t>e </a:t>
            </a:r>
            <a:r>
              <a:rPr b="1" lang="en" sz="1600"/>
              <a:t>f</a:t>
            </a:r>
            <a:r>
              <a:rPr lang="en" sz="1600"/>
              <a:t>ile </a:t>
            </a:r>
            <a:r>
              <a:rPr b="1" lang="en" sz="1600"/>
              <a:t>s</a:t>
            </a:r>
            <a:r>
              <a:rPr lang="en" sz="1600"/>
              <a:t>ystem):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mkfs -t fat /dev/loop2p1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Монтирование ФС: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mount /dev/loop2p1 /media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Список точек монтирования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# mount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Размонтирование ФС: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umount /media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Файловая система в оперативной памяти</a:t>
            </a:r>
            <a:endParaRPr sz="2500"/>
          </a:p>
        </p:txBody>
      </p:sp>
      <p:sp>
        <p:nvSpPr>
          <p:cNvPr id="137" name="Google Shape;137;p26"/>
          <p:cNvSpPr txBox="1"/>
          <p:nvPr/>
        </p:nvSpPr>
        <p:spPr>
          <a:xfrm>
            <a:off x="311700" y="560525"/>
            <a:ext cx="85206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Монтирование оперативной памяти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</a:t>
            </a:r>
            <a:r>
              <a:rPr lang="en" sz="1600">
                <a:solidFill>
                  <a:schemeClr val="dk1"/>
                </a:solidFill>
              </a:rPr>
              <a:t>mount -t tmpfs -o size=2G tmpfs /media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dd if=/dev/zero of=/media/123 bs=1M count=4096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4096+0 records in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4096+0 records out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4294967296 bytes (4,3 GB, 4,0 GiB) copied, 1,07737 s, 4,0 GB/s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dd if=/dev/zero of=123 bs=1M count=4096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4096+0 records in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4096+0 records out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4294967296 bytes (4,3 GB, 4,0 GiB) copied, 1,53082 s, 2,8 GB/s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/etc/fstab</a:t>
            </a:r>
            <a:endParaRPr sz="2500"/>
          </a:p>
        </p:txBody>
      </p:sp>
      <p:sp>
        <p:nvSpPr>
          <p:cNvPr id="143" name="Google Shape;143;p27"/>
          <p:cNvSpPr txBox="1"/>
          <p:nvPr/>
        </p:nvSpPr>
        <p:spPr>
          <a:xfrm>
            <a:off x="311650" y="1884700"/>
            <a:ext cx="39213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 sz="1800">
                <a:solidFill>
                  <a:srgbClr val="0000FF"/>
                </a:solidFill>
              </a:rPr>
              <a:t>UID – идентификатор раздела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800"/>
              <a:buChar char="●"/>
            </a:pPr>
            <a:r>
              <a:rPr lang="en" sz="1800">
                <a:solidFill>
                  <a:srgbClr val="9900FF"/>
                </a:solidFill>
              </a:rPr>
              <a:t>Точка монтирования</a:t>
            </a:r>
            <a:endParaRPr sz="1800">
              <a:solidFill>
                <a:srgbClr val="99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 sz="1800">
                <a:solidFill>
                  <a:srgbClr val="FF9900"/>
                </a:solidFill>
              </a:rPr>
              <a:t>Тип ФС</a:t>
            </a:r>
            <a:endParaRPr sz="1800">
              <a:solidFill>
                <a:srgbClr val="FF99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 sz="1800">
                <a:solidFill>
                  <a:srgbClr val="38761D"/>
                </a:solidFill>
              </a:rPr>
              <a:t>Опции монтирования</a:t>
            </a:r>
            <a:endParaRPr sz="1800"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Резервное копирование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Приоритет проверки</a:t>
            </a:r>
            <a:endParaRPr sz="1800"/>
          </a:p>
        </p:txBody>
      </p:sp>
      <p:graphicFrame>
        <p:nvGraphicFramePr>
          <p:cNvPr id="144" name="Google Shape;144;p27"/>
          <p:cNvGraphicFramePr/>
          <p:nvPr/>
        </p:nvGraphicFramePr>
        <p:xfrm>
          <a:off x="4456875" y="248215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{B8BC1729-34EA-457B-9646-632B2B9B3D8C}</a:tableStyleId>
              </a:tblPr>
              <a:tblGrid>
                <a:gridCol w="1162025"/>
                <a:gridCol w="1620975"/>
                <a:gridCol w="1904125"/>
              </a:tblGrid>
              <a:tr h="35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Опция</a:t>
                      </a:r>
                      <a:endParaRPr b="1"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Описание</a:t>
                      </a:r>
                      <a:endParaRPr b="1"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Пример </a:t>
                      </a:r>
                      <a:endParaRPr b="1"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15CED"/>
                          </a:solidFill>
                          <a:highlight>
                            <a:srgbClr val="EFEE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rw</a:t>
                      </a:r>
                      <a:r>
                        <a:rPr lang="en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/</a:t>
                      </a:r>
                      <a:r>
                        <a:rPr lang="en" sz="1200">
                          <a:solidFill>
                            <a:srgbClr val="615CED"/>
                          </a:solidFill>
                          <a:highlight>
                            <a:srgbClr val="EFEE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</a:t>
                      </a:r>
                      <a:endParaRPr sz="1200">
                        <a:solidFill>
                          <a:srgbClr val="615CED"/>
                        </a:solidFill>
                        <a:highlight>
                          <a:srgbClr val="EFEE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Чтение-запись / только чтение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15CED"/>
                          </a:solidFill>
                          <a:highlight>
                            <a:srgbClr val="EFEE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</a:t>
                      </a:r>
                      <a:r>
                        <a:rPr lang="en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 для резервных копий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15CED"/>
                          </a:solidFill>
                          <a:highlight>
                            <a:srgbClr val="EFEE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noatime</a:t>
                      </a:r>
                      <a:endParaRPr sz="1200">
                        <a:solidFill>
                          <a:srgbClr val="615CED"/>
                        </a:solidFill>
                        <a:highlight>
                          <a:srgbClr val="EFEE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Не обновлять время доступа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Ускорение чтения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15CED"/>
                          </a:solidFill>
                          <a:highlight>
                            <a:srgbClr val="EFEE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sync</a:t>
                      </a:r>
                      <a:r>
                        <a:rPr lang="en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/</a:t>
                      </a:r>
                      <a:r>
                        <a:rPr lang="en" sz="1200">
                          <a:solidFill>
                            <a:srgbClr val="615CED"/>
                          </a:solidFill>
                          <a:highlight>
                            <a:srgbClr val="EFEE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async</a:t>
                      </a:r>
                      <a:endParaRPr sz="1200">
                        <a:solidFill>
                          <a:srgbClr val="615CED"/>
                        </a:solidFill>
                        <a:highlight>
                          <a:srgbClr val="EFEE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Синхронная запись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15CED"/>
                          </a:solidFill>
                          <a:highlight>
                            <a:srgbClr val="EFEE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sync</a:t>
                      </a:r>
                      <a:r>
                        <a:rPr lang="en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 для критичных данных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15CED"/>
                          </a:solidFill>
                          <a:highlight>
                            <a:srgbClr val="EFEE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defaults</a:t>
                      </a:r>
                      <a:endParaRPr sz="1200">
                        <a:solidFill>
                          <a:srgbClr val="615CED"/>
                        </a:solidFill>
                        <a:highlight>
                          <a:srgbClr val="EFEE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Стандартный набор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rw,suid,dev,exec,auto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45" name="Google Shape;145;p27"/>
          <p:cNvSpPr txBox="1"/>
          <p:nvPr/>
        </p:nvSpPr>
        <p:spPr>
          <a:xfrm>
            <a:off x="311650" y="633100"/>
            <a:ext cx="8520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&lt;file system&gt; &lt;mount point&gt;   &lt;type&gt;  &lt;options&gt;       &lt;dump&gt;  &lt;pass&gt;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UUID=ac7cf566-f638-4b46-9946-059588514f8a</a:t>
            </a: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3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n" sz="13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ext4</a:t>
            </a: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errors=remount-ro</a:t>
            </a: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0	1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UUID=4209cd8b-7bac-418f-b03f-f6befb4aaa5f</a:t>
            </a: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3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n" sz="13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swap</a:t>
            </a: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sw</a:t>
            </a: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0	0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UUID=740E-C232</a:t>
            </a: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		</a:t>
            </a:r>
            <a:r>
              <a:rPr b="1" lang="en" sz="13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/boot/efi</a:t>
            </a: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3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vfat</a:t>
            </a: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defaults</a:t>
            </a: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0	1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Использование ФС</a:t>
            </a:r>
            <a:endParaRPr sz="2500"/>
          </a:p>
        </p:txBody>
      </p:sp>
      <p:sp>
        <p:nvSpPr>
          <p:cNvPr id="151" name="Google Shape;151;p28"/>
          <p:cNvSpPr txBox="1"/>
          <p:nvPr/>
        </p:nvSpPr>
        <p:spPr>
          <a:xfrm>
            <a:off x="211300" y="56052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</a:t>
            </a:r>
            <a:r>
              <a:rPr lang="en" sz="1600"/>
              <a:t>f (</a:t>
            </a:r>
            <a:r>
              <a:rPr b="1" lang="en" sz="1600"/>
              <a:t>d</a:t>
            </a:r>
            <a:r>
              <a:rPr lang="en" sz="1600"/>
              <a:t>isk </a:t>
            </a:r>
            <a:r>
              <a:rPr b="1" lang="en" sz="1600"/>
              <a:t>f</a:t>
            </a:r>
            <a:r>
              <a:rPr lang="en" sz="1600"/>
              <a:t>ree)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df -Th</a:t>
            </a:r>
            <a:endParaRPr sz="1600"/>
          </a:p>
        </p:txBody>
      </p:sp>
      <p:pic>
        <p:nvPicPr>
          <p:cNvPr id="152" name="Google Shape;15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300" y="1237625"/>
            <a:ext cx="4824700" cy="215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288" y="4130575"/>
            <a:ext cx="532447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8"/>
          <p:cNvSpPr txBox="1"/>
          <p:nvPr/>
        </p:nvSpPr>
        <p:spPr>
          <a:xfrm>
            <a:off x="211300" y="3421650"/>
            <a:ext cx="637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du (disk usage)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$ du -hd 1 /home/tyvik/Projects/numicoins/to\ print/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6275" y="1358200"/>
            <a:ext cx="3436024" cy="203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 txBox="1"/>
          <p:nvPr/>
        </p:nvSpPr>
        <p:spPr>
          <a:xfrm>
            <a:off x="5396275" y="844825"/>
            <a:ext cx="343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$ ncdu /var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Низкоуровневая работа с ФС</a:t>
            </a:r>
            <a:endParaRPr sz="2500"/>
          </a:p>
        </p:txBody>
      </p:sp>
      <p:sp>
        <p:nvSpPr>
          <p:cNvPr id="162" name="Google Shape;162;p29"/>
          <p:cNvSpPr txBox="1"/>
          <p:nvPr/>
        </p:nvSpPr>
        <p:spPr>
          <a:xfrm>
            <a:off x="311675" y="592900"/>
            <a:ext cx="8520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Подробная информация о ФС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# tune2fs -l /dev/nvme0n1p5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Информация о ФС из суперблока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dumpe2fs -h /dev/nvme0n1p5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Просмотр содержимого блоков: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debugfs /dev/nvme0n1p5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stat &lt;path&gt; - информация об inode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blocks &lt;path&gt; - список занимаемых блоков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block_dump &lt;block&gt; - прочитать информацию из блока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Статистика использования inode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df -i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TestDisk / PhotoRec</a:t>
            </a:r>
            <a:endParaRPr sz="2500"/>
          </a:p>
        </p:txBody>
      </p:sp>
      <p:sp>
        <p:nvSpPr>
          <p:cNvPr id="168" name="Google Shape;168;p30"/>
          <p:cNvSpPr txBox="1"/>
          <p:nvPr/>
        </p:nvSpPr>
        <p:spPr>
          <a:xfrm>
            <a:off x="311675" y="592900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0000"/>
                </a:solidFill>
              </a:rPr>
              <a:t>Всегда работайте с образом!</a:t>
            </a:r>
            <a:endParaRPr b="1"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# ddrescue -f -n /dev/sdb /root/disk-image.img /root/recovery.log</a:t>
            </a:r>
            <a:endParaRPr sz="1600"/>
          </a:p>
        </p:txBody>
      </p:sp>
      <p:pic>
        <p:nvPicPr>
          <p:cNvPr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90200"/>
            <a:ext cx="7475275" cy="18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325250"/>
            <a:ext cx="5105639" cy="16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swap</a:t>
            </a:r>
            <a:endParaRPr sz="2500"/>
          </a:p>
        </p:txBody>
      </p:sp>
      <p:sp>
        <p:nvSpPr>
          <p:cNvPr id="176" name="Google Shape;176;p31"/>
          <p:cNvSpPr txBox="1"/>
          <p:nvPr/>
        </p:nvSpPr>
        <p:spPr>
          <a:xfrm>
            <a:off x="311700" y="560525"/>
            <a:ext cx="3477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Проверить наличие: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swapon --show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Аллоцировать файл: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dd if=/dev/zero of=/swapfile bs=1M count=1024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Сделать доступным только root: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</a:t>
            </a:r>
            <a:r>
              <a:rPr lang="en" sz="1600"/>
              <a:t>chmod 600 /swapfile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Разметить раздел в файле: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mkswap /swapfile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Подключить в систему: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swapon /swapfile</a:t>
            </a:r>
            <a:endParaRPr sz="1600"/>
          </a:p>
        </p:txBody>
      </p:sp>
      <p:pic>
        <p:nvPicPr>
          <p:cNvPr id="177" name="Google Shape;17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0025" y="0"/>
            <a:ext cx="4523975" cy="356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1"/>
          <p:cNvSpPr txBox="1"/>
          <p:nvPr/>
        </p:nvSpPr>
        <p:spPr>
          <a:xfrm>
            <a:off x="311700" y="4774200"/>
            <a:ext cx="580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В защиту swap'а [в Linux]: распространенные заблуждения</a:t>
            </a:r>
            <a:endParaRPr sz="1200"/>
          </a:p>
        </p:txBody>
      </p:sp>
      <p:sp>
        <p:nvSpPr>
          <p:cNvPr id="179" name="Google Shape;179;p31"/>
          <p:cNvSpPr txBox="1"/>
          <p:nvPr/>
        </p:nvSpPr>
        <p:spPr>
          <a:xfrm>
            <a:off x="4620013" y="3562625"/>
            <a:ext cx="4524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$ sysctl vm.swappiness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0 – вы этого не хотите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1 - 10 – для серверов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10 - 30 – для рабочих машин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60 – значение по умолчанию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Оцените лекцию</a:t>
            </a:r>
            <a:endParaRPr sz="2500"/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311700" y="572700"/>
            <a:ext cx="4572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Гуглоформа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6" name="Google Shape;18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57150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Структура каталогов</a:t>
            </a:r>
            <a:endParaRPr sz="2500"/>
          </a:p>
        </p:txBody>
      </p:sp>
      <p:sp>
        <p:nvSpPr>
          <p:cNvPr id="192" name="Google Shape;192;p33"/>
          <p:cNvSpPr txBox="1"/>
          <p:nvPr/>
        </p:nvSpPr>
        <p:spPr>
          <a:xfrm>
            <a:off x="311700" y="560525"/>
            <a:ext cx="45696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/</a:t>
            </a:r>
            <a:r>
              <a:rPr lang="en" sz="1500"/>
              <a:t> - корень (root)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b</a:t>
            </a:r>
            <a:r>
              <a:rPr b="1" lang="en" sz="1500"/>
              <a:t>in/</a:t>
            </a:r>
            <a:r>
              <a:rPr lang="en" sz="1500"/>
              <a:t> - стандартные утилиты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b</a:t>
            </a:r>
            <a:r>
              <a:rPr b="1" lang="en" sz="1500"/>
              <a:t>oot/</a:t>
            </a:r>
            <a:r>
              <a:rPr lang="en" sz="1500"/>
              <a:t> - образы ядра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d</a:t>
            </a:r>
            <a:r>
              <a:rPr b="1" lang="en" sz="1500"/>
              <a:t>ev/</a:t>
            </a:r>
            <a:r>
              <a:rPr lang="en" sz="1500"/>
              <a:t> - файлы устройств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etc/</a:t>
            </a:r>
            <a:r>
              <a:rPr lang="en" sz="1500">
                <a:solidFill>
                  <a:schemeClr val="dk1"/>
                </a:solidFill>
              </a:rPr>
              <a:t> - конфигурационные файлы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h</a:t>
            </a:r>
            <a:r>
              <a:rPr b="1" lang="en" sz="1500"/>
              <a:t>ome/</a:t>
            </a:r>
            <a:r>
              <a:rPr lang="en" sz="1500"/>
              <a:t> - домашние каталоги пользователей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lib/</a:t>
            </a:r>
            <a:r>
              <a:rPr lang="en" sz="1500"/>
              <a:t> - системные библиотеки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media/</a:t>
            </a:r>
            <a:r>
              <a:rPr lang="en" sz="1500"/>
              <a:t> - подключаемые носители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mnt/</a:t>
            </a:r>
            <a:r>
              <a:rPr lang="en" sz="1500"/>
              <a:t> - точки монтирования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o</a:t>
            </a:r>
            <a:r>
              <a:rPr b="1" lang="en" sz="1500"/>
              <a:t>pt/</a:t>
            </a:r>
            <a:r>
              <a:rPr lang="en" sz="1500"/>
              <a:t> - дополнительные пакеты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proc/</a:t>
            </a:r>
            <a:r>
              <a:rPr lang="en" sz="1500"/>
              <a:t> - информация о процессах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root/</a:t>
            </a:r>
            <a:r>
              <a:rPr lang="en" sz="1500"/>
              <a:t> - домашний каталог пользователя root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run/</a:t>
            </a:r>
            <a:r>
              <a:rPr lang="en" sz="1500"/>
              <a:t> - идентификаторы процессов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s</a:t>
            </a:r>
            <a:r>
              <a:rPr b="1" lang="en" sz="1500"/>
              <a:t>bin/</a:t>
            </a:r>
            <a:r>
              <a:rPr lang="en" sz="1500"/>
              <a:t> - системные утилиты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tmp/</a:t>
            </a:r>
            <a:r>
              <a:rPr lang="en" sz="1500"/>
              <a:t> - временные файлы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u</a:t>
            </a:r>
            <a:r>
              <a:rPr b="1" lang="en" sz="1500"/>
              <a:t>sr/</a:t>
            </a:r>
            <a:r>
              <a:rPr lang="en" sz="1500"/>
              <a:t> - каталоги приложений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v</a:t>
            </a:r>
            <a:r>
              <a:rPr b="1" lang="en" sz="1500"/>
              <a:t>ar/</a:t>
            </a:r>
            <a:r>
              <a:rPr lang="en" sz="1500"/>
              <a:t> - часто изменяющиеся файлы</a:t>
            </a:r>
            <a:endParaRPr sz="1500"/>
          </a:p>
        </p:txBody>
      </p:sp>
      <p:sp>
        <p:nvSpPr>
          <p:cNvPr id="193" name="Google Shape;193;p33"/>
          <p:cNvSpPr txBox="1"/>
          <p:nvPr/>
        </p:nvSpPr>
        <p:spPr>
          <a:xfrm>
            <a:off x="4881300" y="560525"/>
            <a:ext cx="3951000" cy="2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/usr/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bin/</a:t>
            </a:r>
            <a:r>
              <a:rPr lang="en" sz="1500"/>
              <a:t> - исполняемые файлы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include/</a:t>
            </a:r>
            <a:r>
              <a:rPr lang="en" sz="1500"/>
              <a:t> - заголовочные файлы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lib/</a:t>
            </a:r>
            <a:r>
              <a:rPr lang="en" sz="1500"/>
              <a:t> - библиотеки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local/</a:t>
            </a:r>
            <a:r>
              <a:rPr lang="en" sz="1500"/>
              <a:t> - приложения, установленные не через пакетный менеджер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sbin/</a:t>
            </a:r>
            <a:r>
              <a:rPr lang="en" sz="1500"/>
              <a:t> - исполняемые систем. файлы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share/</a:t>
            </a:r>
            <a:r>
              <a:rPr lang="en" sz="1500"/>
              <a:t> - каталоги приложений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src/</a:t>
            </a:r>
            <a:r>
              <a:rPr lang="en" sz="1500"/>
              <a:t> - исходники программ</a:t>
            </a:r>
            <a:endParaRPr sz="1500"/>
          </a:p>
        </p:txBody>
      </p:sp>
      <p:sp>
        <p:nvSpPr>
          <p:cNvPr id="194" name="Google Shape;194;p33"/>
          <p:cNvSpPr txBox="1"/>
          <p:nvPr/>
        </p:nvSpPr>
        <p:spPr>
          <a:xfrm>
            <a:off x="4966350" y="2909525"/>
            <a:ext cx="3866100" cy="17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/var/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cache/</a:t>
            </a:r>
            <a:r>
              <a:rPr lang="en" sz="1500"/>
              <a:t> - кэши программ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log/</a:t>
            </a:r>
            <a:r>
              <a:rPr lang="en" sz="1500"/>
              <a:t> - логи программ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lib/</a:t>
            </a:r>
            <a:r>
              <a:rPr lang="en" sz="1500"/>
              <a:t> - базы данных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spool/</a:t>
            </a:r>
            <a:r>
              <a:rPr lang="en" sz="1500"/>
              <a:t> - очередь печати CUPS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lock/</a:t>
            </a:r>
            <a:r>
              <a:rPr lang="en" sz="1500"/>
              <a:t> - файлы блокировок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run/</a:t>
            </a:r>
            <a:r>
              <a:rPr lang="en" sz="1500"/>
              <a:t> - PID программ</a:t>
            </a:r>
            <a:endParaRPr sz="1500"/>
          </a:p>
        </p:txBody>
      </p:sp>
      <p:sp>
        <p:nvSpPr>
          <p:cNvPr id="195" name="Google Shape;195;p33"/>
          <p:cNvSpPr txBox="1"/>
          <p:nvPr/>
        </p:nvSpPr>
        <p:spPr>
          <a:xfrm>
            <a:off x="311700" y="4831800"/>
            <a:ext cx="10416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$ man hier</a:t>
            </a:r>
            <a:endParaRPr i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Типы файлов</a:t>
            </a:r>
            <a:endParaRPr sz="2500"/>
          </a:p>
        </p:txBody>
      </p:sp>
      <p:pic>
        <p:nvPicPr>
          <p:cNvPr id="201" name="Google Shape;20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6625" y="1873150"/>
            <a:ext cx="5807374" cy="32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4"/>
          <p:cNvSpPr txBox="1"/>
          <p:nvPr/>
        </p:nvSpPr>
        <p:spPr>
          <a:xfrm>
            <a:off x="311700" y="560525"/>
            <a:ext cx="8520600" cy="21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- = обычный файл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 = каталог (directory)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 = файл блочного устройства (block)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 = файл символьного устройства (char)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 = сокет(socket)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 = именованный канал (pipe)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 = символическая ссылка (link)</a:t>
            </a:r>
            <a:endParaRPr sz="1800"/>
          </a:p>
        </p:txBody>
      </p:sp>
      <p:sp>
        <p:nvSpPr>
          <p:cNvPr id="203" name="Google Shape;203;p34"/>
          <p:cNvSpPr txBox="1"/>
          <p:nvPr/>
        </p:nvSpPr>
        <p:spPr>
          <a:xfrm>
            <a:off x="311700" y="3373325"/>
            <a:ext cx="411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$ file /dev/nvme0n1p4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$ stat /dev/null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