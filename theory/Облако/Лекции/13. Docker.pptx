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company/domclick/blog/566224/" TargetMode="External"/><Relationship Id="rId3" Type="http://schemas.openxmlformats.org/officeDocument/2006/relationships/hyperlink" Target="https://habr.com/ru/post/541288/" TargetMode="External"/><Relationship Id="rId4" Type="http://schemas.openxmlformats.org/officeDocument/2006/relationships/hyperlink" Target="https://habr.com/ru/post/550562/" TargetMode="External"/><Relationship Id="rId5" Type="http://schemas.openxmlformats.org/officeDocument/2006/relationships/hyperlink" Target="http://docker-saigon.github.io/post/Docker-Internals/" TargetMode="External"/><Relationship Id="rId6" Type="http://schemas.openxmlformats.org/officeDocument/2006/relationships/hyperlink" Target="https://habr.com/ru/post/346634/" TargetMode="External"/><Relationship Id="rId7" Type="http://schemas.openxmlformats.org/officeDocument/2006/relationships/hyperlink" Target="https://www.freecodecamp.org/news/the-docker-handbook/?fbclid=IwAR1NFmQyhGAxIs9-TJ7paAIrUv1ch3u_cLUTPyFXQKaXLF_H9QShCaTEIg8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company/skillfactory/blog/547116/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kerlabs.collabnix.com/beginners/building-docker-image-from-scratch.html" TargetMode="External"/><Relationship Id="rId3" Type="http://schemas.openxmlformats.org/officeDocument/2006/relationships/hyperlink" Target="http://timelessname.com/elfbin/" TargetMode="External"/><Relationship Id="rId4" Type="http://schemas.openxmlformats.org/officeDocument/2006/relationships/hyperlink" Target="https://github.com/docker-library/python" TargetMode="Externa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github.com/TyVik/geopuzzle/blob/develop/Dockerfile.backend" TargetMode="Externa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https://habr.com/ru/company/domclick/blog/566224/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https://habr.com/ru/post/541288/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https://habr.com/ru/post/550562/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http://docker-saigon.github.io/post/Docker-Internals/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https://habr.com/ru/post/346634/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7"/>
              </a:rPr>
              <a:t>https://www.freecodecamp.org/news/the-docker-handbook/?fbclid=IwAR1NFmQyhGAxIs9-TJ7paAIrUv1ch3u_cLUTPyFXQKaXLF_H9QShCaTEIg8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https://habr.com/ru/company/wunderfund/blog/586778/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https://habr.com/ru/company/flant/blog/336654/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https://habr.com/ru/articles/822707/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https://habr.com/ru/companies/netologyru/articles/967546/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3c79e29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3c79e29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d3c79e299f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d3c79e299f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d3c79e299f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d3c79e299f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691b430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691b430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691b4303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691b4303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d3c79e299f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d3c79e299f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d3c79e299f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d3c79e299f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691b4303f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5691b4303f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24efbad0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24efbad0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d40367dd7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d40367dd7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d3c79e299f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d3c79e299f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https://habr.com/ru/companies/nixys/articles/830830/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029b1c6d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029b1c6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691b4303f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691b4303f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"Изучаем внутренние компоненты Docker — Объединённая файловая система" </a:t>
            </a:r>
            <a:r>
              <a:rPr lang="en" u="sng">
                <a:solidFill>
                  <a:srgbClr val="0097A7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https://habr.com/ru/company/skillfactory/blog/547116/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d3c79e299f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d3c79e299f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691b4303f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5691b4303f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691b4303f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5691b4303f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"Building Docker Image from Scratch" </a:t>
            </a:r>
            <a:r>
              <a:rPr lang="en" u="sng">
                <a:solidFill>
                  <a:srgbClr val="0097A7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https://dockerlabs.collabnix.com/beginners/building-docker-image-from-scratch.html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http://timelessname.com/elfbin/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https://github.com/docker-library/python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d7df650c6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d7df650c6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.Dockerignore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d40367dd7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d40367dd7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.Dockerignore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5691b4303f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5691b4303f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https://github.com/TyVik/geopuzzle/blob/develop/Dockerfile.backend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d3c79e299f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d3c79e299f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d3c79e299f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d3c79e299f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ithub.com/alpinelinux/docker-alpine/tree/c9515859c035acbb899c6738506954e36f57e7dc/x86_64" TargetMode="External"/><Relationship Id="rId4" Type="http://schemas.openxmlformats.org/officeDocument/2006/relationships/hyperlink" Target="https://github.com/debuerreotype/docker-debian-artifacts/tree/337f494fae12a1db13a003cea38e74f43d312ee6/bullseye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Утилизация ресурсов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45175"/>
            <a:ext cx="3438474" cy="2253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1075" y="819425"/>
            <a:ext cx="4761227" cy="3504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4657033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Жизненный цикл контейнера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Работа с контейнерами</a:t>
            </a:r>
            <a:endParaRPr/>
          </a:p>
        </p:txBody>
      </p:sp>
      <p:sp>
        <p:nvSpPr>
          <p:cNvPr id="74" name="Google Shape;74;p16"/>
          <p:cNvSpPr txBox="1"/>
          <p:nvPr/>
        </p:nvSpPr>
        <p:spPr>
          <a:xfrm>
            <a:off x="116900" y="476900"/>
            <a:ext cx="8656200" cy="4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cp - копировать файлы между контейнером и хостом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create - создать новый контейнер из образа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exec - выполнить команду в уже </a:t>
            </a:r>
            <a:r>
              <a:rPr b="1" lang="en" sz="1900"/>
              <a:t>запущенном</a:t>
            </a:r>
            <a:r>
              <a:rPr lang="en" sz="1900"/>
              <a:t> контейнере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run - выполнить команду в </a:t>
            </a:r>
            <a:r>
              <a:rPr b="1" lang="en" sz="1900">
                <a:solidFill>
                  <a:schemeClr val="dk1"/>
                </a:solidFill>
              </a:rPr>
              <a:t>новом</a:t>
            </a:r>
            <a:r>
              <a:rPr lang="en" sz="1900">
                <a:solidFill>
                  <a:schemeClr val="dk1"/>
                </a:solidFill>
              </a:rPr>
              <a:t> контейнере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ps - список контейнеров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rename - переименовать контейнер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rm - удалить контейнер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start - запустить остановленный контейнер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stop - остановить работающий контейнер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restart - перезапустить контейнер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logs - прочитать логи контейнера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stats - посмотреть потребление ресурсов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top - вывести список процессов в контейнере</a:t>
            </a:r>
            <a:endParaRPr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Docker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311700" y="560525"/>
            <a:ext cx="8520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$ docker run </a:t>
            </a:r>
            <a:r>
              <a:rPr lang="en" sz="2000">
                <a:solidFill>
                  <a:schemeClr val="dk1"/>
                </a:solidFill>
              </a:rPr>
              <a:t>--cpus="2" --name="stress" --rm </a:t>
            </a:r>
            <a:r>
              <a:rPr lang="en" sz="2000"/>
              <a:t>tyvik/stress stress -c 4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$ docker update --cpus="0.5" stress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$ docker update --cpus="4" stress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$ docker pause stress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$ docker inspect stress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Производительность </a:t>
            </a:r>
            <a:r>
              <a:rPr lang="en" sz="2800">
                <a:solidFill>
                  <a:srgbClr val="000000"/>
                </a:solidFill>
              </a:rPr>
              <a:t>Docker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311700" y="560525"/>
            <a:ext cx="852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docker run tyvik/sysbench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sysbench cpu run --time=120 --threads=8</a:t>
            </a:r>
            <a:endParaRPr sz="1800"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5040" y="1299425"/>
            <a:ext cx="6833914" cy="384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Работа с образами и контейнерами</a:t>
            </a:r>
            <a:endParaRPr/>
          </a:p>
        </p:txBody>
      </p:sp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6726" y="572700"/>
            <a:ext cx="5590550" cy="450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Работа с образами</a:t>
            </a:r>
            <a:endParaRPr/>
          </a:p>
        </p:txBody>
      </p:sp>
      <p:sp>
        <p:nvSpPr>
          <p:cNvPr id="99" name="Google Shape;99;p20"/>
          <p:cNvSpPr txBox="1"/>
          <p:nvPr/>
        </p:nvSpPr>
        <p:spPr>
          <a:xfrm>
            <a:off x="116900" y="476900"/>
            <a:ext cx="86562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build - создать образ из Dockerfile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images - список всех образов на локальной машине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pull - скачать образ из registry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push - обновить образ в registry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rmi - удалить образ на локальной машине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tag - сделать тег для образа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inspect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docker inspect &lt;container_name_or_id&gt; | jq 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docker inspect -f '{{range .NetworkSettings.Networks}}{{.IPAddress}}{{end}}' &lt;container_name_or_id&gt;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Шпора</a:t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560525"/>
            <a:ext cx="8832300" cy="43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en" sz="720"/>
              <a:t># справочная информация</a:t>
            </a:r>
            <a:endParaRPr b="1"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--help # список доступных команд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&lt;command&gt; --help # информация по команде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 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--version # версия Docker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info # общая информация о системе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 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en" sz="720"/>
              <a:t># работа с образами</a:t>
            </a:r>
            <a:endParaRPr b="1"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search debian # поиск образов по ключевому слову debian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 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pull ubuntu # скачивание последней версии (тег по умолчанию latest) официального образа ubuntu (издатель не указывается) из репозитория по умолчанию docker.io/library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pull prom/prometheus # скачивание последней версии (latest) образа prometheus от издателя prom из репозитория docker.io/prom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pull docker.io/library/ubuntu:18.04 # скачивание из репозитория docker.io официального образа ubuntu с тегом 18.04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 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images # просмотр локальных образов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 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rmi &lt;image_name&gt;:&lt;tag&gt; # удаление образа. Вместо &lt;image_name&gt;:&lt;tag&gt; можно указать &lt;image_id&gt;. 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rmi $(docker images -aq) # удаление всех образов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 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en" sz="720"/>
              <a:t># работа с контейнерами</a:t>
            </a:r>
            <a:endParaRPr b="1"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run hello-world # Hello, world! в мире контейнеров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run -it ubuntu bash # запуск контейнера ubuntu и выполнение команды bash в интерактивном режиме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run --name docker-getting-started --publish 8080:80 docker/hello # запуск контейнера hello с отображением (маппингом) порта 8080 хоста на порт 80 внутрь контейнера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run --detach --name mongodb docker.io/library/mongo:4.4.10 # запуск контейнера mongodb с именем mongodb в фоновом режиме. Данные будут удалены при удалении контейнера!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 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ps # просмотр запущенных контейнеров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ps -a # просмотр всех контейнеров (в том числе остановленных)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stats --no-stream # просмотр статистики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 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start alpine # создание контейнера из образа alpine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 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start &lt;container_name&gt; # запуск созданного контейнера. Вместо &lt;container_name&gt; можно указать &lt;container_id&gt;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start $(docker ps -a -q) # запуск всех созданных контейнеров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 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stop &lt;container_name&gt; # остановка контейнера. Вместо &lt;container_name&gt; можно указать &lt;container_id&gt;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stop $(docker ps -a -q) # остановка всех контейнеров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 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rm &lt;container_name&gt; # удаление контейнера. Вместо &lt;container_name&gt; можно указать &lt;container_id&gt;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rm $(docker ps -a -q) # удаление всех контейнеров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 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en" sz="720"/>
              <a:t># система</a:t>
            </a:r>
            <a:endParaRPr b="1"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system info # общая информация о системе (соответствует docker info)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system df # занятое место на диске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system prune -af # удаление неиспользуемых данных и очистка диска</a:t>
            </a:r>
            <a:endParaRPr sz="72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Dockerfile</a:t>
            </a:r>
            <a:endParaRPr/>
          </a:p>
        </p:txBody>
      </p:sp>
      <p:sp>
        <p:nvSpPr>
          <p:cNvPr id="117" name="Google Shape;117;p23"/>
          <p:cNvSpPr txBox="1"/>
          <p:nvPr/>
        </p:nvSpPr>
        <p:spPr>
          <a:xfrm>
            <a:off x="311700" y="496500"/>
            <a:ext cx="8520600" cy="4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0000FF"/>
                </a:solidFill>
              </a:rPr>
              <a:t>FROM alpine:3.13</a:t>
            </a:r>
            <a:endParaRPr sz="19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ENV ENVIRONMENT=production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USER www-data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WORKDIR /usr/share/nginx/html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0000FF"/>
                </a:solidFill>
              </a:rPr>
              <a:t>RUN apk update &amp;&amp; apk add nginx</a:t>
            </a:r>
            <a:endParaRPr sz="19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0000FF"/>
                </a:solidFill>
              </a:rPr>
              <a:t>COPY</a:t>
            </a:r>
            <a:r>
              <a:rPr lang="en" sz="1900">
                <a:solidFill>
                  <a:srgbClr val="0000FF"/>
                </a:solidFill>
              </a:rPr>
              <a:t> app/</a:t>
            </a:r>
            <a:r>
              <a:rPr lang="en" sz="1900">
                <a:solidFill>
                  <a:srgbClr val="0000FF"/>
                </a:solidFill>
              </a:rPr>
              <a:t> </a:t>
            </a:r>
            <a:r>
              <a:rPr lang="en" sz="1900">
                <a:solidFill>
                  <a:srgbClr val="0000FF"/>
                </a:solidFill>
              </a:rPr>
              <a:t>/usr/share/nginx/html</a:t>
            </a:r>
            <a:endParaRPr sz="19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EXPOSE 80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STOPSIGNAL SIGQUIT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HEALTHCHECK --interval=5m --timeout=3s CMD curl -f http://127.0.0.1/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ENTRYPOINT ["sh"]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FF"/>
                </a:solidFill>
              </a:rPr>
              <a:t>CMD ["nginx"]</a:t>
            </a:r>
            <a:endParaRPr sz="19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ENTRYPOINT vs CMD</a:t>
            </a:r>
            <a:endParaRPr/>
          </a:p>
        </p:txBody>
      </p:sp>
      <p:sp>
        <p:nvSpPr>
          <p:cNvPr id="123" name="Google Shape;123;p24"/>
          <p:cNvSpPr txBox="1"/>
          <p:nvPr/>
        </p:nvSpPr>
        <p:spPr>
          <a:xfrm>
            <a:off x="311700" y="572700"/>
            <a:ext cx="85206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ENTRYPOINT - какой скрипт будет вызван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CMD - параметры этого скрипта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ENTRYPOINT ["</a:t>
            </a:r>
            <a:r>
              <a:rPr lang="en" sz="1800">
                <a:solidFill>
                  <a:srgbClr val="38761D"/>
                </a:solidFill>
              </a:rPr>
              <a:t>/entrypoint.sh</a:t>
            </a:r>
            <a:r>
              <a:rPr lang="en" sz="1800"/>
              <a:t>"]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CMD [«</a:t>
            </a:r>
            <a:r>
              <a:rPr lang="en" sz="1800">
                <a:solidFill>
                  <a:srgbClr val="0B5394"/>
                </a:solidFill>
              </a:rPr>
              <a:t>haproxy</a:t>
            </a:r>
            <a:r>
              <a:rPr lang="en" sz="1800"/>
              <a:t>», "</a:t>
            </a:r>
            <a:r>
              <a:rPr lang="en" sz="1800">
                <a:solidFill>
                  <a:srgbClr val="0B5394"/>
                </a:solidFill>
              </a:rPr>
              <a:t>-c</a:t>
            </a:r>
            <a:r>
              <a:rPr lang="en" sz="1800"/>
              <a:t>", "</a:t>
            </a:r>
            <a:r>
              <a:rPr lang="en" sz="1800">
                <a:solidFill>
                  <a:srgbClr val="0B5394"/>
                </a:solidFill>
              </a:rPr>
              <a:t>/etc/haproxy/haproxy.conf</a:t>
            </a:r>
            <a:r>
              <a:rPr lang="en" sz="1800"/>
              <a:t>"]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итого при старте контейнера будет запущена следующая команда: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sh -c "</a:t>
            </a:r>
            <a:r>
              <a:rPr lang="en" sz="1800">
                <a:solidFill>
                  <a:srgbClr val="38761D"/>
                </a:solidFill>
              </a:rPr>
              <a:t>/entrypoint.sh</a:t>
            </a:r>
            <a:r>
              <a:rPr lang="en" sz="1800">
                <a:solidFill>
                  <a:srgbClr val="45818E"/>
                </a:solidFill>
              </a:rPr>
              <a:t> </a:t>
            </a:r>
            <a:r>
              <a:rPr lang="en" sz="1800">
                <a:solidFill>
                  <a:srgbClr val="0B5394"/>
                </a:solidFill>
              </a:rPr>
              <a:t>haproxy -c /etc/haproxy/haproxy.conf</a:t>
            </a:r>
            <a:r>
              <a:rPr lang="en" sz="1800"/>
              <a:t>"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 CMD ["haproxy", "-c", "some.conf"] - (exec form) выполняется под PID 1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 CMD ["haproxy -c some.conf"] - (shell form) выполняется в отдельном процессе (</a:t>
            </a:r>
            <a:r>
              <a:rPr lang="en" sz="1800">
                <a:solidFill>
                  <a:schemeClr val="dk1"/>
                </a:solidFill>
              </a:rPr>
              <a:t>"haproxy -c some.conf" трактуется как название программы</a:t>
            </a:r>
            <a:r>
              <a:rPr lang="en" sz="1800"/>
              <a:t>)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Шрек одобряет</a:t>
            </a:r>
            <a:endParaRPr/>
          </a:p>
        </p:txBody>
      </p:sp>
      <p:pic>
        <p:nvPicPr>
          <p:cNvPr id="129" name="Google Shape;129;p25" title="71078-shrek-shrek_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7513" y="712925"/>
            <a:ext cx="7328980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Слои</a:t>
            </a:r>
            <a:endParaRPr sz="2800">
              <a:solidFill>
                <a:srgbClr val="000000"/>
              </a:solidFill>
            </a:endParaRPr>
          </a:p>
        </p:txBody>
      </p:sp>
      <p:pic>
        <p:nvPicPr>
          <p:cNvPr id="135" name="Google Shape;13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65475" y="601328"/>
            <a:ext cx="7132074" cy="259025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6"/>
          <p:cNvSpPr txBox="1"/>
          <p:nvPr/>
        </p:nvSpPr>
        <p:spPr>
          <a:xfrm>
            <a:off x="5666600" y="1236775"/>
            <a:ext cx="52500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FF"/>
                </a:solidFill>
              </a:rPr>
              <a:t>COPY app/ /usr/share/nginx/html</a:t>
            </a:r>
            <a:endParaRPr sz="23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rgbClr val="0000FF"/>
                </a:solidFill>
              </a:rPr>
              <a:t>RUN apk update &amp;&amp; apk add nginx</a:t>
            </a:r>
            <a:endParaRPr sz="23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FF"/>
                </a:solidFill>
              </a:rPr>
              <a:t>FROM alpine:3.13</a:t>
            </a:r>
            <a:endParaRPr sz="23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</a:t>
            </a:r>
            <a:endParaRPr/>
          </a:p>
        </p:txBody>
      </p:sp>
      <p:pic>
        <p:nvPicPr>
          <p:cNvPr id="142" name="Google Shape;14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338" y="625750"/>
            <a:ext cx="7159320" cy="426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/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Базовые образы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48" name="Google Shape;148;p28"/>
          <p:cNvSpPr txBox="1"/>
          <p:nvPr/>
        </p:nvSpPr>
        <p:spPr>
          <a:xfrm>
            <a:off x="296825" y="572700"/>
            <a:ext cx="8520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3"/>
              </a:rPr>
              <a:t>Dockerfile.alpine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/>
              <a:t>FROM scratch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ADD alpine-minirootfs-3.16.0-x86_64.tar.gz /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CMD ["/bin/sh"]</a:t>
            </a:r>
            <a:endParaRPr sz="2400"/>
          </a:p>
        </p:txBody>
      </p:sp>
      <p:sp>
        <p:nvSpPr>
          <p:cNvPr id="149" name="Google Shape;149;p28"/>
          <p:cNvSpPr txBox="1"/>
          <p:nvPr/>
        </p:nvSpPr>
        <p:spPr>
          <a:xfrm>
            <a:off x="311700" y="2952750"/>
            <a:ext cx="8520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4"/>
              </a:rPr>
              <a:t>Dockerfile.debian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/>
              <a:t>FROM scratch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ADD rootfs.tar.xz /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CMD ["bash"]</a:t>
            </a:r>
            <a:endParaRPr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/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</a:rPr>
              <a:t>FROM scratch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55" name="Google Shape;155;p29"/>
          <p:cNvSpPr txBox="1"/>
          <p:nvPr/>
        </p:nvSpPr>
        <p:spPr>
          <a:xfrm>
            <a:off x="311700" y="1029900"/>
            <a:ext cx="48747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700"/>
              <a:t>FROM scratch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700"/>
              <a:t>COPY chello /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CMD ["/chello"]</a:t>
            </a:r>
            <a:endParaRPr sz="2700"/>
          </a:p>
        </p:txBody>
      </p:sp>
      <p:pic>
        <p:nvPicPr>
          <p:cNvPr id="156" name="Google Shape;15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638" y="2613900"/>
            <a:ext cx="8422725" cy="23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9"/>
          <p:cNvSpPr txBox="1"/>
          <p:nvPr/>
        </p:nvSpPr>
        <p:spPr>
          <a:xfrm>
            <a:off x="5372075" y="1410900"/>
            <a:ext cx="3411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$ gcc -o chello -static chello.c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$ file chello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ldd chello</a:t>
            </a:r>
            <a:endParaRPr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Кеширование</a:t>
            </a:r>
            <a:r>
              <a:rPr lang="en"/>
              <a:t> слоёв</a:t>
            </a:r>
            <a:endParaRPr/>
          </a:p>
        </p:txBody>
      </p:sp>
      <p:sp>
        <p:nvSpPr>
          <p:cNvPr id="163" name="Google Shape;163;p30"/>
          <p:cNvSpPr txBox="1"/>
          <p:nvPr/>
        </p:nvSpPr>
        <p:spPr>
          <a:xfrm>
            <a:off x="311700" y="572700"/>
            <a:ext cx="8520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</a:t>
            </a:r>
            <a:r>
              <a:rPr lang="en" sz="1600"/>
              <a:t>docker build \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</a:rPr>
              <a:t>    --cache-from my_application:backend-builder \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</a:rPr>
              <a:t>    --cache-from my_application:backend \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   --tag my_application:backend \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   -f Dockerfile.backend .</a:t>
            </a:r>
            <a:endParaRPr sz="1600"/>
          </a:p>
        </p:txBody>
      </p:sp>
      <p:pic>
        <p:nvPicPr>
          <p:cNvPr id="164" name="Google Shape;16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8900" y="2025800"/>
            <a:ext cx="5446201" cy="300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Оптимизация слоёв</a:t>
            </a:r>
            <a:endParaRPr/>
          </a:p>
        </p:txBody>
      </p:sp>
      <p:pic>
        <p:nvPicPr>
          <p:cNvPr id="170" name="Google Shape;17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787000"/>
            <a:ext cx="4761699" cy="223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8775" y="572700"/>
            <a:ext cx="4997633" cy="17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1" y="572701"/>
            <a:ext cx="4513481" cy="199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0" y="2787000"/>
            <a:ext cx="5074400" cy="232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2-step build</a:t>
            </a:r>
            <a:endParaRPr/>
          </a:p>
        </p:txBody>
      </p:sp>
      <p:sp>
        <p:nvSpPr>
          <p:cNvPr id="179" name="Google Shape;179;p32"/>
          <p:cNvSpPr/>
          <p:nvPr/>
        </p:nvSpPr>
        <p:spPr>
          <a:xfrm>
            <a:off x="311700" y="940938"/>
            <a:ext cx="3380346" cy="3292596"/>
          </a:xfrm>
          <a:prstGeom prst="flowChartDocumen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2"/>
          <p:cNvSpPr txBox="1"/>
          <p:nvPr/>
        </p:nvSpPr>
        <p:spPr>
          <a:xfrm>
            <a:off x="311700" y="909963"/>
            <a:ext cx="36066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FROM node:latest as builder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WORKDIR /usr/src/app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COPY package* ./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COPY src/ src/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CMD [“npm”, “install”]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# Lints Code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6AA84F"/>
                </a:solidFill>
              </a:rPr>
              <a:t>FROM node:latest as linting</a:t>
            </a:r>
            <a:endParaRPr sz="16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WORKDIR /usr/src/app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0000FF"/>
                </a:solidFill>
              </a:rPr>
              <a:t>COPY --from=builder /usr/src/app/ .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CMD [“npm”, “lint”]</a:t>
            </a:r>
            <a:endParaRPr sz="1600"/>
          </a:p>
        </p:txBody>
      </p:sp>
      <p:sp>
        <p:nvSpPr>
          <p:cNvPr id="181" name="Google Shape;181;p32"/>
          <p:cNvSpPr/>
          <p:nvPr/>
        </p:nvSpPr>
        <p:spPr>
          <a:xfrm rot="10800000">
            <a:off x="4183075" y="841622"/>
            <a:ext cx="4326750" cy="3460266"/>
          </a:xfrm>
          <a:prstGeom prst="flowChartDocumen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2"/>
          <p:cNvSpPr txBox="1"/>
          <p:nvPr/>
        </p:nvSpPr>
        <p:spPr>
          <a:xfrm>
            <a:off x="4183075" y="1586013"/>
            <a:ext cx="46872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Runs Unit Tests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AA84F"/>
                </a:solidFill>
              </a:rPr>
              <a:t>FROM linting as test</a:t>
            </a:r>
            <a:endParaRPr sz="16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CMD [“npm”, “test”]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Starts and Serves Web Page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FROM node:latest as serve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WORKDIR /usr/src/app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</a:rPr>
              <a:t>COPY --from=builder /usr/src/app/dest ./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</a:rPr>
              <a:t>COPY --from=builder /usr/src/app/package* ./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CMD [“npm”, “start”]</a:t>
            </a:r>
            <a:endParaRPr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Сеть</a:t>
            </a:r>
            <a:endParaRPr/>
          </a:p>
        </p:txBody>
      </p:sp>
      <p:sp>
        <p:nvSpPr>
          <p:cNvPr id="188" name="Google Shape;188;p33"/>
          <p:cNvSpPr txBox="1"/>
          <p:nvPr/>
        </p:nvSpPr>
        <p:spPr>
          <a:xfrm>
            <a:off x="311700" y="572700"/>
            <a:ext cx="8520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docker network create nginxnet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docker run --network nginxnet nginx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docker network inspect nginxnet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docker run -p </a:t>
            </a:r>
            <a:r>
              <a:rPr lang="en" sz="1800">
                <a:solidFill>
                  <a:srgbClr val="0000FF"/>
                </a:solidFill>
              </a:rPr>
              <a:t>8080</a:t>
            </a:r>
            <a:r>
              <a:rPr lang="en" sz="1800"/>
              <a:t>:80 nginx</a:t>
            </a:r>
            <a:endParaRPr sz="1800"/>
          </a:p>
        </p:txBody>
      </p:sp>
      <p:pic>
        <p:nvPicPr>
          <p:cNvPr id="189" name="Google Shape;18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5800" y="1795375"/>
            <a:ext cx="5026500" cy="308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Хранение данных</a:t>
            </a:r>
            <a:endParaRPr/>
          </a:p>
        </p:txBody>
      </p:sp>
      <p:sp>
        <p:nvSpPr>
          <p:cNvPr id="195" name="Google Shape;195;p34"/>
          <p:cNvSpPr txBox="1"/>
          <p:nvPr/>
        </p:nvSpPr>
        <p:spPr>
          <a:xfrm>
            <a:off x="311700" y="572700"/>
            <a:ext cx="8520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тома Docker (docker volumes)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монтирование каталогов хоста (для локальной </a:t>
            </a:r>
            <a:r>
              <a:rPr lang="en" sz="2000"/>
              <a:t>разработки</a:t>
            </a:r>
            <a:r>
              <a:rPr lang="en" sz="2000"/>
              <a:t>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использовать tmpfs (для быстрой работы с БД)</a:t>
            </a:r>
            <a:endParaRPr sz="2000"/>
          </a:p>
        </p:txBody>
      </p:sp>
      <p:sp>
        <p:nvSpPr>
          <p:cNvPr id="196" name="Google Shape;196;p34"/>
          <p:cNvSpPr txBox="1"/>
          <p:nvPr/>
        </p:nvSpPr>
        <p:spPr>
          <a:xfrm>
            <a:off x="311700" y="2080775"/>
            <a:ext cx="8520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docker volume create storage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docker run </a:t>
            </a:r>
            <a:r>
              <a:rPr lang="en" sz="1800">
                <a:solidFill>
                  <a:srgbClr val="0000FF"/>
                </a:solidFill>
              </a:rPr>
              <a:t>-v storage:/data</a:t>
            </a:r>
            <a:r>
              <a:rPr lang="en" sz="1800"/>
              <a:t> -it ubuntu /bin/bash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docker run </a:t>
            </a:r>
            <a:r>
              <a:rPr lang="en" sz="1800">
                <a:solidFill>
                  <a:srgbClr val="0000FF"/>
                </a:solidFill>
              </a:rPr>
              <a:t>-v /srv:/host/srv</a:t>
            </a:r>
            <a:r>
              <a:rPr lang="en" sz="1800"/>
              <a:t> -it ubuntu /bin/bash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